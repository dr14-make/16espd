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6" r:id="rId11"/>
    <p:sldId id="265" r:id="rId12"/>
    <p:sldId id="267" r:id="rId13"/>
    <p:sldId id="269" r:id="rId14"/>
    <p:sldId id="270" r:id="rId15"/>
    <p:sldId id="271" r:id="rId16"/>
    <p:sldId id="272" r:id="rId17"/>
    <p:sldId id="275" r:id="rId18"/>
    <p:sldId id="273" r:id="rId19"/>
    <p:sldId id="274" r:id="rId20"/>
    <p:sldId id="268"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2E5A2B-31DF-410B-91F3-C4AD6DF266DE}" v="3" dt="2025-10-20T10:50:25.8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0496" autoAdjust="0"/>
  </p:normalViewPr>
  <p:slideViewPr>
    <p:cSldViewPr snapToGrid="0" showGuides="1">
      <p:cViewPr varScale="1">
        <p:scale>
          <a:sx n="103" d="100"/>
          <a:sy n="103" d="100"/>
        </p:scale>
        <p:origin x="2388" y="10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zhdestvenskiy Dmitry" userId="QlsB8TQ4SwxziyIkir98HzQklI6Ljd5J3lV5OFoV6j4=" providerId="None" clId="Web-{EE2E5A2B-31DF-410B-91F3-C4AD6DF266DE}"/>
    <pc:docChg chg="modSld">
      <pc:chgData name="Rozhdestvenskiy Dmitry" userId="QlsB8TQ4SwxziyIkir98HzQklI6Ljd5J3lV5OFoV6j4=" providerId="None" clId="Web-{EE2E5A2B-31DF-410B-91F3-C4AD6DF266DE}" dt="2025-10-20T10:50:25.876" v="3" actId="20577"/>
      <pc:docMkLst>
        <pc:docMk/>
      </pc:docMkLst>
      <pc:sldChg chg="modSp">
        <pc:chgData name="Rozhdestvenskiy Dmitry" userId="QlsB8TQ4SwxziyIkir98HzQklI6Ljd5J3lV5OFoV6j4=" providerId="None" clId="Web-{EE2E5A2B-31DF-410B-91F3-C4AD6DF266DE}" dt="2025-10-20T10:50:25.876" v="3" actId="20577"/>
        <pc:sldMkLst>
          <pc:docMk/>
          <pc:sldMk cId="2911918421" sldId="265"/>
        </pc:sldMkLst>
        <pc:spChg chg="mod">
          <ac:chgData name="Rozhdestvenskiy Dmitry" userId="QlsB8TQ4SwxziyIkir98HzQklI6Ljd5J3lV5OFoV6j4=" providerId="None" clId="Web-{EE2E5A2B-31DF-410B-91F3-C4AD6DF266DE}" dt="2025-10-20T10:50:25.876" v="3" actId="20577"/>
          <ac:spMkLst>
            <pc:docMk/>
            <pc:sldMk cId="2911918421" sldId="265"/>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39C368-6FE6-477C-8D4F-E039DE3010FD}" type="datetimeFigureOut">
              <a:rPr lang="en-US" smtClean="0"/>
              <a:t>10/20/2025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6EB920-5393-4D10-871D-A222892959A4}" type="slidenum">
              <a:rPr lang="en-US" smtClean="0"/>
              <a:t>‹#›</a:t>
            </a:fld>
            <a:endParaRPr lang="en-US"/>
          </a:p>
        </p:txBody>
      </p:sp>
    </p:spTree>
    <p:extLst>
      <p:ext uri="{BB962C8B-B14F-4D97-AF65-F5344CB8AC3E}">
        <p14:creationId xmlns:p14="http://schemas.microsoft.com/office/powerpoint/2010/main" val="8373117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1)Right before a wheel locks up, it will experience a rapid deceleration. If left unchecked, the wheel would stop much more quickly than any car could. It might take a car five seconds to stop from 60 mph (96.6 </a:t>
            </a:r>
            <a:r>
              <a:rPr lang="en-US" dirty="0" err="1"/>
              <a:t>kph</a:t>
            </a:r>
            <a:r>
              <a:rPr lang="en-US" dirty="0"/>
              <a:t>) under ideal conditions, but a wheel that locks up could stop spinning in less than a second</a:t>
            </a:r>
          </a:p>
          <a:p>
            <a:endParaRPr lang="en-US" dirty="0"/>
          </a:p>
          <a:p>
            <a:r>
              <a:rPr lang="en-US" dirty="0"/>
              <a:t>Rapid deceleration of a wheel  is impossible</a:t>
            </a:r>
          </a:p>
        </p:txBody>
      </p:sp>
      <p:sp>
        <p:nvSpPr>
          <p:cNvPr id="4" name="Slide Number Placeholder 3"/>
          <p:cNvSpPr>
            <a:spLocks noGrp="1"/>
          </p:cNvSpPr>
          <p:nvPr>
            <p:ph type="sldNum" sz="quarter" idx="10"/>
          </p:nvPr>
        </p:nvSpPr>
        <p:spPr/>
        <p:txBody>
          <a:bodyPr/>
          <a:lstStyle/>
          <a:p>
            <a:fld id="{726EB920-5393-4D10-871D-A222892959A4}" type="slidenum">
              <a:rPr lang="en-US" smtClean="0"/>
              <a:t>11</a:t>
            </a:fld>
            <a:endParaRPr lang="en-US"/>
          </a:p>
        </p:txBody>
      </p:sp>
    </p:spTree>
    <p:extLst>
      <p:ext uri="{BB962C8B-B14F-4D97-AF65-F5344CB8AC3E}">
        <p14:creationId xmlns:p14="http://schemas.microsoft.com/office/powerpoint/2010/main" val="682550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dirty="0"/>
              <a:t>10/20/2025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dirty="0"/>
              <a:t>10/20/2025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10/20/2025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10/20/2025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AAD347D-5ACD-4C99-B74B-A9C85AD731AF}" type="datetimeFigureOut">
              <a:rPr lang="en-US" dirty="0"/>
              <a:t>10/20/2025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ABS, ESP, </a:t>
            </a:r>
            <a:r>
              <a:rPr lang="en-US" dirty="0" err="1"/>
              <a:t>TCS</a:t>
            </a:r>
            <a:endParaRPr lang="en-US" dirty="0"/>
          </a:p>
        </p:txBody>
      </p:sp>
      <p:sp>
        <p:nvSpPr>
          <p:cNvPr id="3" name="Subtitle 2"/>
          <p:cNvSpPr>
            <a:spLocks noGrp="1"/>
          </p:cNvSpPr>
          <p:nvPr>
            <p:ph type="subTitle" idx="1"/>
          </p:nvPr>
        </p:nvSpPr>
        <p:spPr/>
        <p:txBody>
          <a:bodyPr>
            <a:normAutofit fontScale="70000" lnSpcReduction="20000"/>
          </a:bodyPr>
          <a:lstStyle/>
          <a:p>
            <a:r>
              <a:rPr lang="en-US" dirty="0"/>
              <a:t>Anti-lock break system </a:t>
            </a:r>
          </a:p>
          <a:p>
            <a:r>
              <a:rPr lang="en-US" dirty="0"/>
              <a:t>Electronic stability program</a:t>
            </a:r>
          </a:p>
          <a:p>
            <a:r>
              <a:rPr lang="en-US" dirty="0"/>
              <a:t>Traction Control System </a:t>
            </a:r>
          </a:p>
        </p:txBody>
      </p:sp>
    </p:spTree>
    <p:extLst>
      <p:ext uri="{BB962C8B-B14F-4D97-AF65-F5344CB8AC3E}">
        <p14:creationId xmlns:p14="http://schemas.microsoft.com/office/powerpoint/2010/main" val="3863375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010" y="63104"/>
            <a:ext cx="9404723" cy="1400530"/>
          </a:xfrm>
        </p:spPr>
        <p:txBody>
          <a:bodyPr/>
          <a:lstStyle/>
          <a:p>
            <a:r>
              <a:rPr lang="en-US"/>
              <a:t>Introduction to Friction</a:t>
            </a:r>
            <a:endParaRPr lang="en-US" dirty="0"/>
          </a:p>
        </p:txBody>
      </p:sp>
      <p:sp>
        <p:nvSpPr>
          <p:cNvPr id="3" name="Content Placeholder 2"/>
          <p:cNvSpPr>
            <a:spLocks noGrp="1"/>
          </p:cNvSpPr>
          <p:nvPr>
            <p:ph idx="1"/>
          </p:nvPr>
        </p:nvSpPr>
        <p:spPr>
          <a:xfrm>
            <a:off x="558648" y="1152983"/>
            <a:ext cx="9403742" cy="4713797"/>
          </a:xfrm>
        </p:spPr>
        <p:txBody>
          <a:bodyPr>
            <a:normAutofit fontScale="92500" lnSpcReduction="20000"/>
          </a:bodyPr>
          <a:lstStyle/>
          <a:p>
            <a:r>
              <a:rPr lang="en-US" b="1" dirty="0"/>
              <a:t>Friction</a:t>
            </a:r>
            <a:r>
              <a:rPr lang="en-US" dirty="0"/>
              <a:t> is a force that always exists between any two surfaces in contact with each other and resists their relative motion</a:t>
            </a:r>
          </a:p>
          <a:p>
            <a:r>
              <a:rPr lang="en-US" dirty="0"/>
              <a:t>There are two kinds of friction, based on how the two surfaces are moving relative to each other:</a:t>
            </a:r>
          </a:p>
          <a:p>
            <a:pPr lvl="1"/>
            <a:r>
              <a:rPr lang="en-US" b="1" dirty="0"/>
              <a:t>Static friction</a:t>
            </a:r>
            <a:br>
              <a:rPr lang="en-US" dirty="0"/>
            </a:br>
            <a:r>
              <a:rPr lang="en-US" dirty="0"/>
              <a:t>The friction that exists between two surfaces that are </a:t>
            </a:r>
            <a:r>
              <a:rPr lang="en-US" b="1" i="1" dirty="0"/>
              <a:t>not</a:t>
            </a:r>
            <a:r>
              <a:rPr lang="en-US" dirty="0"/>
              <a:t> moving relative to each other.</a:t>
            </a:r>
          </a:p>
          <a:p>
            <a:pPr lvl="1"/>
            <a:r>
              <a:rPr lang="en-US" b="1" dirty="0"/>
              <a:t>Kinetic friction (Sliding Friction)</a:t>
            </a:r>
            <a:br>
              <a:rPr lang="en-US" dirty="0"/>
            </a:br>
            <a:r>
              <a:rPr lang="en-US" dirty="0"/>
              <a:t>The friction that exists between two surfaces that </a:t>
            </a:r>
            <a:r>
              <a:rPr lang="en-US" b="1" i="1" dirty="0"/>
              <a:t>are</a:t>
            </a:r>
            <a:r>
              <a:rPr lang="en-US" dirty="0"/>
              <a:t> moving relative to each other.</a:t>
            </a:r>
          </a:p>
          <a:p>
            <a:r>
              <a:rPr lang="en-US" b="1" i="1" dirty="0">
                <a:solidFill>
                  <a:srgbClr val="FFFF00"/>
                </a:solidFill>
              </a:rPr>
              <a:t>In any situation, the static friction is greater than the kinetic friction.</a:t>
            </a:r>
          </a:p>
          <a:p>
            <a:pPr lvl="1"/>
            <a:r>
              <a:rPr lang="en-US" dirty="0"/>
              <a:t>Nobody is exactly sure why friction acts the way it does…</a:t>
            </a:r>
          </a:p>
          <a:p>
            <a:pPr lvl="2"/>
            <a:r>
              <a:rPr lang="en-US" dirty="0"/>
              <a:t>Some physicists’ theories on friction involve the idea of the minute (</a:t>
            </a:r>
            <a:r>
              <a:rPr lang="en-US" i="1" dirty="0"/>
              <a:t>tiny</a:t>
            </a:r>
            <a:r>
              <a:rPr lang="en-US" dirty="0"/>
              <a:t>) imperfections in the surfaces grinding against each other.</a:t>
            </a:r>
          </a:p>
          <a:p>
            <a:pPr lvl="2"/>
            <a:r>
              <a:rPr lang="en-US" dirty="0"/>
              <a:t>There is also the hypothesis that there are small electrostatic attractions between atoms of the two surfaces, pulling on each other.</a:t>
            </a:r>
            <a:endParaRPr lang="en-US" b="1" i="1" dirty="0">
              <a:solidFill>
                <a:srgbClr val="FFFF00"/>
              </a:solidFill>
            </a:endParaRPr>
          </a:p>
          <a:p>
            <a:endParaRPr lang="en-US" dirty="0"/>
          </a:p>
        </p:txBody>
      </p:sp>
    </p:spTree>
    <p:extLst>
      <p:ext uri="{BB962C8B-B14F-4D97-AF65-F5344CB8AC3E}">
        <p14:creationId xmlns:p14="http://schemas.microsoft.com/office/powerpoint/2010/main" val="38680364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Friction (Part 2)</a:t>
            </a:r>
          </a:p>
        </p:txBody>
      </p:sp>
      <p:graphicFrame>
        <p:nvGraphicFramePr>
          <p:cNvPr id="10" name="Content Placeholder 9"/>
          <p:cNvGraphicFramePr>
            <a:graphicFrameLocks noGrp="1"/>
          </p:cNvGraphicFramePr>
          <p:nvPr>
            <p:ph idx="1"/>
            <p:extLst>
              <p:ext uri="{D42A27DB-BD31-4B8C-83A1-F6EECF244321}">
                <p14:modId xmlns:p14="http://schemas.microsoft.com/office/powerpoint/2010/main" val="3527842061"/>
              </p:ext>
            </p:extLst>
          </p:nvPr>
        </p:nvGraphicFramePr>
        <p:xfrm>
          <a:off x="821373" y="2515235"/>
          <a:ext cx="3849687" cy="4197032"/>
        </p:xfrm>
        <a:graphic>
          <a:graphicData uri="http://schemas.openxmlformats.org/drawingml/2006/table">
            <a:tbl>
              <a:tblPr firstRow="1" bandRow="1">
                <a:tableStyleId>{7DF18680-E054-41AD-8BC1-D1AEF772440D}</a:tableStyleId>
              </a:tblPr>
              <a:tblGrid>
                <a:gridCol w="1283229">
                  <a:extLst>
                    <a:ext uri="{9D8B030D-6E8A-4147-A177-3AD203B41FA5}">
                      <a16:colId xmlns:a16="http://schemas.microsoft.com/office/drawing/2014/main" val="20000"/>
                    </a:ext>
                  </a:extLst>
                </a:gridCol>
                <a:gridCol w="1283229">
                  <a:extLst>
                    <a:ext uri="{9D8B030D-6E8A-4147-A177-3AD203B41FA5}">
                      <a16:colId xmlns:a16="http://schemas.microsoft.com/office/drawing/2014/main" val="20001"/>
                    </a:ext>
                  </a:extLst>
                </a:gridCol>
                <a:gridCol w="1283229">
                  <a:extLst>
                    <a:ext uri="{9D8B030D-6E8A-4147-A177-3AD203B41FA5}">
                      <a16:colId xmlns:a16="http://schemas.microsoft.com/office/drawing/2014/main" val="20002"/>
                    </a:ext>
                  </a:extLst>
                </a:gridCol>
              </a:tblGrid>
              <a:tr h="417519">
                <a:tc>
                  <a:txBody>
                    <a:bodyPr/>
                    <a:lstStyle/>
                    <a:p>
                      <a:r>
                        <a:rPr lang="en-US" sz="1100" b="1" dirty="0"/>
                        <a:t>Surfaces</a:t>
                      </a:r>
                      <a:br>
                        <a:rPr lang="en-US" sz="1100" b="1" dirty="0"/>
                      </a:br>
                      <a:endParaRPr lang="en-US" sz="1100" dirty="0"/>
                    </a:p>
                  </a:txBody>
                  <a:tcPr anchor="ctr"/>
                </a:tc>
                <a:tc>
                  <a:txBody>
                    <a:bodyPr/>
                    <a:lstStyle/>
                    <a:p>
                      <a:pPr algn="ctr"/>
                      <a:r>
                        <a:rPr lang="en-US" sz="1100" b="1"/>
                        <a:t>µ (static)</a:t>
                      </a:r>
                      <a:endParaRPr lang="en-US" sz="1100"/>
                    </a:p>
                  </a:txBody>
                  <a:tcPr anchor="ctr"/>
                </a:tc>
                <a:tc>
                  <a:txBody>
                    <a:bodyPr/>
                    <a:lstStyle/>
                    <a:p>
                      <a:pPr algn="ctr"/>
                      <a:r>
                        <a:rPr lang="en-US" sz="1100" b="1"/>
                        <a:t>µ (kinetic)</a:t>
                      </a:r>
                      <a:endParaRPr lang="en-US" sz="1100"/>
                    </a:p>
                  </a:txBody>
                  <a:tcPr anchor="ctr"/>
                </a:tc>
                <a:extLst>
                  <a:ext uri="{0D108BD9-81ED-4DB2-BD59-A6C34878D82A}">
                    <a16:rowId xmlns:a16="http://schemas.microsoft.com/office/drawing/2014/main" val="10000"/>
                  </a:ext>
                </a:extLst>
              </a:tr>
              <a:tr h="417519">
                <a:tc>
                  <a:txBody>
                    <a:bodyPr/>
                    <a:lstStyle/>
                    <a:p>
                      <a:r>
                        <a:rPr lang="en-US" sz="1100"/>
                        <a:t>Steel on steel</a:t>
                      </a:r>
                      <a:br>
                        <a:rPr lang="en-US" sz="1100"/>
                      </a:br>
                      <a:endParaRPr lang="en-US" sz="1100"/>
                    </a:p>
                  </a:txBody>
                  <a:tcPr anchor="ctr"/>
                </a:tc>
                <a:tc>
                  <a:txBody>
                    <a:bodyPr/>
                    <a:lstStyle/>
                    <a:p>
                      <a:pPr algn="ctr"/>
                      <a:r>
                        <a:rPr lang="en-US" sz="1100"/>
                        <a:t>0.74</a:t>
                      </a:r>
                    </a:p>
                  </a:txBody>
                  <a:tcPr anchor="ctr"/>
                </a:tc>
                <a:tc>
                  <a:txBody>
                    <a:bodyPr/>
                    <a:lstStyle/>
                    <a:p>
                      <a:pPr algn="ctr"/>
                      <a:r>
                        <a:rPr lang="en-US" sz="1100"/>
                        <a:t>0.57</a:t>
                      </a:r>
                    </a:p>
                  </a:txBody>
                  <a:tcPr anchor="ctr"/>
                </a:tc>
                <a:extLst>
                  <a:ext uri="{0D108BD9-81ED-4DB2-BD59-A6C34878D82A}">
                    <a16:rowId xmlns:a16="http://schemas.microsoft.com/office/drawing/2014/main" val="10001"/>
                  </a:ext>
                </a:extLst>
              </a:tr>
              <a:tr h="417519">
                <a:tc>
                  <a:txBody>
                    <a:bodyPr/>
                    <a:lstStyle/>
                    <a:p>
                      <a:r>
                        <a:rPr lang="en-US" sz="1100"/>
                        <a:t>Glass on glass</a:t>
                      </a:r>
                      <a:br>
                        <a:rPr lang="en-US" sz="1100"/>
                      </a:br>
                      <a:endParaRPr lang="en-US" sz="1100"/>
                    </a:p>
                  </a:txBody>
                  <a:tcPr anchor="ctr"/>
                </a:tc>
                <a:tc>
                  <a:txBody>
                    <a:bodyPr/>
                    <a:lstStyle/>
                    <a:p>
                      <a:pPr algn="ctr"/>
                      <a:r>
                        <a:rPr lang="en-US" sz="1100"/>
                        <a:t>0.94</a:t>
                      </a:r>
                    </a:p>
                  </a:txBody>
                  <a:tcPr anchor="ctr"/>
                </a:tc>
                <a:tc>
                  <a:txBody>
                    <a:bodyPr/>
                    <a:lstStyle/>
                    <a:p>
                      <a:pPr algn="ctr"/>
                      <a:r>
                        <a:rPr lang="en-US" sz="1100"/>
                        <a:t>0.40</a:t>
                      </a:r>
                    </a:p>
                  </a:txBody>
                  <a:tcPr anchor="ctr"/>
                </a:tc>
                <a:extLst>
                  <a:ext uri="{0D108BD9-81ED-4DB2-BD59-A6C34878D82A}">
                    <a16:rowId xmlns:a16="http://schemas.microsoft.com/office/drawing/2014/main" val="10002"/>
                  </a:ext>
                </a:extLst>
              </a:tr>
              <a:tr h="581544">
                <a:tc>
                  <a:txBody>
                    <a:bodyPr/>
                    <a:lstStyle/>
                    <a:p>
                      <a:r>
                        <a:rPr lang="en-US" sz="1100"/>
                        <a:t>Metal on Metal (lubricated)</a:t>
                      </a:r>
                      <a:br>
                        <a:rPr lang="en-US" sz="1100"/>
                      </a:br>
                      <a:endParaRPr lang="en-US" sz="1100"/>
                    </a:p>
                  </a:txBody>
                  <a:tcPr anchor="ctr"/>
                </a:tc>
                <a:tc>
                  <a:txBody>
                    <a:bodyPr/>
                    <a:lstStyle/>
                    <a:p>
                      <a:pPr algn="ctr"/>
                      <a:r>
                        <a:rPr lang="en-US" sz="1100"/>
                        <a:t>0.15</a:t>
                      </a:r>
                    </a:p>
                  </a:txBody>
                  <a:tcPr anchor="ctr"/>
                </a:tc>
                <a:tc>
                  <a:txBody>
                    <a:bodyPr/>
                    <a:lstStyle/>
                    <a:p>
                      <a:pPr algn="ctr"/>
                      <a:r>
                        <a:rPr lang="en-US" sz="1100"/>
                        <a:t>0.06</a:t>
                      </a:r>
                    </a:p>
                  </a:txBody>
                  <a:tcPr anchor="ctr"/>
                </a:tc>
                <a:extLst>
                  <a:ext uri="{0D108BD9-81ED-4DB2-BD59-A6C34878D82A}">
                    <a16:rowId xmlns:a16="http://schemas.microsoft.com/office/drawing/2014/main" val="10003"/>
                  </a:ext>
                </a:extLst>
              </a:tr>
              <a:tr h="417519">
                <a:tc>
                  <a:txBody>
                    <a:bodyPr/>
                    <a:lstStyle/>
                    <a:p>
                      <a:r>
                        <a:rPr lang="en-US" sz="1100" dirty="0"/>
                        <a:t>Ice on ice</a:t>
                      </a:r>
                      <a:br>
                        <a:rPr lang="en-US" sz="1100" dirty="0"/>
                      </a:br>
                      <a:endParaRPr lang="en-US" sz="1100" dirty="0"/>
                    </a:p>
                  </a:txBody>
                  <a:tcPr anchor="ctr"/>
                </a:tc>
                <a:tc>
                  <a:txBody>
                    <a:bodyPr/>
                    <a:lstStyle/>
                    <a:p>
                      <a:pPr algn="ctr"/>
                      <a:r>
                        <a:rPr lang="en-US" sz="1100"/>
                        <a:t>0.10</a:t>
                      </a:r>
                    </a:p>
                  </a:txBody>
                  <a:tcPr anchor="ctr"/>
                </a:tc>
                <a:tc>
                  <a:txBody>
                    <a:bodyPr/>
                    <a:lstStyle/>
                    <a:p>
                      <a:pPr algn="ctr"/>
                      <a:r>
                        <a:rPr lang="en-US" sz="1100"/>
                        <a:t>0.03</a:t>
                      </a:r>
                    </a:p>
                  </a:txBody>
                  <a:tcPr anchor="ctr"/>
                </a:tc>
                <a:extLst>
                  <a:ext uri="{0D108BD9-81ED-4DB2-BD59-A6C34878D82A}">
                    <a16:rowId xmlns:a16="http://schemas.microsoft.com/office/drawing/2014/main" val="10004"/>
                  </a:ext>
                </a:extLst>
              </a:tr>
              <a:tr h="417519">
                <a:tc>
                  <a:txBody>
                    <a:bodyPr/>
                    <a:lstStyle/>
                    <a:p>
                      <a:r>
                        <a:rPr lang="en-US" sz="1100"/>
                        <a:t>Teflon on Teflon</a:t>
                      </a:r>
                      <a:br>
                        <a:rPr lang="en-US" sz="1100"/>
                      </a:br>
                      <a:endParaRPr lang="en-US" sz="1100"/>
                    </a:p>
                  </a:txBody>
                  <a:tcPr anchor="ctr"/>
                </a:tc>
                <a:tc>
                  <a:txBody>
                    <a:bodyPr/>
                    <a:lstStyle/>
                    <a:p>
                      <a:pPr algn="ctr"/>
                      <a:r>
                        <a:rPr lang="en-US" sz="1100"/>
                        <a:t>0.04</a:t>
                      </a:r>
                    </a:p>
                  </a:txBody>
                  <a:tcPr anchor="ctr"/>
                </a:tc>
                <a:tc>
                  <a:txBody>
                    <a:bodyPr/>
                    <a:lstStyle/>
                    <a:p>
                      <a:pPr algn="ctr"/>
                      <a:r>
                        <a:rPr lang="en-US" sz="1100"/>
                        <a:t>0.04</a:t>
                      </a:r>
                    </a:p>
                  </a:txBody>
                  <a:tcPr anchor="ctr"/>
                </a:tc>
                <a:extLst>
                  <a:ext uri="{0D108BD9-81ED-4DB2-BD59-A6C34878D82A}">
                    <a16:rowId xmlns:a16="http://schemas.microsoft.com/office/drawing/2014/main" val="10005"/>
                  </a:ext>
                </a:extLst>
              </a:tr>
              <a:tr h="417519">
                <a:tc>
                  <a:txBody>
                    <a:bodyPr/>
                    <a:lstStyle/>
                    <a:p>
                      <a:r>
                        <a:rPr lang="en-US" sz="1100"/>
                        <a:t>Tire on concrete</a:t>
                      </a:r>
                      <a:br>
                        <a:rPr lang="en-US" sz="1100"/>
                      </a:br>
                      <a:endParaRPr lang="en-US" sz="1100"/>
                    </a:p>
                  </a:txBody>
                  <a:tcPr anchor="ctr"/>
                </a:tc>
                <a:tc>
                  <a:txBody>
                    <a:bodyPr/>
                    <a:lstStyle/>
                    <a:p>
                      <a:pPr algn="ctr"/>
                      <a:r>
                        <a:rPr lang="en-US" sz="1100"/>
                        <a:t>1.00</a:t>
                      </a:r>
                    </a:p>
                  </a:txBody>
                  <a:tcPr anchor="ctr"/>
                </a:tc>
                <a:tc>
                  <a:txBody>
                    <a:bodyPr/>
                    <a:lstStyle/>
                    <a:p>
                      <a:pPr algn="ctr"/>
                      <a:r>
                        <a:rPr lang="en-US" sz="1100"/>
                        <a:t>0.80</a:t>
                      </a:r>
                    </a:p>
                  </a:txBody>
                  <a:tcPr anchor="ctr"/>
                </a:tc>
                <a:extLst>
                  <a:ext uri="{0D108BD9-81ED-4DB2-BD59-A6C34878D82A}">
                    <a16:rowId xmlns:a16="http://schemas.microsoft.com/office/drawing/2014/main" val="10006"/>
                  </a:ext>
                </a:extLst>
              </a:tr>
              <a:tr h="417519">
                <a:tc>
                  <a:txBody>
                    <a:bodyPr/>
                    <a:lstStyle/>
                    <a:p>
                      <a:r>
                        <a:rPr lang="en-US" sz="1100"/>
                        <a:t>Tire on wet road</a:t>
                      </a:r>
                      <a:br>
                        <a:rPr lang="en-US" sz="1100"/>
                      </a:br>
                      <a:endParaRPr lang="en-US" sz="1100"/>
                    </a:p>
                  </a:txBody>
                  <a:tcPr anchor="ctr"/>
                </a:tc>
                <a:tc>
                  <a:txBody>
                    <a:bodyPr/>
                    <a:lstStyle/>
                    <a:p>
                      <a:pPr algn="ctr"/>
                      <a:r>
                        <a:rPr lang="en-US" sz="1100"/>
                        <a:t>0.60</a:t>
                      </a:r>
                    </a:p>
                  </a:txBody>
                  <a:tcPr anchor="ctr"/>
                </a:tc>
                <a:tc>
                  <a:txBody>
                    <a:bodyPr/>
                    <a:lstStyle/>
                    <a:p>
                      <a:pPr algn="ctr"/>
                      <a:r>
                        <a:rPr lang="en-US" sz="1100"/>
                        <a:t>0.40</a:t>
                      </a:r>
                    </a:p>
                  </a:txBody>
                  <a:tcPr anchor="ctr"/>
                </a:tc>
                <a:extLst>
                  <a:ext uri="{0D108BD9-81ED-4DB2-BD59-A6C34878D82A}">
                    <a16:rowId xmlns:a16="http://schemas.microsoft.com/office/drawing/2014/main" val="10007"/>
                  </a:ext>
                </a:extLst>
              </a:tr>
              <a:tr h="447992">
                <a:tc>
                  <a:txBody>
                    <a:bodyPr/>
                    <a:lstStyle/>
                    <a:p>
                      <a:r>
                        <a:rPr lang="en-US" sz="1100"/>
                        <a:t>Tire on snow</a:t>
                      </a:r>
                      <a:br>
                        <a:rPr lang="en-US" sz="1100"/>
                      </a:br>
                      <a:endParaRPr lang="en-US" sz="1100"/>
                    </a:p>
                  </a:txBody>
                  <a:tcPr anchor="ctr"/>
                </a:tc>
                <a:tc>
                  <a:txBody>
                    <a:bodyPr/>
                    <a:lstStyle/>
                    <a:p>
                      <a:pPr algn="ctr"/>
                      <a:r>
                        <a:rPr lang="en-US" sz="1100"/>
                        <a:t>0.30</a:t>
                      </a:r>
                    </a:p>
                  </a:txBody>
                  <a:tcPr anchor="ctr"/>
                </a:tc>
                <a:tc>
                  <a:txBody>
                    <a:bodyPr/>
                    <a:lstStyle/>
                    <a:p>
                      <a:pPr algn="ctr"/>
                      <a:r>
                        <a:rPr lang="en-US" sz="1100" dirty="0"/>
                        <a:t>0.20</a:t>
                      </a:r>
                    </a:p>
                  </a:txBody>
                  <a:tcPr anchor="ctr"/>
                </a:tc>
                <a:extLst>
                  <a:ext uri="{0D108BD9-81ED-4DB2-BD59-A6C34878D82A}">
                    <a16:rowId xmlns:a16="http://schemas.microsoft.com/office/drawing/2014/main" val="10008"/>
                  </a:ext>
                </a:extLst>
              </a:tr>
            </a:tbl>
          </a:graphicData>
        </a:graphic>
      </p:graphicFrame>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82640" y="4092892"/>
            <a:ext cx="3276600" cy="2619375"/>
          </a:xfrm>
          <a:prstGeom prst="rect">
            <a:avLst/>
          </a:prstGeom>
        </p:spPr>
      </p:pic>
      <p:sp>
        <p:nvSpPr>
          <p:cNvPr id="12" name="Rectangle 11"/>
          <p:cNvSpPr/>
          <p:nvPr/>
        </p:nvSpPr>
        <p:spPr>
          <a:xfrm>
            <a:off x="1354467" y="1577875"/>
            <a:ext cx="2443298" cy="707886"/>
          </a:xfrm>
          <a:prstGeom prst="rect">
            <a:avLst/>
          </a:prstGeom>
        </p:spPr>
        <p:txBody>
          <a:bodyPr wrap="none">
            <a:spAutoFit/>
          </a:bodyPr>
          <a:lstStyle/>
          <a:p>
            <a:r>
              <a:rPr lang="en-US" sz="4000" dirty="0" err="1">
                <a:solidFill>
                  <a:srgbClr val="009900"/>
                </a:solidFill>
                <a:latin typeface="Verdana" panose="020B0604030504040204" pitchFamily="34" charset="0"/>
              </a:rPr>
              <a:t>F</a:t>
            </a:r>
            <a:r>
              <a:rPr lang="en-US" sz="4000" baseline="-25000" dirty="0" err="1">
                <a:solidFill>
                  <a:srgbClr val="009900"/>
                </a:solidFill>
                <a:latin typeface="Verdana" panose="020B0604030504040204" pitchFamily="34" charset="0"/>
              </a:rPr>
              <a:t>f</a:t>
            </a:r>
            <a:r>
              <a:rPr lang="en-US" sz="4000" dirty="0">
                <a:solidFill>
                  <a:srgbClr val="000000"/>
                </a:solidFill>
                <a:latin typeface="Verdana" panose="020B0604030504040204" pitchFamily="34" charset="0"/>
              </a:rPr>
              <a:t> = </a:t>
            </a:r>
            <a:r>
              <a:rPr lang="el-GR" sz="4000" dirty="0">
                <a:solidFill>
                  <a:srgbClr val="FF9900"/>
                </a:solidFill>
                <a:latin typeface="Verdana" panose="020B0604030504040204" pitchFamily="34" charset="0"/>
              </a:rPr>
              <a:t>μ</a:t>
            </a:r>
            <a:r>
              <a:rPr lang="el-GR" sz="4000" dirty="0">
                <a:solidFill>
                  <a:srgbClr val="000000"/>
                </a:solidFill>
                <a:latin typeface="Verdana" panose="020B0604030504040204" pitchFamily="34" charset="0"/>
              </a:rPr>
              <a:t> </a:t>
            </a:r>
            <a:r>
              <a:rPr lang="en-US" sz="4000" dirty="0" err="1">
                <a:solidFill>
                  <a:srgbClr val="0000FF"/>
                </a:solidFill>
                <a:latin typeface="Verdana" panose="020B0604030504040204" pitchFamily="34" charset="0"/>
              </a:rPr>
              <a:t>F</a:t>
            </a:r>
            <a:r>
              <a:rPr lang="en-US" sz="4000" baseline="-25000" dirty="0" err="1">
                <a:solidFill>
                  <a:srgbClr val="0000FF"/>
                </a:solidFill>
                <a:latin typeface="Verdana" panose="020B0604030504040204" pitchFamily="34" charset="0"/>
              </a:rPr>
              <a:t>N</a:t>
            </a:r>
            <a:endParaRPr lang="en-US" sz="4000" dirty="0"/>
          </a:p>
        </p:txBody>
      </p:sp>
      <p:sp>
        <p:nvSpPr>
          <p:cNvPr id="13" name="Rectangle 12"/>
          <p:cNvSpPr/>
          <p:nvPr/>
        </p:nvSpPr>
        <p:spPr>
          <a:xfrm>
            <a:off x="5348472" y="1240947"/>
            <a:ext cx="6096000" cy="1477328"/>
          </a:xfrm>
          <a:prstGeom prst="rect">
            <a:avLst/>
          </a:prstGeom>
        </p:spPr>
        <p:txBody>
          <a:bodyPr>
            <a:spAutoFit/>
          </a:bodyPr>
          <a:lstStyle/>
          <a:p>
            <a:r>
              <a:rPr lang="en-US" dirty="0" err="1">
                <a:solidFill>
                  <a:srgbClr val="009900"/>
                </a:solidFill>
                <a:latin typeface="Verdana" panose="020B0604030504040204" pitchFamily="34" charset="0"/>
              </a:rPr>
              <a:t>F</a:t>
            </a:r>
            <a:r>
              <a:rPr lang="en-US" baseline="-25000" dirty="0" err="1">
                <a:solidFill>
                  <a:srgbClr val="009900"/>
                </a:solidFill>
                <a:latin typeface="Verdana" panose="020B0604030504040204" pitchFamily="34" charset="0"/>
              </a:rPr>
              <a:t>f</a:t>
            </a:r>
            <a:r>
              <a:rPr lang="en-US" dirty="0">
                <a:solidFill>
                  <a:srgbClr val="009900"/>
                </a:solidFill>
                <a:latin typeface="Verdana" panose="020B0604030504040204" pitchFamily="34" charset="0"/>
              </a:rPr>
              <a:t> </a:t>
            </a:r>
            <a:r>
              <a:rPr lang="en-US" dirty="0">
                <a:latin typeface="Verdana" panose="020B0604030504040204" pitchFamily="34" charset="0"/>
              </a:rPr>
              <a:t>= force due to friction (</a:t>
            </a:r>
            <a:r>
              <a:rPr lang="en-US" dirty="0" err="1">
                <a:latin typeface="Verdana" panose="020B0604030504040204" pitchFamily="34" charset="0"/>
              </a:rPr>
              <a:t>Newtons</a:t>
            </a:r>
            <a:r>
              <a:rPr lang="en-US" dirty="0">
                <a:latin typeface="Verdana" panose="020B0604030504040204" pitchFamily="34" charset="0"/>
              </a:rPr>
              <a:t>)</a:t>
            </a:r>
          </a:p>
          <a:p>
            <a:r>
              <a:rPr lang="en-US" dirty="0" err="1">
                <a:solidFill>
                  <a:srgbClr val="0000FF"/>
                </a:solidFill>
                <a:latin typeface="Verdana" panose="020B0604030504040204" pitchFamily="34" charset="0"/>
              </a:rPr>
              <a:t>F</a:t>
            </a:r>
            <a:r>
              <a:rPr lang="en-US" baseline="-25000" dirty="0" err="1">
                <a:solidFill>
                  <a:srgbClr val="0000FF"/>
                </a:solidFill>
                <a:latin typeface="Verdana" panose="020B0604030504040204" pitchFamily="34" charset="0"/>
              </a:rPr>
              <a:t>N</a:t>
            </a:r>
            <a:r>
              <a:rPr lang="en-US" dirty="0">
                <a:solidFill>
                  <a:srgbClr val="000000"/>
                </a:solidFill>
                <a:latin typeface="Verdana" panose="020B0604030504040204" pitchFamily="34" charset="0"/>
              </a:rPr>
              <a:t> </a:t>
            </a:r>
            <a:r>
              <a:rPr lang="en-US" dirty="0">
                <a:latin typeface="Verdana" panose="020B0604030504040204" pitchFamily="34" charset="0"/>
              </a:rPr>
              <a:t>= normal force (</a:t>
            </a:r>
            <a:r>
              <a:rPr lang="en-US" dirty="0" err="1">
                <a:latin typeface="Verdana" panose="020B0604030504040204" pitchFamily="34" charset="0"/>
              </a:rPr>
              <a:t>Newtons</a:t>
            </a:r>
            <a:r>
              <a:rPr lang="en-US" dirty="0">
                <a:latin typeface="Verdana" panose="020B0604030504040204" pitchFamily="34" charset="0"/>
              </a:rPr>
              <a:t>)</a:t>
            </a:r>
          </a:p>
          <a:p>
            <a:r>
              <a:rPr lang="en-US" b="1" dirty="0">
                <a:solidFill>
                  <a:srgbClr val="FF9900"/>
                </a:solidFill>
                <a:latin typeface="Verdana" panose="020B0604030504040204" pitchFamily="34" charset="0"/>
              </a:rPr>
              <a:t>μ</a:t>
            </a:r>
            <a:r>
              <a:rPr lang="en-US" dirty="0">
                <a:solidFill>
                  <a:srgbClr val="000000"/>
                </a:solidFill>
                <a:latin typeface="Verdana" panose="020B0604030504040204" pitchFamily="34" charset="0"/>
              </a:rPr>
              <a:t> = </a:t>
            </a:r>
            <a:r>
              <a:rPr lang="en-US" dirty="0">
                <a:latin typeface="Verdana" panose="020B0604030504040204" pitchFamily="34" charset="0"/>
              </a:rPr>
              <a:t>Greek letter “mu”, coefficient of friction between two surfaces (no units)</a:t>
            </a:r>
            <a:br>
              <a:rPr lang="en-US" dirty="0">
                <a:latin typeface="Verdana" panose="020B0604030504040204" pitchFamily="34" charset="0"/>
              </a:rPr>
            </a:br>
            <a:r>
              <a:rPr lang="en-US" b="1" dirty="0" err="1">
                <a:solidFill>
                  <a:srgbClr val="FF0000"/>
                </a:solidFill>
                <a:latin typeface="Verdana" panose="020B0604030504040204" pitchFamily="34" charset="0"/>
              </a:rPr>
              <a:t>μ</a:t>
            </a:r>
            <a:r>
              <a:rPr lang="en-US" b="1" baseline="-25000" dirty="0" err="1">
                <a:solidFill>
                  <a:srgbClr val="FF0000"/>
                </a:solidFill>
                <a:latin typeface="Verdana" panose="020B0604030504040204" pitchFamily="34" charset="0"/>
              </a:rPr>
              <a:t>s</a:t>
            </a:r>
            <a:r>
              <a:rPr lang="en-US" dirty="0">
                <a:solidFill>
                  <a:srgbClr val="000000"/>
                </a:solidFill>
                <a:latin typeface="Verdana" panose="020B0604030504040204" pitchFamily="34" charset="0"/>
              </a:rPr>
              <a:t> is </a:t>
            </a:r>
            <a:r>
              <a:rPr lang="en-US" b="1" dirty="0">
                <a:solidFill>
                  <a:srgbClr val="FF0000"/>
                </a:solidFill>
                <a:latin typeface="Verdana" panose="020B0604030504040204" pitchFamily="34" charset="0"/>
              </a:rPr>
              <a:t>static</a:t>
            </a:r>
            <a:r>
              <a:rPr lang="en-US" dirty="0">
                <a:solidFill>
                  <a:srgbClr val="000000"/>
                </a:solidFill>
                <a:latin typeface="Verdana" panose="020B0604030504040204" pitchFamily="34" charset="0"/>
              </a:rPr>
              <a:t>, </a:t>
            </a:r>
            <a:r>
              <a:rPr lang="en-US" b="1" dirty="0" err="1">
                <a:solidFill>
                  <a:srgbClr val="0000FF"/>
                </a:solidFill>
                <a:latin typeface="Verdana" panose="020B0604030504040204" pitchFamily="34" charset="0"/>
              </a:rPr>
              <a:t>μ</a:t>
            </a:r>
            <a:r>
              <a:rPr lang="en-US" b="1" baseline="-25000" dirty="0" err="1">
                <a:solidFill>
                  <a:srgbClr val="0000FF"/>
                </a:solidFill>
                <a:latin typeface="Verdana" panose="020B0604030504040204" pitchFamily="34" charset="0"/>
              </a:rPr>
              <a:t>k</a:t>
            </a:r>
            <a:r>
              <a:rPr lang="en-US" dirty="0">
                <a:solidFill>
                  <a:srgbClr val="000000"/>
                </a:solidFill>
                <a:latin typeface="Verdana" panose="020B0604030504040204" pitchFamily="34" charset="0"/>
              </a:rPr>
              <a:t> is </a:t>
            </a:r>
            <a:r>
              <a:rPr lang="en-US" b="1" dirty="0">
                <a:solidFill>
                  <a:srgbClr val="0000FF"/>
                </a:solidFill>
                <a:latin typeface="Verdana" panose="020B0604030504040204" pitchFamily="34" charset="0"/>
              </a:rPr>
              <a:t>kinetic</a:t>
            </a:r>
            <a:endParaRPr lang="en-US" b="0" i="0" u="none" strike="noStrike" dirty="0">
              <a:solidFill>
                <a:srgbClr val="000000"/>
              </a:solidFill>
              <a:effectLst/>
              <a:latin typeface="Verdana" panose="020B0604030504040204" pitchFamily="34" charset="0"/>
            </a:endParaRPr>
          </a:p>
        </p:txBody>
      </p:sp>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0530" y="2829637"/>
            <a:ext cx="1952625" cy="1209675"/>
          </a:xfrm>
          <a:prstGeom prst="rect">
            <a:avLst/>
          </a:prstGeom>
        </p:spPr>
      </p:pic>
    </p:spTree>
    <p:extLst>
      <p:ext uri="{BB962C8B-B14F-4D97-AF65-F5344CB8AC3E}">
        <p14:creationId xmlns:p14="http://schemas.microsoft.com/office/powerpoint/2010/main" val="1526908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Friction relation to automobiles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46111" y="1229958"/>
                <a:ext cx="10402889" cy="5422302"/>
              </a:xfrm>
            </p:spPr>
            <p:txBody>
              <a:bodyPr>
                <a:normAutofit fontScale="92500" lnSpcReduction="20000"/>
              </a:bodyPr>
              <a:lstStyle/>
              <a:p>
                <a:r>
                  <a:rPr lang="en-US" dirty="0"/>
                  <a:t>Braking distance can be calculated using the equation </a:t>
                </a:r>
              </a:p>
              <a:p>
                <a:pPr marL="0" indent="0">
                  <a:buNone/>
                </a:pPr>
                <a:r>
                  <a:rPr lang="en-US" dirty="0"/>
                  <a:t>	d = </a:t>
                </a:r>
                <a:r>
                  <a:rPr lang="en-US" dirty="0" err="1"/>
                  <a:t>V</a:t>
                </a:r>
                <a:r>
                  <a:rPr lang="en-US" baseline="30000" dirty="0" err="1"/>
                  <a:t>2</a:t>
                </a:r>
                <a:r>
                  <a:rPr lang="en-US" dirty="0"/>
                  <a:t> / </a:t>
                </a:r>
                <a:r>
                  <a:rPr lang="en-US" dirty="0" err="1"/>
                  <a:t>2g</a:t>
                </a:r>
                <a:r>
                  <a:rPr lang="en-US" b="1" dirty="0"/>
                  <a:t>µ	</a:t>
                </a:r>
                <a14:m>
                  <m:oMath xmlns:m="http://schemas.openxmlformats.org/officeDocument/2006/math">
                    <m:r>
                      <m:rPr>
                        <m:sty m:val="p"/>
                      </m:rPr>
                      <a:rPr lang="en-US">
                        <a:latin typeface="Cambria Math" panose="02040503050406030204" pitchFamily="18" charset="0"/>
                      </a:rPr>
                      <m:t>Vmax</m:t>
                    </m:r>
                    <m:r>
                      <a:rPr lang="en-US">
                        <a:latin typeface="Cambria Math" panose="02040503050406030204" pitchFamily="18" charset="0"/>
                      </a:rPr>
                      <m:t>=</m:t>
                    </m:r>
                    <m:rad>
                      <m:radPr>
                        <m:degHide m:val="on"/>
                        <m:ctrlPr>
                          <a:rPr lang="en-US" i="1">
                            <a:latin typeface="Cambria Math" panose="02040503050406030204" pitchFamily="18" charset="0"/>
                          </a:rPr>
                        </m:ctrlPr>
                      </m:radPr>
                      <m:deg/>
                      <m:e>
                        <m:r>
                          <a:rPr lang="en-US" i="1">
                            <a:latin typeface="Cambria Math" panose="02040503050406030204" pitchFamily="18" charset="0"/>
                            <a:ea typeface="Cambria Math" panose="02040503050406030204" pitchFamily="18" charset="0"/>
                          </a:rPr>
                          <m:t>𝜇</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𝑔</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𝑟</m:t>
                        </m:r>
                      </m:e>
                    </m:rad>
                  </m:oMath>
                </a14:m>
                <a:endParaRPr lang="en-US" sz="1200" dirty="0"/>
              </a:p>
              <a:p>
                <a:pPr marL="0" indent="0">
                  <a:buNone/>
                </a:pPr>
                <a:r>
                  <a:rPr lang="en-US" sz="1200" dirty="0"/>
                  <a:t>Where:</a:t>
                </a:r>
                <a:br>
                  <a:rPr lang="en-US" sz="1200" dirty="0"/>
                </a:br>
                <a:r>
                  <a:rPr lang="en-US" sz="1200" dirty="0"/>
                  <a:t>d = Braking Distance</a:t>
                </a:r>
                <a:br>
                  <a:rPr lang="en-US" sz="1200" dirty="0"/>
                </a:br>
                <a:r>
                  <a:rPr lang="en-US" sz="1200" dirty="0"/>
                  <a:t>g = Acceleration due to gravity (9.80 m/</a:t>
                </a:r>
                <a:r>
                  <a:rPr lang="en-US" sz="1200" dirty="0" err="1"/>
                  <a:t>sec</a:t>
                </a:r>
                <a:r>
                  <a:rPr lang="en-US" sz="1200" baseline="30000" dirty="0" err="1"/>
                  <a:t>2</a:t>
                </a:r>
                <a:r>
                  <a:rPr lang="en-US" sz="1200" dirty="0"/>
                  <a:t>)</a:t>
                </a:r>
              </a:p>
              <a:p>
                <a:pPr marL="0" indent="0">
                  <a:buNone/>
                </a:pPr>
                <a:r>
                  <a:rPr lang="en-US" sz="1200" dirty="0" err="1"/>
                  <a:t>Vmax</a:t>
                </a:r>
                <a:r>
                  <a:rPr lang="en-US" sz="1200" dirty="0"/>
                  <a:t>- Maximum velocity </a:t>
                </a:r>
              </a:p>
              <a:p>
                <a:pPr marL="0" indent="0">
                  <a:buNone/>
                </a:pPr>
                <a:r>
                  <a:rPr lang="en-US" sz="1200" dirty="0"/>
                  <a:t>r- </a:t>
                </a:r>
                <a:r>
                  <a:rPr lang="en-US" sz="1200" dirty="0" err="1"/>
                  <a:t>Raddius</a:t>
                </a:r>
                <a:r>
                  <a:rPr lang="en-US" sz="1200" dirty="0"/>
                  <a:t> of curve</a:t>
                </a:r>
                <a:br>
                  <a:rPr lang="en-US" sz="1200" dirty="0"/>
                </a:br>
                <a:r>
                  <a:rPr lang="en-US" sz="1200" dirty="0"/>
                  <a:t>V = Initial vehicle speed (m/sec)</a:t>
                </a:r>
              </a:p>
              <a:p>
                <a:pPr marL="0" indent="0">
                  <a:buNone/>
                </a:pPr>
                <a:br>
                  <a:rPr lang="en-US" sz="1200" dirty="0"/>
                </a:br>
                <a:r>
                  <a:rPr lang="en-US" b="1" dirty="0"/>
                  <a:t>µ</a:t>
                </a:r>
                <a:r>
                  <a:rPr lang="en-US" dirty="0"/>
                  <a:t> = Coefficient of friction between the tires and the roadway</a:t>
                </a:r>
              </a:p>
              <a:p>
                <a:r>
                  <a:rPr lang="en-US" dirty="0"/>
                  <a:t>It is better, for your tire to be using static friction rather than kinetic friction. </a:t>
                </a:r>
              </a:p>
              <a:p>
                <a:pPr lvl="1"/>
                <a:r>
                  <a:rPr lang="en-US" dirty="0"/>
                  <a:t>If the tire is rolling along so that the surface touching the ground is never sliding, then static friction is acting to slow the car. </a:t>
                </a:r>
              </a:p>
              <a:p>
                <a:pPr lvl="1"/>
                <a:r>
                  <a:rPr lang="en-US" dirty="0"/>
                  <a:t>If the wheels are locked and sliding, then kinetic friction is acting to slow the car.</a:t>
                </a:r>
              </a:p>
              <a:p>
                <a:r>
                  <a:rPr lang="en-US" dirty="0"/>
                  <a:t> Options:</a:t>
                </a:r>
              </a:p>
              <a:p>
                <a:pPr lvl="1"/>
                <a:r>
                  <a:rPr lang="en-US" dirty="0"/>
                  <a:t>apply just enough brake to stay within the static range of friction and not too much to lock the tires</a:t>
                </a:r>
              </a:p>
              <a:p>
                <a:pPr lvl="1"/>
                <a:r>
                  <a:rPr lang="en-US" dirty="0"/>
                  <a:t> pumping the brake, which has the effect of alternating the use of kinetic and static friction as the wheels lock and unlock</a:t>
                </a:r>
              </a:p>
              <a:p>
                <a:pPr lvl="1"/>
                <a:r>
                  <a:rPr lang="en-US" b="1" i="1" dirty="0">
                    <a:solidFill>
                      <a:schemeClr val="accent3"/>
                    </a:solidFill>
                  </a:rPr>
                  <a:t>Give your car take care of the braking for you</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46111" y="1229958"/>
                <a:ext cx="10402889" cy="5422302"/>
              </a:xfrm>
              <a:blipFill rotWithShape="0">
                <a:blip r:embed="rId2"/>
                <a:stretch>
                  <a:fillRect l="-586" t="-1687" r="-703" b="-900"/>
                </a:stretch>
              </a:blipFill>
            </p:spPr>
            <p:txBody>
              <a:bodyPr/>
              <a:lstStyle/>
              <a:p>
                <a:r>
                  <a:rPr lang="en-US">
                    <a:noFill/>
                  </a:rPr>
                  <a:t> </a:t>
                </a:r>
              </a:p>
            </p:txBody>
          </p:sp>
        </mc:Fallback>
      </mc:AlternateContent>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69680" y="452719"/>
            <a:ext cx="2787967" cy="2564184"/>
          </a:xfrm>
          <a:prstGeom prst="rect">
            <a:avLst/>
          </a:prstGeom>
        </p:spPr>
      </p:pic>
    </p:spTree>
    <p:extLst>
      <p:ext uri="{BB962C8B-B14F-4D97-AF65-F5344CB8AC3E}">
        <p14:creationId xmlns:p14="http://schemas.microsoft.com/office/powerpoint/2010/main" val="11707758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56982"/>
          </a:xfrm>
        </p:spPr>
        <p:txBody>
          <a:bodyPr/>
          <a:lstStyle/>
          <a:p>
            <a:r>
              <a:rPr lang="en-US" sz="4000" dirty="0"/>
              <a:t>How Breaks in vehicle (usually)works</a:t>
            </a:r>
          </a:p>
        </p:txBody>
      </p:sp>
      <p:sp>
        <p:nvSpPr>
          <p:cNvPr id="5" name="Content Placeholder 4"/>
          <p:cNvSpPr>
            <a:spLocks noGrp="1"/>
          </p:cNvSpPr>
          <p:nvPr>
            <p:ph idx="1"/>
          </p:nvPr>
        </p:nvSpPr>
        <p:spPr>
          <a:xfrm>
            <a:off x="99060" y="1089660"/>
            <a:ext cx="9950793" cy="5158739"/>
          </a:xfrm>
        </p:spPr>
        <p:txBody>
          <a:bodyPr>
            <a:normAutofit/>
          </a:bodyPr>
          <a:lstStyle/>
          <a:p>
            <a:r>
              <a:rPr lang="en-US" dirty="0"/>
              <a:t>The brakes transmit the force which applied to braking pedal to the tires using </a:t>
            </a:r>
            <a:r>
              <a:rPr lang="en-US" b="1" dirty="0"/>
              <a:t>friction</a:t>
            </a:r>
            <a:r>
              <a:rPr lang="en-US" dirty="0"/>
              <a:t>, and the tires transmit that force to the road using friction also.</a:t>
            </a:r>
          </a:p>
          <a:p>
            <a:r>
              <a:rPr lang="en-US" dirty="0"/>
              <a:t>Several topics behind the scene:</a:t>
            </a:r>
          </a:p>
          <a:p>
            <a:pPr lvl="1"/>
            <a:r>
              <a:rPr lang="en-US" dirty="0"/>
              <a:t>Leverage</a:t>
            </a:r>
          </a:p>
          <a:p>
            <a:pPr lvl="1"/>
            <a:endParaRPr lang="en-US" dirty="0"/>
          </a:p>
          <a:p>
            <a:pPr lvl="1"/>
            <a:endParaRPr lang="en-US" dirty="0"/>
          </a:p>
          <a:p>
            <a:pPr lvl="1"/>
            <a:endParaRPr lang="en-US" dirty="0"/>
          </a:p>
          <a:p>
            <a:pPr lvl="1"/>
            <a:r>
              <a:rPr lang="en-US" dirty="0"/>
              <a:t>Hydraulics</a:t>
            </a:r>
          </a:p>
          <a:p>
            <a:pPr lvl="1"/>
            <a:endParaRPr lang="en-US" dirty="0"/>
          </a:p>
          <a:p>
            <a:pPr lvl="1"/>
            <a:endParaRPr lang="en-US" dirty="0"/>
          </a:p>
          <a:p>
            <a:pPr lvl="1"/>
            <a:endParaRPr lang="en-US" dirty="0"/>
          </a:p>
          <a:p>
            <a:pPr lvl="1"/>
            <a:endParaRPr lang="en-US" dirty="0"/>
          </a:p>
          <a:p>
            <a:pPr lvl="1"/>
            <a:r>
              <a:rPr lang="en-US" dirty="0"/>
              <a:t>Friction</a:t>
            </a:r>
          </a:p>
          <a:p>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1742" y="2718435"/>
            <a:ext cx="3425958" cy="1172439"/>
          </a:xfrm>
          <a:prstGeom prst="rect">
            <a:avLst/>
          </a:prstGeom>
        </p:spPr>
      </p:pic>
      <p:pic>
        <p:nvPicPr>
          <p:cNvPr id="9" name="Picture 8"/>
          <p:cNvPicPr>
            <a:picLocks noChangeAspect="1"/>
          </p:cNvPicPr>
          <p:nvPr/>
        </p:nvPicPr>
        <p:blipFill>
          <a:blip r:embed="rId3"/>
          <a:stretch>
            <a:fillRect/>
          </a:stretch>
        </p:blipFill>
        <p:spPr>
          <a:xfrm>
            <a:off x="1115562" y="4234294"/>
            <a:ext cx="2209616" cy="1670685"/>
          </a:xfrm>
          <a:prstGeom prst="rect">
            <a:avLst/>
          </a:prstGeom>
        </p:spPr>
      </p:pic>
      <p:pic>
        <p:nvPicPr>
          <p:cNvPr id="10" name="Picture 9"/>
          <p:cNvPicPr>
            <a:picLocks noChangeAspect="1"/>
          </p:cNvPicPr>
          <p:nvPr/>
        </p:nvPicPr>
        <p:blipFill>
          <a:blip r:embed="rId4"/>
          <a:stretch>
            <a:fillRect/>
          </a:stretch>
        </p:blipFill>
        <p:spPr>
          <a:xfrm>
            <a:off x="5688394" y="2233829"/>
            <a:ext cx="4263286" cy="4000930"/>
          </a:xfrm>
          <a:prstGeom prst="rect">
            <a:avLst/>
          </a:prstGeom>
        </p:spPr>
      </p:pic>
    </p:spTree>
    <p:extLst>
      <p:ext uri="{BB962C8B-B14F-4D97-AF65-F5344CB8AC3E}">
        <p14:creationId xmlns:p14="http://schemas.microsoft.com/office/powerpoint/2010/main" val="41330771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956982"/>
          </a:xfrm>
        </p:spPr>
        <p:txBody>
          <a:bodyPr/>
          <a:lstStyle/>
          <a:p>
            <a:r>
              <a:rPr lang="en-US" sz="3600" dirty="0"/>
              <a:t>How Breaks in vehicle (usually)works</a:t>
            </a:r>
            <a:endParaRPr lang="en-US" sz="3600" b="1" dirty="0"/>
          </a:p>
        </p:txBody>
      </p:sp>
      <p:sp>
        <p:nvSpPr>
          <p:cNvPr id="3" name="Content Placeholder 2"/>
          <p:cNvSpPr>
            <a:spLocks noGrp="1"/>
          </p:cNvSpPr>
          <p:nvPr>
            <p:ph idx="1"/>
          </p:nvPr>
        </p:nvSpPr>
        <p:spPr>
          <a:xfrm>
            <a:off x="563880" y="1234440"/>
            <a:ext cx="7074162" cy="5270532"/>
          </a:xfrm>
        </p:spPr>
        <p:txBody>
          <a:bodyPr>
            <a:normAutofit lnSpcReduction="10000"/>
          </a:bodyPr>
          <a:lstStyle/>
          <a:p>
            <a:r>
              <a:rPr lang="en-US" dirty="0"/>
              <a:t>T­o increase safety, most modern car brake systems are broken into two circuits, with two wheels on each circuit. </a:t>
            </a:r>
          </a:p>
          <a:p>
            <a:r>
              <a:rPr lang="en-US" dirty="0"/>
              <a:t>If a fluid leak occurs in one circuit, only two of the wheels will lose their brakes and car will still be able to stop.</a:t>
            </a:r>
          </a:p>
          <a:p>
            <a:r>
              <a:rPr lang="en-US" dirty="0"/>
              <a:t>The </a:t>
            </a:r>
            <a:r>
              <a:rPr lang="en-US" b="1" dirty="0"/>
              <a:t>master cylinder</a:t>
            </a:r>
            <a:r>
              <a:rPr lang="en-US" dirty="0"/>
              <a:t> supplies pressure to both circuits of the car It uses two pistons in the same cylinder in a way that makes the cylinder relatively failsafe.</a:t>
            </a:r>
          </a:p>
          <a:p>
            <a:r>
              <a:rPr lang="en-US" dirty="0"/>
              <a:t> The </a:t>
            </a:r>
            <a:r>
              <a:rPr lang="en-US" b="1" dirty="0"/>
              <a:t>Combination </a:t>
            </a:r>
            <a:r>
              <a:rPr lang="en-US" dirty="0"/>
              <a:t>valve does the job of two separate devices:</a:t>
            </a:r>
          </a:p>
          <a:p>
            <a:pPr lvl="1"/>
            <a:r>
              <a:rPr lang="en-US" dirty="0"/>
              <a:t>The </a:t>
            </a:r>
            <a:r>
              <a:rPr lang="en-US" b="1" dirty="0"/>
              <a:t>pressure differential switch</a:t>
            </a:r>
          </a:p>
          <a:p>
            <a:pPr lvl="2"/>
            <a:r>
              <a:rPr lang="en-US" dirty="0"/>
              <a:t>alerts you if you have a leak in one of your brake circuits</a:t>
            </a:r>
          </a:p>
          <a:p>
            <a:pPr lvl="1"/>
            <a:r>
              <a:rPr lang="en-US" dirty="0"/>
              <a:t>The </a:t>
            </a:r>
            <a:r>
              <a:rPr lang="en-US" b="1" dirty="0"/>
              <a:t>proportioning valve</a:t>
            </a:r>
          </a:p>
          <a:p>
            <a:pPr lvl="2"/>
            <a:r>
              <a:rPr lang="en-US" dirty="0"/>
              <a:t> reduces the pressure to the rear brakes.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51080" y="4165689"/>
            <a:ext cx="3304540" cy="2478405"/>
          </a:xfrm>
          <a:prstGeom prst="rect">
            <a:avLst/>
          </a:prstGeom>
        </p:spPr>
      </p:pic>
      <p:pic>
        <p:nvPicPr>
          <p:cNvPr id="6" name="Content Placeholder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8351" y="1234440"/>
            <a:ext cx="3349998" cy="2931249"/>
          </a:xfrm>
          <a:prstGeom prst="rect">
            <a:avLst/>
          </a:prstGeom>
        </p:spPr>
      </p:pic>
    </p:spTree>
    <p:extLst>
      <p:ext uri="{BB962C8B-B14F-4D97-AF65-F5344CB8AC3E}">
        <p14:creationId xmlns:p14="http://schemas.microsoft.com/office/powerpoint/2010/main" val="3336809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Finally ABS </a:t>
            </a:r>
          </a:p>
        </p:txBody>
      </p:sp>
      <p:sp>
        <p:nvSpPr>
          <p:cNvPr id="3" name="Content Placeholder 2"/>
          <p:cNvSpPr>
            <a:spLocks noGrp="1"/>
          </p:cNvSpPr>
          <p:nvPr>
            <p:ph idx="1"/>
          </p:nvPr>
        </p:nvSpPr>
        <p:spPr>
          <a:xfrm>
            <a:off x="531812" y="1481418"/>
            <a:ext cx="8946541" cy="4195481"/>
          </a:xfrm>
        </p:spPr>
        <p:txBody>
          <a:bodyPr/>
          <a:lstStyle/>
          <a:p>
            <a:r>
              <a:rPr lang="en-US" dirty="0"/>
              <a:t>Anti-lock braking system (ABS) is an automobile safety system that allows the wheels on a motor vehicle to maintain tractive contact with the road surface according to driver inputs while braking, </a:t>
            </a:r>
          </a:p>
          <a:p>
            <a:r>
              <a:rPr lang="en-US" dirty="0"/>
              <a:t>ABS was first developed for aircraft use in 1929 by the French company </a:t>
            </a:r>
            <a:r>
              <a:rPr lang="en-US" dirty="0" err="1"/>
              <a:t>Gabrier</a:t>
            </a:r>
            <a:r>
              <a:rPr lang="en-US" dirty="0"/>
              <a:t> </a:t>
            </a:r>
            <a:r>
              <a:rPr lang="en-US" dirty="0" err="1"/>
              <a:t>Voisin</a:t>
            </a:r>
            <a:endParaRPr lang="en-US" dirty="0"/>
          </a:p>
          <a:p>
            <a:r>
              <a:rPr lang="en-US" dirty="0"/>
              <a:t>There are four main components to an ABS system:</a:t>
            </a:r>
          </a:p>
          <a:p>
            <a:pPr lvl="1"/>
            <a:r>
              <a:rPr lang="en-US" dirty="0"/>
              <a:t>Speed sensors (Usually One on each wheel )</a:t>
            </a:r>
          </a:p>
          <a:p>
            <a:pPr lvl="1"/>
            <a:r>
              <a:rPr lang="en-US" dirty="0"/>
              <a:t>Pump (Usually included into Modulator)</a:t>
            </a:r>
          </a:p>
          <a:p>
            <a:pPr lvl="1"/>
            <a:r>
              <a:rPr lang="en-US" dirty="0"/>
              <a:t>Valves (Usually included into Modulator)</a:t>
            </a:r>
          </a:p>
          <a:p>
            <a:pPr lvl="1"/>
            <a:r>
              <a:rPr lang="en-US" dirty="0"/>
              <a:t>Controller</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36812" y="3579158"/>
            <a:ext cx="4000590" cy="2860422"/>
          </a:xfrm>
          <a:prstGeom prst="rect">
            <a:avLst/>
          </a:prstGeom>
        </p:spPr>
      </p:pic>
    </p:spTree>
    <p:extLst>
      <p:ext uri="{BB962C8B-B14F-4D97-AF65-F5344CB8AC3E}">
        <p14:creationId xmlns:p14="http://schemas.microsoft.com/office/powerpoint/2010/main" val="893737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Speed sensor</a:t>
            </a:r>
          </a:p>
        </p:txBody>
      </p:sp>
      <p:sp>
        <p:nvSpPr>
          <p:cNvPr id="3" name="Content Placeholder 2"/>
          <p:cNvSpPr>
            <a:spLocks noGrp="1"/>
          </p:cNvSpPr>
          <p:nvPr>
            <p:ph idx="1"/>
          </p:nvPr>
        </p:nvSpPr>
        <p:spPr>
          <a:xfrm>
            <a:off x="150813" y="1953858"/>
            <a:ext cx="8543608" cy="4614582"/>
          </a:xfrm>
        </p:spPr>
        <p:txBody>
          <a:bodyPr>
            <a:normAutofit/>
          </a:bodyPr>
          <a:lstStyle/>
          <a:p>
            <a:r>
              <a:rPr lang="en-US" dirty="0"/>
              <a:t>Wheel Speed Sensors measure the road-wheel speed and direction of rotation</a:t>
            </a:r>
          </a:p>
          <a:p>
            <a:r>
              <a:rPr lang="en-US" dirty="0"/>
              <a:t> Wheel speed sensors typically include a toothed (or optically encoded) shaft and a magnetic (or optical) sensor.</a:t>
            </a:r>
          </a:p>
          <a:p>
            <a:r>
              <a:rPr lang="en-US" dirty="0"/>
              <a:t>The sensor counts the rate at which the teeth or marks pass by</a:t>
            </a:r>
          </a:p>
          <a:p>
            <a:r>
              <a:rPr lang="en-US" dirty="0"/>
              <a:t>There are two types of magnetic sensors: </a:t>
            </a:r>
          </a:p>
          <a:p>
            <a:pPr lvl="1"/>
            <a:r>
              <a:rPr lang="en-US" dirty="0"/>
              <a:t>Variable reluctance</a:t>
            </a:r>
          </a:p>
          <a:p>
            <a:pPr lvl="1"/>
            <a:r>
              <a:rPr lang="en-US" dirty="0"/>
              <a:t>Hall effect.</a:t>
            </a:r>
          </a:p>
          <a:p>
            <a:r>
              <a:rPr lang="en-US" dirty="0"/>
              <a:t>The ABS control unit receives the low AC voltage (Frequency modulation) from these sensors which increases with wheel speed. It then compares these values to the values it has stored in its memory.</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51968" y="3040380"/>
            <a:ext cx="3197731" cy="2054542"/>
          </a:xfrm>
          <a:prstGeom prst="rect">
            <a:avLst/>
          </a:prstGeom>
        </p:spPr>
      </p:pic>
    </p:spTree>
    <p:extLst>
      <p:ext uri="{BB962C8B-B14F-4D97-AF65-F5344CB8AC3E}">
        <p14:creationId xmlns:p14="http://schemas.microsoft.com/office/powerpoint/2010/main" val="41332342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8A3C342-1D03-412F-8DD3-BF519E8E0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2" name="Title 1"/>
          <p:cNvSpPr>
            <a:spLocks noGrp="1"/>
          </p:cNvSpPr>
          <p:nvPr>
            <p:ph type="title"/>
          </p:nvPr>
        </p:nvSpPr>
        <p:spPr>
          <a:xfrm>
            <a:off x="648930" y="629266"/>
            <a:ext cx="6188190" cy="1622321"/>
          </a:xfrm>
        </p:spPr>
        <p:txBody>
          <a:bodyPr>
            <a:normAutofit/>
          </a:bodyPr>
          <a:lstStyle/>
          <a:p>
            <a:r>
              <a:rPr lang="en-US">
                <a:solidFill>
                  <a:srgbClr val="EBEBEB"/>
                </a:solidFill>
              </a:rPr>
              <a:t>VALVES PUMP CONTROLLER</a:t>
            </a:r>
          </a:p>
        </p:txBody>
      </p:sp>
      <p:sp>
        <p:nvSpPr>
          <p:cNvPr id="3" name="Content Placeholder 2"/>
          <p:cNvSpPr>
            <a:spLocks noGrp="1"/>
          </p:cNvSpPr>
          <p:nvPr>
            <p:ph idx="1"/>
          </p:nvPr>
        </p:nvSpPr>
        <p:spPr>
          <a:xfrm>
            <a:off x="648930" y="2438400"/>
            <a:ext cx="6188189" cy="3785419"/>
          </a:xfrm>
        </p:spPr>
        <p:txBody>
          <a:bodyPr>
            <a:normAutofit/>
          </a:bodyPr>
          <a:lstStyle/>
          <a:p>
            <a:pPr>
              <a:lnSpc>
                <a:spcPct val="90000"/>
              </a:lnSpc>
            </a:pPr>
            <a:r>
              <a:rPr lang="en-US" sz="1100">
                <a:solidFill>
                  <a:srgbClr val="FFFFFF"/>
                </a:solidFill>
              </a:rPr>
              <a:t>Valves</a:t>
            </a:r>
          </a:p>
          <a:p>
            <a:pPr lvl="1">
              <a:lnSpc>
                <a:spcPct val="90000"/>
              </a:lnSpc>
            </a:pPr>
            <a:r>
              <a:rPr lang="en-US" sz="1100">
                <a:solidFill>
                  <a:srgbClr val="FFFFFF"/>
                </a:solidFill>
              </a:rPr>
              <a:t>There is a valve in the brake line of each brake controlled by the ABS. On some systems, the valve has three positions:</a:t>
            </a:r>
          </a:p>
          <a:p>
            <a:pPr lvl="2">
              <a:lnSpc>
                <a:spcPct val="90000"/>
              </a:lnSpc>
            </a:pPr>
            <a:r>
              <a:rPr lang="en-US" sz="1100">
                <a:solidFill>
                  <a:srgbClr val="FFFFFF"/>
                </a:solidFill>
              </a:rPr>
              <a:t>In position one, the valve is open; pressure from the master cylinder is passed right through to the brake.</a:t>
            </a:r>
          </a:p>
          <a:p>
            <a:pPr lvl="2">
              <a:lnSpc>
                <a:spcPct val="90000"/>
              </a:lnSpc>
            </a:pPr>
            <a:r>
              <a:rPr lang="en-US" sz="1100">
                <a:solidFill>
                  <a:srgbClr val="FFFFFF"/>
                </a:solidFill>
              </a:rPr>
              <a:t>In position two, the valve blocks the line, isolating that brake from the master cylinder. This prevents the pressure from rising further should the driver push the brake pedal harder.</a:t>
            </a:r>
          </a:p>
          <a:p>
            <a:pPr lvl="2">
              <a:lnSpc>
                <a:spcPct val="90000"/>
              </a:lnSpc>
            </a:pPr>
            <a:r>
              <a:rPr lang="en-US" sz="1100">
                <a:solidFill>
                  <a:srgbClr val="FFFFFF"/>
                </a:solidFill>
              </a:rPr>
              <a:t>In position three, the valve releases some of the pressure from the brake.</a:t>
            </a:r>
          </a:p>
          <a:p>
            <a:pPr>
              <a:lnSpc>
                <a:spcPct val="90000"/>
              </a:lnSpc>
            </a:pPr>
            <a:r>
              <a:rPr lang="en-US" sz="1100">
                <a:solidFill>
                  <a:srgbClr val="FFFFFF"/>
                </a:solidFill>
              </a:rPr>
              <a:t>Pump</a:t>
            </a:r>
          </a:p>
          <a:p>
            <a:pPr lvl="1">
              <a:lnSpc>
                <a:spcPct val="90000"/>
              </a:lnSpc>
            </a:pPr>
            <a:r>
              <a:rPr lang="en-US" sz="1100">
                <a:solidFill>
                  <a:srgbClr val="FFFFFF"/>
                </a:solidFill>
              </a:rPr>
              <a:t>The pump is  getting pressure back to the line after a valve reduces the pressure and wheel was unreleased. </a:t>
            </a:r>
          </a:p>
          <a:p>
            <a:pPr>
              <a:lnSpc>
                <a:spcPct val="90000"/>
              </a:lnSpc>
            </a:pPr>
            <a:r>
              <a:rPr lang="en-US" sz="1100">
                <a:solidFill>
                  <a:srgbClr val="FFFFFF"/>
                </a:solidFill>
              </a:rPr>
              <a:t>Controller</a:t>
            </a:r>
          </a:p>
          <a:p>
            <a:pPr lvl="1">
              <a:lnSpc>
                <a:spcPct val="90000"/>
              </a:lnSpc>
            </a:pPr>
            <a:r>
              <a:rPr lang="en-US" sz="1100">
                <a:solidFill>
                  <a:srgbClr val="FFFFFF"/>
                </a:solidFill>
              </a:rPr>
              <a:t>The controller is a computer in the car. It watches the speed sensors and controls the valves.</a:t>
            </a:r>
          </a:p>
        </p:txBody>
      </p:sp>
      <p:sp>
        <p:nvSpPr>
          <p:cNvPr id="12" name="Freeform 31">
            <a:extLst>
              <a:ext uri="{FF2B5EF4-FFF2-40B4-BE49-F238E27FC236}">
                <a16:creationId xmlns:a16="http://schemas.microsoft.com/office/drawing/2014/main" id="{81CC9B02-E087-4350-AEBD-2C3CF001AF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15974"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t="5312" r="-1" b="2548"/>
          <a:stretch/>
        </p:blipFill>
        <p:spPr>
          <a:xfrm>
            <a:off x="7230352" y="2"/>
            <a:ext cx="4962068" cy="3428999"/>
          </a:xfrm>
          <a:custGeom>
            <a:avLst/>
            <a:gdLst/>
            <a:ahLst/>
            <a:cxnLst/>
            <a:rect l="l" t="t" r="r" b="b"/>
            <a:pathLst>
              <a:path w="4962068" h="3428999">
                <a:moveTo>
                  <a:pt x="0" y="0"/>
                </a:moveTo>
                <a:lnTo>
                  <a:pt x="1343538" y="0"/>
                </a:lnTo>
                <a:lnTo>
                  <a:pt x="1343538" y="1"/>
                </a:lnTo>
                <a:lnTo>
                  <a:pt x="4962068" y="1"/>
                </a:lnTo>
                <a:lnTo>
                  <a:pt x="4962067" y="3428999"/>
                </a:lnTo>
                <a:lnTo>
                  <a:pt x="250957" y="3428999"/>
                </a:lnTo>
                <a:lnTo>
                  <a:pt x="250957" y="3343961"/>
                </a:lnTo>
                <a:lnTo>
                  <a:pt x="251965" y="3201315"/>
                </a:lnTo>
                <a:lnTo>
                  <a:pt x="250957" y="3057297"/>
                </a:lnTo>
                <a:lnTo>
                  <a:pt x="248940" y="2911221"/>
                </a:lnTo>
                <a:lnTo>
                  <a:pt x="247091" y="2765146"/>
                </a:lnTo>
                <a:lnTo>
                  <a:pt x="243057" y="2617013"/>
                </a:lnTo>
                <a:lnTo>
                  <a:pt x="238855" y="2467509"/>
                </a:lnTo>
                <a:lnTo>
                  <a:pt x="233980" y="2318004"/>
                </a:lnTo>
                <a:lnTo>
                  <a:pt x="227089" y="2167128"/>
                </a:lnTo>
                <a:lnTo>
                  <a:pt x="218852" y="2014881"/>
                </a:lnTo>
                <a:lnTo>
                  <a:pt x="210952" y="1861947"/>
                </a:lnTo>
                <a:lnTo>
                  <a:pt x="200867" y="1709014"/>
                </a:lnTo>
                <a:lnTo>
                  <a:pt x="188764" y="1554023"/>
                </a:lnTo>
                <a:lnTo>
                  <a:pt x="176662" y="1401090"/>
                </a:lnTo>
                <a:lnTo>
                  <a:pt x="162710" y="1245413"/>
                </a:lnTo>
                <a:lnTo>
                  <a:pt x="147414" y="1089051"/>
                </a:lnTo>
                <a:lnTo>
                  <a:pt x="131278" y="934746"/>
                </a:lnTo>
                <a:lnTo>
                  <a:pt x="112452" y="778383"/>
                </a:lnTo>
                <a:lnTo>
                  <a:pt x="92281" y="622707"/>
                </a:lnTo>
                <a:lnTo>
                  <a:pt x="72278" y="466344"/>
                </a:lnTo>
                <a:lnTo>
                  <a:pt x="48914" y="310668"/>
                </a:lnTo>
                <a:lnTo>
                  <a:pt x="25045" y="155677"/>
                </a:lnTo>
                <a:close/>
              </a:path>
            </a:pathLst>
          </a:custGeom>
        </p:spPr>
      </p:pic>
      <p:pic>
        <p:nvPicPr>
          <p:cNvPr id="5" name="Picture 4">
            <a:extLst>
              <a:ext uri="{FF2B5EF4-FFF2-40B4-BE49-F238E27FC236}">
                <a16:creationId xmlns:a16="http://schemas.microsoft.com/office/drawing/2014/main" id="{9B762D84-6AE9-49A2-B0C8-7BEC736CC2D6}"/>
              </a:ext>
            </a:extLst>
          </p:cNvPr>
          <p:cNvPicPr>
            <a:picLocks noChangeAspect="1"/>
          </p:cNvPicPr>
          <p:nvPr/>
        </p:nvPicPr>
        <p:blipFill rotWithShape="1">
          <a:blip r:embed="rId4"/>
          <a:srcRect r="-1" b="3034"/>
          <a:stretch/>
        </p:blipFill>
        <p:spPr>
          <a:xfrm>
            <a:off x="7228756" y="3428997"/>
            <a:ext cx="4963244" cy="3429002"/>
          </a:xfrm>
          <a:custGeom>
            <a:avLst/>
            <a:gdLst/>
            <a:ahLst/>
            <a:cxnLst/>
            <a:rect l="l" t="t" r="r" b="b"/>
            <a:pathLst>
              <a:path w="4963244" h="3429002">
                <a:moveTo>
                  <a:pt x="252134" y="0"/>
                </a:moveTo>
                <a:lnTo>
                  <a:pt x="4963244" y="0"/>
                </a:lnTo>
                <a:lnTo>
                  <a:pt x="4963244" y="3429002"/>
                </a:lnTo>
                <a:lnTo>
                  <a:pt x="900697" y="3429002"/>
                </a:lnTo>
                <a:lnTo>
                  <a:pt x="900697" y="3429001"/>
                </a:lnTo>
                <a:lnTo>
                  <a:pt x="0" y="3429001"/>
                </a:lnTo>
                <a:lnTo>
                  <a:pt x="5883" y="3388539"/>
                </a:lnTo>
                <a:lnTo>
                  <a:pt x="23196" y="3269895"/>
                </a:lnTo>
                <a:lnTo>
                  <a:pt x="35299" y="3183484"/>
                </a:lnTo>
                <a:lnTo>
                  <a:pt x="48073" y="3080614"/>
                </a:lnTo>
                <a:lnTo>
                  <a:pt x="63369" y="2958542"/>
                </a:lnTo>
                <a:lnTo>
                  <a:pt x="79506" y="2823439"/>
                </a:lnTo>
                <a:lnTo>
                  <a:pt x="96483" y="2671192"/>
                </a:lnTo>
                <a:lnTo>
                  <a:pt x="114469" y="2505228"/>
                </a:lnTo>
                <a:lnTo>
                  <a:pt x="132454" y="2324863"/>
                </a:lnTo>
                <a:lnTo>
                  <a:pt x="150776" y="2132839"/>
                </a:lnTo>
                <a:lnTo>
                  <a:pt x="167753" y="1925727"/>
                </a:lnTo>
                <a:lnTo>
                  <a:pt x="184058" y="1709014"/>
                </a:lnTo>
                <a:lnTo>
                  <a:pt x="198849" y="1479957"/>
                </a:lnTo>
                <a:lnTo>
                  <a:pt x="212969" y="1241299"/>
                </a:lnTo>
                <a:lnTo>
                  <a:pt x="226248" y="992353"/>
                </a:lnTo>
                <a:lnTo>
                  <a:pt x="230955" y="864794"/>
                </a:lnTo>
                <a:lnTo>
                  <a:pt x="236165" y="734493"/>
                </a:lnTo>
                <a:lnTo>
                  <a:pt x="241040" y="602134"/>
                </a:lnTo>
                <a:lnTo>
                  <a:pt x="244234" y="469088"/>
                </a:lnTo>
                <a:lnTo>
                  <a:pt x="247091" y="333300"/>
                </a:lnTo>
                <a:lnTo>
                  <a:pt x="250117" y="196140"/>
                </a:lnTo>
                <a:lnTo>
                  <a:pt x="252134" y="56237"/>
                </a:lnTo>
                <a:close/>
              </a:path>
            </a:pathLst>
          </a:custGeom>
        </p:spPr>
      </p:pic>
    </p:spTree>
    <p:extLst>
      <p:ext uri="{BB962C8B-B14F-4D97-AF65-F5344CB8AC3E}">
        <p14:creationId xmlns:p14="http://schemas.microsoft.com/office/powerpoint/2010/main" val="3002500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ABS Systems</a:t>
            </a:r>
          </a:p>
        </p:txBody>
      </p:sp>
      <p:sp>
        <p:nvSpPr>
          <p:cNvPr id="3" name="Content Placeholder 2"/>
          <p:cNvSpPr>
            <a:spLocks noGrp="1"/>
          </p:cNvSpPr>
          <p:nvPr>
            <p:ph idx="1"/>
          </p:nvPr>
        </p:nvSpPr>
        <p:spPr/>
        <p:txBody>
          <a:bodyPr>
            <a:normAutofit lnSpcReduction="10000"/>
          </a:bodyPr>
          <a:lstStyle/>
          <a:p>
            <a:r>
              <a:rPr lang="en-US" b="1" dirty="0"/>
              <a:t>Four-channel, four-sensor ABS</a:t>
            </a:r>
          </a:p>
          <a:p>
            <a:pPr lvl="1"/>
            <a:r>
              <a:rPr lang="en-US" dirty="0"/>
              <a:t>There is a speed sensor on all four wheels and a separate valve for all four wheels. With this setup, the controller monitors each wheel individually to make sure it is achieving maximum braking force.</a:t>
            </a:r>
          </a:p>
          <a:p>
            <a:r>
              <a:rPr lang="en-US" b="1" dirty="0"/>
              <a:t>Three-channel, three-sensor ABS</a:t>
            </a:r>
          </a:p>
          <a:p>
            <a:pPr lvl="1"/>
            <a:r>
              <a:rPr lang="en-US" dirty="0"/>
              <a:t>This scheme, commonly found on pickup trucks with four-wheel ABS, has a speed sensor and a valve for each of the front wheels, with one valve and one sensor for both rear wheels. The speed sensor for the rear wheels is located in the rear axle.</a:t>
            </a:r>
          </a:p>
          <a:p>
            <a:r>
              <a:rPr lang="en-US" b="1" dirty="0"/>
              <a:t>One-channel, one-sensor ABS</a:t>
            </a:r>
          </a:p>
          <a:p>
            <a:pPr lvl="1"/>
            <a:r>
              <a:rPr lang="en-US" dirty="0"/>
              <a:t>This system is commonly found on pickup trucks with rear-wheel ABS. It has one valve, which controls both rear wheels, and one speed sensor, located in the rear axle.</a:t>
            </a:r>
          </a:p>
          <a:p>
            <a:pPr lvl="1"/>
            <a:endParaRPr lang="en-US" dirty="0"/>
          </a:p>
          <a:p>
            <a:endParaRPr lang="en-US" dirty="0"/>
          </a:p>
        </p:txBody>
      </p:sp>
    </p:spTree>
    <p:extLst>
      <p:ext uri="{BB962C8B-B14F-4D97-AF65-F5344CB8AC3E}">
        <p14:creationId xmlns:p14="http://schemas.microsoft.com/office/powerpoint/2010/main" val="1579609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Simplest algorithm</a:t>
            </a:r>
          </a:p>
        </p:txBody>
      </p:sp>
      <p:sp>
        <p:nvSpPr>
          <p:cNvPr id="3" name="Content Placeholder 2"/>
          <p:cNvSpPr>
            <a:spLocks noGrp="1"/>
          </p:cNvSpPr>
          <p:nvPr>
            <p:ph idx="1"/>
          </p:nvPr>
        </p:nvSpPr>
        <p:spPr>
          <a:xfrm>
            <a:off x="439838" y="1192192"/>
            <a:ext cx="9610015" cy="5056207"/>
          </a:xfrm>
        </p:spPr>
        <p:txBody>
          <a:bodyPr vert="horz" lIns="91440" tIns="45720" rIns="91440" bIns="45720" rtlCol="0" anchor="t">
            <a:normAutofit fontScale="92500" lnSpcReduction="20000"/>
          </a:bodyPr>
          <a:lstStyle/>
          <a:p>
            <a:r>
              <a:rPr lang="en-US" dirty="0"/>
              <a:t>When the driver applies breaking The controller monitors the speed sensors at all times. (looking for </a:t>
            </a:r>
            <a:r>
              <a:rPr lang="en-US" b="1" dirty="0"/>
              <a:t>decelerations</a:t>
            </a:r>
            <a:r>
              <a:rPr lang="en-US" dirty="0"/>
              <a:t> in the wheel that are out of the ordinary). </a:t>
            </a:r>
          </a:p>
          <a:p>
            <a:r>
              <a:rPr lang="en-US" dirty="0"/>
              <a:t>Controller reduces the </a:t>
            </a:r>
            <a:r>
              <a:rPr lang="en-US" b="1" dirty="0"/>
              <a:t>pressure</a:t>
            </a:r>
            <a:r>
              <a:rPr lang="en-US" dirty="0"/>
              <a:t> to that brake until it sees an acceleration,</a:t>
            </a:r>
          </a:p>
          <a:p>
            <a:pPr lvl="1"/>
            <a:r>
              <a:rPr lang="en-US" dirty="0"/>
              <a:t>Putting the valve In position three,( the valve releases some of the pressure from the brake.)</a:t>
            </a:r>
          </a:p>
          <a:p>
            <a:pPr lvl="1"/>
            <a:r>
              <a:rPr lang="en-US" dirty="0"/>
              <a:t>After it puts valves in position two,(the valve blocks the line, isolating that brake from the master cylinder)</a:t>
            </a:r>
          </a:p>
          <a:p>
            <a:r>
              <a:rPr lang="en-US" dirty="0"/>
              <a:t> Then it increases the pressure in the </a:t>
            </a:r>
            <a:r>
              <a:rPr lang="en-US" dirty="0" err="1"/>
              <a:t>systemuntil</a:t>
            </a:r>
            <a:r>
              <a:rPr lang="en-US" dirty="0"/>
              <a:t> it sees the deceleration again. </a:t>
            </a:r>
          </a:p>
          <a:p>
            <a:pPr lvl="1"/>
            <a:r>
              <a:rPr lang="en-US" dirty="0"/>
              <a:t>Putting the valve In position In position one, the valve is open; pressure from the master cylinder is passed right through to the brake.</a:t>
            </a:r>
          </a:p>
          <a:p>
            <a:r>
              <a:rPr lang="en-US" dirty="0"/>
              <a:t>Repeat this procedure around 15 times per second</a:t>
            </a:r>
          </a:p>
          <a:p>
            <a:r>
              <a:rPr lang="en-US" dirty="0"/>
              <a:t>When the ABS system is in operation driver feels l a </a:t>
            </a:r>
            <a:r>
              <a:rPr lang="en-US" b="1" dirty="0"/>
              <a:t>pulsing</a:t>
            </a:r>
            <a:r>
              <a:rPr lang="en-US" dirty="0"/>
              <a:t> in the brake pedal;.</a:t>
            </a:r>
          </a:p>
          <a:p>
            <a:pPr>
              <a:buClr>
                <a:srgbClr val="8AD0D6"/>
              </a:buClr>
            </a:pPr>
            <a:r>
              <a:rPr lang="en-US" dirty="0">
                <a:ea typeface="+mj-lt"/>
                <a:cs typeface="+mj-lt"/>
              </a:rPr>
              <a:t>https://www.youtube.com/watch?time_continue=407&amp;v=98DXe3uKwfc&amp;embeds_referring_euri=https%3A%2F%2Fwww.google.com%2F</a:t>
            </a:r>
            <a:endParaRPr lang="en-US"/>
          </a:p>
          <a:p>
            <a:endParaRPr lang="en-US" dirty="0"/>
          </a:p>
        </p:txBody>
      </p:sp>
    </p:spTree>
    <p:extLst>
      <p:ext uri="{BB962C8B-B14F-4D97-AF65-F5344CB8AC3E}">
        <p14:creationId xmlns:p14="http://schemas.microsoft.com/office/powerpoint/2010/main" val="291191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Anti Lock Brake System">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214176" y="174450"/>
            <a:ext cx="9763648" cy="6509099"/>
          </a:xfrm>
          <a:prstGeom prst="rect">
            <a:avLst/>
          </a:prstGeom>
        </p:spPr>
      </p:pic>
    </p:spTree>
    <p:extLst>
      <p:ext uri="{BB962C8B-B14F-4D97-AF65-F5344CB8AC3E}">
        <p14:creationId xmlns:p14="http://schemas.microsoft.com/office/powerpoint/2010/main" val="137357211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TCS</a:t>
            </a:r>
            <a:r>
              <a:rPr lang="en-US" dirty="0"/>
              <a:t> (Traction Control System )</a:t>
            </a:r>
          </a:p>
        </p:txBody>
      </p:sp>
      <p:sp>
        <p:nvSpPr>
          <p:cNvPr id="3" name="Content Placeholder 2"/>
          <p:cNvSpPr>
            <a:spLocks noGrp="1"/>
          </p:cNvSpPr>
          <p:nvPr>
            <p:ph idx="1"/>
          </p:nvPr>
        </p:nvSpPr>
        <p:spPr/>
        <p:txBody>
          <a:bodyPr/>
          <a:lstStyle/>
          <a:p>
            <a:r>
              <a:rPr lang="en-US" dirty="0"/>
              <a:t> </a:t>
            </a:r>
            <a:r>
              <a:rPr lang="en-US" dirty="0" err="1"/>
              <a:t>TCS</a:t>
            </a:r>
            <a:r>
              <a:rPr lang="en-US" dirty="0"/>
              <a:t> ensures that the wheels do not spin when driving off or accelerating. </a:t>
            </a:r>
          </a:p>
          <a:p>
            <a:r>
              <a:rPr lang="en-US" dirty="0"/>
              <a:t>To do this, the drive torque at each driven wheel is reduced correspondingly.</a:t>
            </a:r>
          </a:p>
          <a:p>
            <a:r>
              <a:rPr lang="en-US" dirty="0"/>
              <a:t> </a:t>
            </a:r>
            <a:r>
              <a:rPr lang="en-US" dirty="0" err="1"/>
              <a:t>TCS</a:t>
            </a:r>
            <a:r>
              <a:rPr lang="en-US" dirty="0"/>
              <a:t> improves the traction of the vehicle and increases vehicle safety by avoiding unstable driving situations within the limits of physics.</a:t>
            </a:r>
          </a:p>
          <a:p>
            <a:r>
              <a:rPr lang="en-US" dirty="0">
                <a:solidFill>
                  <a:schemeClr val="accent3"/>
                </a:solidFill>
              </a:rPr>
              <a:t>Traction control helps limit tire slip in acceleration on slippery </a:t>
            </a:r>
          </a:p>
          <a:p>
            <a:endParaRPr lang="en-US" dirty="0"/>
          </a:p>
        </p:txBody>
      </p:sp>
    </p:spTree>
    <p:extLst>
      <p:ext uri="{BB962C8B-B14F-4D97-AF65-F5344CB8AC3E}">
        <p14:creationId xmlns:p14="http://schemas.microsoft.com/office/powerpoint/2010/main" val="2512397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a:t>
            </a:r>
            <a:r>
              <a:rPr lang="en-US" dirty="0" err="1"/>
              <a:t>TCS</a:t>
            </a:r>
            <a:r>
              <a:rPr lang="en-US" dirty="0"/>
              <a:t>  works</a:t>
            </a:r>
          </a:p>
        </p:txBody>
      </p:sp>
      <p:sp>
        <p:nvSpPr>
          <p:cNvPr id="3" name="Content Placeholder 2"/>
          <p:cNvSpPr>
            <a:spLocks noGrp="1"/>
          </p:cNvSpPr>
          <p:nvPr>
            <p:ph idx="1"/>
          </p:nvPr>
        </p:nvSpPr>
        <p:spPr>
          <a:xfrm>
            <a:off x="646111" y="1400538"/>
            <a:ext cx="10998021" cy="5150734"/>
          </a:xfrm>
        </p:spPr>
        <p:txBody>
          <a:bodyPr>
            <a:normAutofit lnSpcReduction="10000"/>
          </a:bodyPr>
          <a:lstStyle/>
          <a:p>
            <a:r>
              <a:rPr lang="en-US" dirty="0"/>
              <a:t>How it works: </a:t>
            </a:r>
            <a:r>
              <a:rPr lang="en-US" dirty="0" err="1"/>
              <a:t>TCS</a:t>
            </a:r>
            <a:r>
              <a:rPr lang="en-US" dirty="0"/>
              <a:t> supplements the ABS function.</a:t>
            </a:r>
          </a:p>
          <a:p>
            <a:pPr lvl="1"/>
            <a:r>
              <a:rPr lang="en-US" dirty="0"/>
              <a:t>Sensors</a:t>
            </a:r>
          </a:p>
          <a:p>
            <a:pPr lvl="1"/>
            <a:r>
              <a:rPr lang="en-US" dirty="0"/>
              <a:t>Valves</a:t>
            </a:r>
          </a:p>
          <a:p>
            <a:pPr lvl="1"/>
            <a:r>
              <a:rPr lang="en-US" dirty="0"/>
              <a:t>Pump</a:t>
            </a:r>
          </a:p>
          <a:p>
            <a:r>
              <a:rPr lang="en-US" dirty="0"/>
              <a:t>Sensors measure differences in rotational speed to determine if the wheels that are receiving power have lost traction all the time .</a:t>
            </a:r>
          </a:p>
          <a:p>
            <a:r>
              <a:rPr lang="en-US" dirty="0"/>
              <a:t> If one of the driven wheels tend to spin, </a:t>
            </a:r>
            <a:r>
              <a:rPr lang="en-US" dirty="0" err="1"/>
              <a:t>TCS</a:t>
            </a:r>
            <a:r>
              <a:rPr lang="en-US" dirty="0"/>
              <a:t> is activated. </a:t>
            </a:r>
          </a:p>
          <a:p>
            <a:r>
              <a:rPr lang="en-US" dirty="0"/>
              <a:t>When the traction-control system determines that one wheel is spinning more quickly than the others, it automatically "pumps" the brake to that wheel to reduce its speed and lessen wheel slip.</a:t>
            </a:r>
          </a:p>
          <a:p>
            <a:r>
              <a:rPr lang="en-US" dirty="0"/>
              <a:t>Some traction-control systems also reduce engine power to the slipping wheels. </a:t>
            </a:r>
          </a:p>
          <a:p>
            <a:r>
              <a:rPr lang="en-US" dirty="0"/>
              <a:t>In a few of these vehicles, drivers may sense pulsations of the gas pedal when the system is reducing engine power much like a brake pedal pulsates when the antilock braking system is working.</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12000" y="0"/>
            <a:ext cx="5080000" cy="2895600"/>
          </a:xfrm>
          <a:prstGeom prst="rect">
            <a:avLst/>
          </a:prstGeom>
        </p:spPr>
      </p:pic>
    </p:spTree>
    <p:extLst>
      <p:ext uri="{BB962C8B-B14F-4D97-AF65-F5344CB8AC3E}">
        <p14:creationId xmlns:p14="http://schemas.microsoft.com/office/powerpoint/2010/main" val="2373794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TCS</a:t>
            </a:r>
            <a:endParaRPr lang="en-US" dirty="0"/>
          </a:p>
        </p:txBody>
      </p:sp>
      <p:pic>
        <p:nvPicPr>
          <p:cNvPr id="4" name="Toyota Traction Control System (TRC)">
            <a:hlinkClick r:id="" action="ppaction://media"/>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870999" y="1485479"/>
            <a:ext cx="7459663" cy="4195762"/>
          </a:xfrm>
        </p:spPr>
      </p:pic>
    </p:spTree>
    <p:extLst>
      <p:ext uri="{BB962C8B-B14F-4D97-AF65-F5344CB8AC3E}">
        <p14:creationId xmlns:p14="http://schemas.microsoft.com/office/powerpoint/2010/main" val="1692345181"/>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ESP (Electronic stability program) </a:t>
            </a:r>
          </a:p>
        </p:txBody>
      </p:sp>
      <p:sp>
        <p:nvSpPr>
          <p:cNvPr id="3" name="Content Placeholder 2"/>
          <p:cNvSpPr>
            <a:spLocks noGrp="1"/>
          </p:cNvSpPr>
          <p:nvPr>
            <p:ph idx="1"/>
          </p:nvPr>
        </p:nvSpPr>
        <p:spPr>
          <a:xfrm>
            <a:off x="286682" y="1307933"/>
            <a:ext cx="6912156" cy="5405383"/>
          </a:xfrm>
        </p:spPr>
        <p:txBody>
          <a:bodyPr>
            <a:normAutofit/>
          </a:bodyPr>
          <a:lstStyle/>
          <a:p>
            <a:r>
              <a:rPr lang="en-US" dirty="0"/>
              <a:t>Dynamic trajectory control, also known as ESP (Electronic Stability Program),assists the driver to retain control of his vehicle in the event of a loss of grip</a:t>
            </a:r>
          </a:p>
          <a:p>
            <a:r>
              <a:rPr lang="en-US" dirty="0"/>
              <a:t>The aim of ESP is to maintain the trajectory of the vehicle</a:t>
            </a:r>
          </a:p>
          <a:p>
            <a:r>
              <a:rPr lang="en-US" dirty="0"/>
              <a:t>Traction control operates alongside ESP</a:t>
            </a:r>
          </a:p>
          <a:p>
            <a:r>
              <a:rPr lang="en-US" dirty="0"/>
              <a:t>ESP uses ABS as a basement with additional sensors</a:t>
            </a:r>
          </a:p>
          <a:p>
            <a:pPr lvl="1"/>
            <a:r>
              <a:rPr lang="en-US" dirty="0"/>
              <a:t>Lateral acceleration sensor</a:t>
            </a:r>
          </a:p>
          <a:p>
            <a:pPr lvl="1"/>
            <a:r>
              <a:rPr lang="en-US" dirty="0" err="1"/>
              <a:t>Gyrometer</a:t>
            </a:r>
            <a:endParaRPr lang="en-US" dirty="0"/>
          </a:p>
          <a:p>
            <a:pPr lvl="1"/>
            <a:r>
              <a:rPr lang="en-US" dirty="0"/>
              <a:t>Steering wheel angle sensor </a:t>
            </a:r>
          </a:p>
        </p:txBody>
      </p:sp>
      <p:pic>
        <p:nvPicPr>
          <p:cNvPr id="4" name="Picture 3"/>
          <p:cNvPicPr>
            <a:picLocks noChangeAspect="1"/>
          </p:cNvPicPr>
          <p:nvPr/>
        </p:nvPicPr>
        <p:blipFill>
          <a:blip r:embed="rId2"/>
          <a:stretch>
            <a:fillRect/>
          </a:stretch>
        </p:blipFill>
        <p:spPr>
          <a:xfrm>
            <a:off x="7198838" y="1705367"/>
            <a:ext cx="4993162" cy="3447266"/>
          </a:xfrm>
          <a:prstGeom prst="rect">
            <a:avLst/>
          </a:prstGeom>
        </p:spPr>
      </p:pic>
    </p:spTree>
    <p:extLst>
      <p:ext uri="{BB962C8B-B14F-4D97-AF65-F5344CB8AC3E}">
        <p14:creationId xmlns:p14="http://schemas.microsoft.com/office/powerpoint/2010/main" val="3922203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Sensors: </a:t>
            </a:r>
          </a:p>
        </p:txBody>
      </p:sp>
      <p:sp>
        <p:nvSpPr>
          <p:cNvPr id="3" name="Content Placeholder 2"/>
          <p:cNvSpPr>
            <a:spLocks noGrp="1"/>
          </p:cNvSpPr>
          <p:nvPr>
            <p:ph idx="1"/>
          </p:nvPr>
        </p:nvSpPr>
        <p:spPr>
          <a:xfrm>
            <a:off x="428263" y="1284790"/>
            <a:ext cx="9622571" cy="5312780"/>
          </a:xfrm>
        </p:spPr>
        <p:txBody>
          <a:bodyPr/>
          <a:lstStyle/>
          <a:p>
            <a:r>
              <a:rPr lang="en-US" dirty="0"/>
              <a:t>Steering wheel</a:t>
            </a:r>
          </a:p>
          <a:p>
            <a:pPr lvl="1"/>
            <a:r>
              <a:rPr lang="en-US" dirty="0"/>
              <a:t>The task of the steering-angle sensor is to measure the position of the steering wheel by </a:t>
            </a:r>
            <a:r>
              <a:rPr lang="en-US" dirty="0" err="1"/>
              <a:t>determing</a:t>
            </a:r>
            <a:r>
              <a:rPr lang="en-US" dirty="0"/>
              <a:t> the steering angle. From the steering angle, the vehicle speed and the desired braking pressure or the position of the accelerator pedal, the driving intention of the driver is calculated (desired state).</a:t>
            </a:r>
          </a:p>
          <a:p>
            <a:r>
              <a:rPr lang="en-US" dirty="0"/>
              <a:t>Yaw Rate Sensor (</a:t>
            </a:r>
            <a:r>
              <a:rPr lang="en-US" dirty="0" err="1"/>
              <a:t>Gyrometr</a:t>
            </a:r>
            <a:r>
              <a:rPr lang="en-US" dirty="0"/>
              <a:t> and Lateral acceleration sensors)</a:t>
            </a:r>
          </a:p>
          <a:p>
            <a:pPr lvl="1"/>
            <a:r>
              <a:rPr lang="en-US" dirty="0"/>
              <a:t>A yaw-rate sensor registers all the movements of the vehicle around its vertical axis. In combination with the integrated lateral-acceleration sensor, the status of the vehicle (actual state) can be determined and compared with the driver´s intention.</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20300" y="1152983"/>
            <a:ext cx="2171700" cy="1895475"/>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91400" y="4529102"/>
            <a:ext cx="4800600" cy="2200275"/>
          </a:xfrm>
          <a:prstGeom prst="rect">
            <a:avLst/>
          </a:prstGeom>
        </p:spPr>
      </p:pic>
    </p:spTree>
    <p:extLst>
      <p:ext uri="{BB962C8B-B14F-4D97-AF65-F5344CB8AC3E}">
        <p14:creationId xmlns:p14="http://schemas.microsoft.com/office/powerpoint/2010/main" val="4059038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6111" y="452718"/>
            <a:ext cx="9404723" cy="785773"/>
          </a:xfrm>
        </p:spPr>
        <p:txBody>
          <a:bodyPr/>
          <a:lstStyle/>
          <a:p>
            <a:r>
              <a:rPr lang="en-US" dirty="0"/>
              <a:t>How does it work?</a:t>
            </a:r>
          </a:p>
        </p:txBody>
      </p:sp>
      <p:sp>
        <p:nvSpPr>
          <p:cNvPr id="3" name="Content Placeholder 2"/>
          <p:cNvSpPr>
            <a:spLocks noGrp="1"/>
          </p:cNvSpPr>
          <p:nvPr>
            <p:ph idx="1"/>
          </p:nvPr>
        </p:nvSpPr>
        <p:spPr>
          <a:xfrm>
            <a:off x="451413" y="1238492"/>
            <a:ext cx="11412638" cy="5289630"/>
          </a:xfrm>
        </p:spPr>
        <p:txBody>
          <a:bodyPr>
            <a:normAutofit fontScale="92500" lnSpcReduction="10000"/>
          </a:bodyPr>
          <a:lstStyle/>
          <a:p>
            <a:r>
              <a:rPr lang="en-US" dirty="0"/>
              <a:t>ESP works selectively on each wheel and, if necessary, on engine torque. </a:t>
            </a:r>
          </a:p>
          <a:p>
            <a:r>
              <a:rPr lang="en-US" dirty="0"/>
              <a:t>ESP analyses the data provided by seven sensors (always)and compares them with a reference model of the vehicle’s behavior stored in its memory</a:t>
            </a:r>
          </a:p>
          <a:p>
            <a:r>
              <a:rPr lang="en-US" dirty="0"/>
              <a:t>Computer determines the speed of the vehicle by </a:t>
            </a:r>
            <a:r>
              <a:rPr lang="en-US" dirty="0" err="1"/>
              <a:t>analysing</a:t>
            </a:r>
            <a:r>
              <a:rPr lang="en-US" dirty="0"/>
              <a:t> the data provided by each wheel’s tachometers</a:t>
            </a:r>
          </a:p>
          <a:p>
            <a:r>
              <a:rPr lang="en-US" dirty="0"/>
              <a:t>Computer also checks that the difference in speed of rotation between the right and the left wheels conforms to the bend that vehicle is negotiating</a:t>
            </a:r>
          </a:p>
          <a:p>
            <a:r>
              <a:rPr lang="en-US" dirty="0"/>
              <a:t>The analysis is further refined by data supplied by a sixth sensor, a </a:t>
            </a:r>
            <a:r>
              <a:rPr lang="en-US" dirty="0" err="1"/>
              <a:t>gyrometer</a:t>
            </a:r>
            <a:r>
              <a:rPr lang="en-US" dirty="0"/>
              <a:t>, which detects the vehicle's rotational movements around its vertical axis</a:t>
            </a:r>
          </a:p>
          <a:p>
            <a:r>
              <a:rPr lang="en-US" dirty="0"/>
              <a:t>Accelerometer enables it to detect the onset of lateral slipping</a:t>
            </a:r>
          </a:p>
          <a:p>
            <a:r>
              <a:rPr lang="en-US" dirty="0"/>
              <a:t>If Any discrepancy detected by the computer results from a deviation between the car’s real trajectory and that desired by the driver</a:t>
            </a:r>
          </a:p>
          <a:p>
            <a:r>
              <a:rPr lang="en-US" dirty="0"/>
              <a:t>The computer then acts selectively, applying brakes to one or more wheels.</a:t>
            </a:r>
          </a:p>
          <a:p>
            <a:r>
              <a:rPr lang="en-US" dirty="0"/>
              <a:t>If the selective braking of wheels is insufficient to force the </a:t>
            </a:r>
            <a:r>
              <a:rPr lang="en-US" dirty="0" err="1"/>
              <a:t>vehicleto</a:t>
            </a:r>
            <a:r>
              <a:rPr lang="en-US" dirty="0"/>
              <a:t> adopt the correct trajectory, the computer then acts on engine torque</a:t>
            </a:r>
          </a:p>
        </p:txBody>
      </p:sp>
    </p:spTree>
    <p:extLst>
      <p:ext uri="{BB962C8B-B14F-4D97-AF65-F5344CB8AC3E}">
        <p14:creationId xmlns:p14="http://schemas.microsoft.com/office/powerpoint/2010/main" val="21886047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Exampled</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113780" y="-37642"/>
            <a:ext cx="6991350" cy="2381250"/>
          </a:xfrm>
        </p:spPr>
      </p:pic>
      <p:pic>
        <p:nvPicPr>
          <p:cNvPr id="4" name="Picture 3"/>
          <p:cNvPicPr>
            <a:picLocks noChangeAspect="1"/>
          </p:cNvPicPr>
          <p:nvPr/>
        </p:nvPicPr>
        <p:blipFill>
          <a:blip r:embed="rId3"/>
          <a:stretch>
            <a:fillRect/>
          </a:stretch>
        </p:blipFill>
        <p:spPr>
          <a:xfrm>
            <a:off x="410592" y="2524593"/>
            <a:ext cx="5483686" cy="4032472"/>
          </a:xfrm>
          <a:prstGeom prst="rect">
            <a:avLst/>
          </a:prstGeom>
        </p:spPr>
      </p:pic>
      <p:pic>
        <p:nvPicPr>
          <p:cNvPr id="5" name="Picture 4"/>
          <p:cNvPicPr>
            <a:picLocks noChangeAspect="1"/>
          </p:cNvPicPr>
          <p:nvPr/>
        </p:nvPicPr>
        <p:blipFill>
          <a:blip r:embed="rId4"/>
          <a:stretch>
            <a:fillRect/>
          </a:stretch>
        </p:blipFill>
        <p:spPr>
          <a:xfrm>
            <a:off x="6256052" y="2481181"/>
            <a:ext cx="5849078" cy="4075884"/>
          </a:xfrm>
          <a:prstGeom prst="rect">
            <a:avLst/>
          </a:prstGeom>
        </p:spPr>
      </p:pic>
    </p:spTree>
    <p:extLst>
      <p:ext uri="{BB962C8B-B14F-4D97-AF65-F5344CB8AC3E}">
        <p14:creationId xmlns:p14="http://schemas.microsoft.com/office/powerpoint/2010/main" val="3689759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ESP</a:t>
            </a:r>
          </a:p>
        </p:txBody>
      </p:sp>
      <p:pic>
        <p:nvPicPr>
          <p:cNvPr id="5" name="How ESP works">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891998" y="1343131"/>
            <a:ext cx="6511222" cy="4883417"/>
          </a:xfrm>
          <a:prstGeom prst="rect">
            <a:avLst/>
          </a:prstGeom>
        </p:spPr>
      </p:pic>
      <p:sp>
        <p:nvSpPr>
          <p:cNvPr id="6" name="Content Placeholder 5"/>
          <p:cNvSpPr>
            <a:spLocks noGrp="1"/>
          </p:cNvSpPr>
          <p:nvPr>
            <p:ph idx="1"/>
          </p:nvPr>
        </p:nvSpPr>
        <p:spPr/>
        <p:txBody>
          <a:bodyPr/>
          <a:lstStyle/>
          <a:p>
            <a:endParaRPr lang="en-US" dirty="0"/>
          </a:p>
        </p:txBody>
      </p:sp>
    </p:spTree>
    <p:extLst>
      <p:ext uri="{BB962C8B-B14F-4D97-AF65-F5344CB8AC3E}">
        <p14:creationId xmlns:p14="http://schemas.microsoft.com/office/powerpoint/2010/main" val="2798486700"/>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5"/>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5"/>
                                        </p:tgtEl>
                                      </p:cBhvr>
                                    </p:cmd>
                                  </p:childTnLst>
                                </p:cTn>
                              </p:par>
                            </p:childTnLst>
                          </p:cTn>
                        </p:par>
                      </p:childTnLst>
                    </p:cTn>
                  </p:par>
                </p:childTnLst>
              </p:cTn>
              <p:nextCondLst>
                <p:cond evt="onClick" delay="0">
                  <p:tgtEl>
                    <p:spTgt spid="5"/>
                  </p:tgtEl>
                </p:cond>
              </p:nextCondLst>
            </p:seq>
            <p:video>
              <p:cMediaNode vol="80000">
                <p:cTn id="7" fill="hold" display="0">
                  <p:stCondLst>
                    <p:cond delay="indefinite"/>
                  </p:stCondLst>
                </p:cTn>
                <p:tgtEl>
                  <p:spTgt spid="5"/>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01401-853D-4FB3-A3DA-CA1F99229D27}"/>
              </a:ext>
            </a:extLst>
          </p:cNvPr>
          <p:cNvSpPr>
            <a:spLocks noGrp="1"/>
          </p:cNvSpPr>
          <p:nvPr>
            <p:ph type="title"/>
          </p:nvPr>
        </p:nvSpPr>
        <p:spPr/>
        <p:txBody>
          <a:bodyPr/>
          <a:lstStyle/>
          <a:p>
            <a:endParaRPr lang="en-GB"/>
          </a:p>
        </p:txBody>
      </p:sp>
      <p:sp>
        <p:nvSpPr>
          <p:cNvPr id="3" name="Content Placeholder 2">
            <a:extLst>
              <a:ext uri="{FF2B5EF4-FFF2-40B4-BE49-F238E27FC236}">
                <a16:creationId xmlns:a16="http://schemas.microsoft.com/office/drawing/2014/main" id="{58FA583D-26F6-46FA-A15D-5F8BB63EAF8D}"/>
              </a:ext>
            </a:extLst>
          </p:cNvPr>
          <p:cNvSpPr>
            <a:spLocks noGrp="1"/>
          </p:cNvSpPr>
          <p:nvPr>
            <p:ph idx="1"/>
          </p:nvPr>
        </p:nvSpPr>
        <p:spPr/>
        <p:txBody>
          <a:bodyPr/>
          <a:lstStyle/>
          <a:p>
            <a:r>
              <a:rPr lang="en-US" dirty="0" err="1"/>
              <a:t>Moderni</a:t>
            </a:r>
            <a:r>
              <a:rPr lang="en-US" dirty="0"/>
              <a:t> </a:t>
            </a:r>
            <a:r>
              <a:rPr lang="en-US" dirty="0" err="1"/>
              <a:t>pridavaji</a:t>
            </a:r>
            <a:r>
              <a:rPr lang="en-US" dirty="0"/>
              <a:t> </a:t>
            </a:r>
            <a:r>
              <a:rPr lang="en-US" dirty="0" err="1"/>
              <a:t>krutici</a:t>
            </a:r>
            <a:r>
              <a:rPr lang="en-US" dirty="0"/>
              <a:t> moment…. </a:t>
            </a:r>
            <a:r>
              <a:rPr lang="en-US" dirty="0" err="1"/>
              <a:t>Pokud</a:t>
            </a:r>
            <a:r>
              <a:rPr lang="en-US" dirty="0"/>
              <a:t> </a:t>
            </a:r>
            <a:r>
              <a:rPr lang="en-US" dirty="0" err="1"/>
              <a:t>najdes</a:t>
            </a:r>
            <a:r>
              <a:rPr lang="en-US" dirty="0"/>
              <a:t> info…</a:t>
            </a:r>
          </a:p>
          <a:p>
            <a:pPr lvl="1"/>
            <a:r>
              <a:rPr lang="en-US" dirty="0" err="1"/>
              <a:t>Torgue</a:t>
            </a:r>
            <a:r>
              <a:rPr lang="en-US" dirty="0"/>
              <a:t> </a:t>
            </a:r>
            <a:r>
              <a:rPr lang="en-US"/>
              <a:t>controll</a:t>
            </a:r>
            <a:endParaRPr lang="en-GB"/>
          </a:p>
        </p:txBody>
      </p:sp>
    </p:spTree>
    <p:extLst>
      <p:ext uri="{BB962C8B-B14F-4D97-AF65-F5344CB8AC3E}">
        <p14:creationId xmlns:p14="http://schemas.microsoft.com/office/powerpoint/2010/main" val="17121926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1924</Words>
  <Application>Microsoft Office PowerPoint</Application>
  <PresentationFormat>Widescreen</PresentationFormat>
  <Paragraphs>170</Paragraphs>
  <Slides>21</Slides>
  <Notes>1</Notes>
  <HiddenSlides>0</HiddenSlides>
  <MMClips>3</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Ion</vt:lpstr>
      <vt:lpstr>ABS, ESP, TCS</vt:lpstr>
      <vt:lpstr>Introduction to Friction</vt:lpstr>
      <vt:lpstr>Friction (Part 2)</vt:lpstr>
      <vt:lpstr>Friction relation to automobiles</vt:lpstr>
      <vt:lpstr>How Breaks in vehicle (usually)works</vt:lpstr>
      <vt:lpstr>How Breaks in vehicle (usually)works</vt:lpstr>
      <vt:lpstr>Finally ABS </vt:lpstr>
      <vt:lpstr>Speed sensor</vt:lpstr>
      <vt:lpstr>VALVES PUMP CONTROLLER</vt:lpstr>
      <vt:lpstr>Types of ABS Systems</vt:lpstr>
      <vt:lpstr>Simplest algorithm</vt:lpstr>
      <vt:lpstr>PowerPoint Presentation</vt:lpstr>
      <vt:lpstr>TCS (Traction Control System )</vt:lpstr>
      <vt:lpstr>How TCS  works</vt:lpstr>
      <vt:lpstr>TCS</vt:lpstr>
      <vt:lpstr>ESP (Electronic stability program) </vt:lpstr>
      <vt:lpstr>Sensors: </vt:lpstr>
      <vt:lpstr>How does it work?</vt:lpstr>
      <vt:lpstr>Exampled</vt:lpstr>
      <vt:lpstr>ESP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 ESP, TCS</dc:title>
  <dc:creator>Rozhdestvenskiy, Dmitry</dc:creator>
  <cp:lastModifiedBy>Rozhdestvenskiy, Dmitry</cp:lastModifiedBy>
  <cp:revision>4</cp:revision>
  <dcterms:created xsi:type="dcterms:W3CDTF">2020-10-19T12:23:54Z</dcterms:created>
  <dcterms:modified xsi:type="dcterms:W3CDTF">2025-10-20T10:50:27Z</dcterms:modified>
</cp:coreProperties>
</file>