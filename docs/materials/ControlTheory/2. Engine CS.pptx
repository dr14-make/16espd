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1"/>
  </p:notesMasterIdLst>
  <p:sldIdLst>
    <p:sldId id="279" r:id="rId2"/>
    <p:sldId id="269" r:id="rId3"/>
    <p:sldId id="276" r:id="rId4"/>
    <p:sldId id="280" r:id="rId5"/>
    <p:sldId id="277" r:id="rId6"/>
    <p:sldId id="278" r:id="rId7"/>
    <p:sldId id="292" r:id="rId8"/>
    <p:sldId id="281" r:id="rId9"/>
    <p:sldId id="282" r:id="rId10"/>
    <p:sldId id="304" r:id="rId11"/>
    <p:sldId id="305" r:id="rId12"/>
    <p:sldId id="291" r:id="rId13"/>
    <p:sldId id="293" r:id="rId14"/>
    <p:sldId id="294" r:id="rId15"/>
    <p:sldId id="295" r:id="rId16"/>
    <p:sldId id="297" r:id="rId17"/>
    <p:sldId id="298" r:id="rId18"/>
    <p:sldId id="299" r:id="rId19"/>
    <p:sldId id="270" r:id="rId20"/>
    <p:sldId id="258" r:id="rId21"/>
    <p:sldId id="319" r:id="rId22"/>
    <p:sldId id="306" r:id="rId23"/>
    <p:sldId id="257" r:id="rId24"/>
    <p:sldId id="283" r:id="rId25"/>
    <p:sldId id="274" r:id="rId26"/>
    <p:sldId id="275" r:id="rId27"/>
    <p:sldId id="273" r:id="rId28"/>
    <p:sldId id="262" r:id="rId29"/>
    <p:sldId id="307" r:id="rId30"/>
    <p:sldId id="308" r:id="rId31"/>
    <p:sldId id="309" r:id="rId32"/>
    <p:sldId id="259" r:id="rId33"/>
    <p:sldId id="310" r:id="rId34"/>
    <p:sldId id="264" r:id="rId35"/>
    <p:sldId id="311" r:id="rId36"/>
    <p:sldId id="261" r:id="rId37"/>
    <p:sldId id="263" r:id="rId38"/>
    <p:sldId id="289" r:id="rId39"/>
    <p:sldId id="300" r:id="rId40"/>
    <p:sldId id="318" r:id="rId41"/>
    <p:sldId id="301" r:id="rId42"/>
    <p:sldId id="302" r:id="rId43"/>
    <p:sldId id="290" r:id="rId44"/>
    <p:sldId id="267" r:id="rId45"/>
    <p:sldId id="315" r:id="rId46"/>
    <p:sldId id="316" r:id="rId47"/>
    <p:sldId id="285" r:id="rId48"/>
    <p:sldId id="287" r:id="rId49"/>
    <p:sldId id="303" r:id="rId50"/>
    <p:sldId id="312" r:id="rId51"/>
    <p:sldId id="313" r:id="rId52"/>
    <p:sldId id="314" r:id="rId53"/>
    <p:sldId id="286" r:id="rId54"/>
    <p:sldId id="288" r:id="rId55"/>
    <p:sldId id="271" r:id="rId56"/>
    <p:sldId id="268" r:id="rId57"/>
    <p:sldId id="317" r:id="rId58"/>
    <p:sldId id="265" r:id="rId59"/>
    <p:sldId id="266"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5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B60048-161C-470C-A417-26A186321C7F}" v="10" dt="2025-10-20T11:34:42.484"/>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04" autoAdjust="0"/>
    <p:restoredTop sz="78168" autoAdjust="0"/>
  </p:normalViewPr>
  <p:slideViewPr>
    <p:cSldViewPr snapToGrid="0" showGuides="1">
      <p:cViewPr varScale="1">
        <p:scale>
          <a:sx n="89" d="100"/>
          <a:sy n="89" d="100"/>
        </p:scale>
        <p:origin x="3288" y="84"/>
      </p:cViewPr>
      <p:guideLst>
        <p:guide orient="horz" pos="2160"/>
        <p:guide pos="55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zhdestvenskiy Dmitry" userId="QlsB8TQ4SwxziyIkir98HzQklI6Ljd5J3lV5OFoV6j4=" providerId="None" clId="Web-{03D834B4-06F2-4B7C-945E-C933ABB66066}"/>
    <pc:docChg chg="addSld modSld">
      <pc:chgData name="Rozhdestvenskiy Dmitry" userId="QlsB8TQ4SwxziyIkir98HzQklI6Ljd5J3lV5OFoV6j4=" providerId="None" clId="Web-{03D834B4-06F2-4B7C-945E-C933ABB66066}" dt="2025-09-29T10:18:16.689" v="91" actId="20577"/>
      <pc:docMkLst>
        <pc:docMk/>
      </pc:docMkLst>
      <pc:sldChg chg="modSp">
        <pc:chgData name="Rozhdestvenskiy Dmitry" userId="QlsB8TQ4SwxziyIkir98HzQklI6Ljd5J3lV5OFoV6j4=" providerId="None" clId="Web-{03D834B4-06F2-4B7C-945E-C933ABB66066}" dt="2025-09-29T10:18:16.689" v="91" actId="20577"/>
        <pc:sldMkLst>
          <pc:docMk/>
          <pc:sldMk cId="980535928" sldId="257"/>
        </pc:sldMkLst>
        <pc:spChg chg="mod">
          <ac:chgData name="Rozhdestvenskiy Dmitry" userId="QlsB8TQ4SwxziyIkir98HzQklI6Ljd5J3lV5OFoV6j4=" providerId="None" clId="Web-{03D834B4-06F2-4B7C-945E-C933ABB66066}" dt="2025-09-29T10:18:16.689" v="91" actId="20577"/>
          <ac:spMkLst>
            <pc:docMk/>
            <pc:sldMk cId="980535928" sldId="257"/>
            <ac:spMk id="3" creationId="{00000000-0000-0000-0000-000000000000}"/>
          </ac:spMkLst>
        </pc:spChg>
      </pc:sldChg>
      <pc:sldChg chg="modSp">
        <pc:chgData name="Rozhdestvenskiy Dmitry" userId="QlsB8TQ4SwxziyIkir98HzQklI6Ljd5J3lV5OFoV6j4=" providerId="None" clId="Web-{03D834B4-06F2-4B7C-945E-C933ABB66066}" dt="2025-09-29T08:47:39.237" v="9" actId="20577"/>
        <pc:sldMkLst>
          <pc:docMk/>
          <pc:sldMk cId="1873104566" sldId="269"/>
        </pc:sldMkLst>
        <pc:spChg chg="mod">
          <ac:chgData name="Rozhdestvenskiy Dmitry" userId="QlsB8TQ4SwxziyIkir98HzQklI6Ljd5J3lV5OFoV6j4=" providerId="None" clId="Web-{03D834B4-06F2-4B7C-945E-C933ABB66066}" dt="2025-09-29T08:47:39.237" v="9" actId="20577"/>
          <ac:spMkLst>
            <pc:docMk/>
            <pc:sldMk cId="1873104566" sldId="269"/>
            <ac:spMk id="3" creationId="{00000000-0000-0000-0000-000000000000}"/>
          </ac:spMkLst>
        </pc:spChg>
      </pc:sldChg>
      <pc:sldChg chg="modSp">
        <pc:chgData name="Rozhdestvenskiy Dmitry" userId="QlsB8TQ4SwxziyIkir98HzQklI6Ljd5J3lV5OFoV6j4=" providerId="None" clId="Web-{03D834B4-06F2-4B7C-945E-C933ABB66066}" dt="2025-09-29T09:02:29.903" v="42" actId="1076"/>
        <pc:sldMkLst>
          <pc:docMk/>
          <pc:sldMk cId="2924177249" sldId="278"/>
        </pc:sldMkLst>
        <pc:spChg chg="mod">
          <ac:chgData name="Rozhdestvenskiy Dmitry" userId="QlsB8TQ4SwxziyIkir98HzQklI6Ljd5J3lV5OFoV6j4=" providerId="None" clId="Web-{03D834B4-06F2-4B7C-945E-C933ABB66066}" dt="2025-09-29T09:02:29.903" v="42" actId="1076"/>
          <ac:spMkLst>
            <pc:docMk/>
            <pc:sldMk cId="2924177249" sldId="278"/>
            <ac:spMk id="3" creationId="{00000000-0000-0000-0000-000000000000}"/>
          </ac:spMkLst>
        </pc:spChg>
      </pc:sldChg>
      <pc:sldChg chg="addSp delSp modSp">
        <pc:chgData name="Rozhdestvenskiy Dmitry" userId="QlsB8TQ4SwxziyIkir98HzQklI6Ljd5J3lV5OFoV6j4=" providerId="None" clId="Web-{03D834B4-06F2-4B7C-945E-C933ABB66066}" dt="2025-09-29T09:30:45.492" v="55" actId="1076"/>
        <pc:sldMkLst>
          <pc:docMk/>
          <pc:sldMk cId="1834255209" sldId="295"/>
        </pc:sldMkLst>
        <pc:spChg chg="mod">
          <ac:chgData name="Rozhdestvenskiy Dmitry" userId="QlsB8TQ4SwxziyIkir98HzQklI6Ljd5J3lV5OFoV6j4=" providerId="None" clId="Web-{03D834B4-06F2-4B7C-945E-C933ABB66066}" dt="2025-09-29T09:30:40.430" v="52" actId="20577"/>
          <ac:spMkLst>
            <pc:docMk/>
            <pc:sldMk cId="1834255209" sldId="295"/>
            <ac:spMk id="3" creationId="{00000000-0000-0000-0000-000000000000}"/>
          </ac:spMkLst>
        </pc:spChg>
        <pc:picChg chg="add mod">
          <ac:chgData name="Rozhdestvenskiy Dmitry" userId="QlsB8TQ4SwxziyIkir98HzQklI6Ljd5J3lV5OFoV6j4=" providerId="None" clId="Web-{03D834B4-06F2-4B7C-945E-C933ABB66066}" dt="2025-09-29T09:30:45.492" v="55" actId="1076"/>
          <ac:picMkLst>
            <pc:docMk/>
            <pc:sldMk cId="1834255209" sldId="295"/>
            <ac:picMk id="5" creationId="{6C3610F7-15B3-4E4D-E633-E5169FC0FDAD}"/>
          </ac:picMkLst>
        </pc:picChg>
      </pc:sldChg>
      <pc:sldChg chg="modSp mod modShow">
        <pc:chgData name="Rozhdestvenskiy Dmitry" userId="QlsB8TQ4SwxziyIkir98HzQklI6Ljd5J3lV5OFoV6j4=" providerId="None" clId="Web-{03D834B4-06F2-4B7C-945E-C933ABB66066}" dt="2025-09-29T09:39:37.281" v="56"/>
        <pc:sldMkLst>
          <pc:docMk/>
          <pc:sldMk cId="935366466" sldId="304"/>
        </pc:sldMkLst>
        <pc:picChg chg="mod">
          <ac:chgData name="Rozhdestvenskiy Dmitry" userId="QlsB8TQ4SwxziyIkir98HzQklI6Ljd5J3lV5OFoV6j4=" providerId="None" clId="Web-{03D834B4-06F2-4B7C-945E-C933ABB66066}" dt="2025-09-29T09:04:32.438" v="43" actId="14100"/>
          <ac:picMkLst>
            <pc:docMk/>
            <pc:sldMk cId="935366466" sldId="304"/>
            <ac:picMk id="4" creationId="{2AD8DE1C-109D-4DBA-90E1-6B887A8272C4}"/>
          </ac:picMkLst>
        </pc:picChg>
        <pc:picChg chg="mod">
          <ac:chgData name="Rozhdestvenskiy Dmitry" userId="QlsB8TQ4SwxziyIkir98HzQklI6Ljd5J3lV5OFoV6j4=" providerId="None" clId="Web-{03D834B4-06F2-4B7C-945E-C933ABB66066}" dt="2025-09-29T09:04:36.266" v="44" actId="1076"/>
          <ac:picMkLst>
            <pc:docMk/>
            <pc:sldMk cId="935366466" sldId="304"/>
            <ac:picMk id="5" creationId="{68A33436-AEFD-4D55-9F58-94ADA6D3DFC3}"/>
          </ac:picMkLst>
        </pc:picChg>
      </pc:sldChg>
      <pc:sldChg chg="mod modShow">
        <pc:chgData name="Rozhdestvenskiy Dmitry" userId="QlsB8TQ4SwxziyIkir98HzQklI6Ljd5J3lV5OFoV6j4=" providerId="None" clId="Web-{03D834B4-06F2-4B7C-945E-C933ABB66066}" dt="2025-09-29T09:39:37.359" v="57"/>
        <pc:sldMkLst>
          <pc:docMk/>
          <pc:sldMk cId="3457631708" sldId="305"/>
        </pc:sldMkLst>
      </pc:sldChg>
      <pc:sldChg chg="addSp delSp modSp">
        <pc:chgData name="Rozhdestvenskiy Dmitry" userId="QlsB8TQ4SwxziyIkir98HzQklI6Ljd5J3lV5OFoV6j4=" providerId="None" clId="Web-{03D834B4-06F2-4B7C-945E-C933ABB66066}" dt="2025-09-29T10:18:11.486" v="90" actId="20577"/>
        <pc:sldMkLst>
          <pc:docMk/>
          <pc:sldMk cId="1630309500" sldId="306"/>
        </pc:sldMkLst>
        <pc:spChg chg="mod">
          <ac:chgData name="Rozhdestvenskiy Dmitry" userId="QlsB8TQ4SwxziyIkir98HzQklI6Ljd5J3lV5OFoV6j4=" providerId="None" clId="Web-{03D834B4-06F2-4B7C-945E-C933ABB66066}" dt="2025-09-29T10:18:11.486" v="90" actId="20577"/>
          <ac:spMkLst>
            <pc:docMk/>
            <pc:sldMk cId="1630309500" sldId="306"/>
            <ac:spMk id="3" creationId="{C7B663FB-2C0C-45E2-9139-68F488E94FB4}"/>
          </ac:spMkLst>
        </pc:spChg>
        <pc:spChg chg="mod">
          <ac:chgData name="Rozhdestvenskiy Dmitry" userId="QlsB8TQ4SwxziyIkir98HzQklI6Ljd5J3lV5OFoV6j4=" providerId="None" clId="Web-{03D834B4-06F2-4B7C-945E-C933ABB66066}" dt="2025-09-29T10:17:14.360" v="71" actId="20577"/>
          <ac:spMkLst>
            <pc:docMk/>
            <pc:sldMk cId="1630309500" sldId="306"/>
            <ac:spMk id="9" creationId="{3AA9B6BD-3246-4770-8B95-A4DB30167179}"/>
          </ac:spMkLst>
        </pc:spChg>
        <pc:picChg chg="add mod">
          <ac:chgData name="Rozhdestvenskiy Dmitry" userId="QlsB8TQ4SwxziyIkir98HzQklI6Ljd5J3lV5OFoV6j4=" providerId="None" clId="Web-{03D834B4-06F2-4B7C-945E-C933ABB66066}" dt="2025-09-29T10:16:57.923" v="69" actId="1076"/>
          <ac:picMkLst>
            <pc:docMk/>
            <pc:sldMk cId="1630309500" sldId="306"/>
            <ac:picMk id="4" creationId="{DC34A5A0-8BD2-9467-7C3E-AA5DE8C85BB1}"/>
          </ac:picMkLst>
        </pc:picChg>
      </pc:sldChg>
      <pc:sldChg chg="addSp delSp modSp new">
        <pc:chgData name="Rozhdestvenskiy Dmitry" userId="QlsB8TQ4SwxziyIkir98HzQklI6Ljd5J3lV5OFoV6j4=" providerId="None" clId="Web-{03D834B4-06F2-4B7C-945E-C933ABB66066}" dt="2025-09-29T10:11:27.852" v="66" actId="14100"/>
        <pc:sldMkLst>
          <pc:docMk/>
          <pc:sldMk cId="2623809943" sldId="319"/>
        </pc:sldMkLst>
        <pc:picChg chg="add mod ord">
          <ac:chgData name="Rozhdestvenskiy Dmitry" userId="QlsB8TQ4SwxziyIkir98HzQklI6Ljd5J3lV5OFoV6j4=" providerId="None" clId="Web-{03D834B4-06F2-4B7C-945E-C933ABB66066}" dt="2025-09-29T10:11:27.852" v="66" actId="14100"/>
          <ac:picMkLst>
            <pc:docMk/>
            <pc:sldMk cId="2623809943" sldId="319"/>
            <ac:picMk id="4" creationId="{D63992F8-D92D-0623-6403-DCFFFF53F527}"/>
          </ac:picMkLst>
        </pc:picChg>
      </pc:sldChg>
    </pc:docChg>
  </pc:docChgLst>
  <pc:docChgLst>
    <pc:chgData name="Rozhdestvenskiy Dmitry" userId="QlsB8TQ4SwxziyIkir98HzQklI6Ljd5J3lV5OFoV6j4=" providerId="None" clId="Web-{F368BDE0-213B-4302-B19F-C992C3405764}"/>
    <pc:docChg chg="modSld sldOrd">
      <pc:chgData name="Rozhdestvenskiy Dmitry" userId="QlsB8TQ4SwxziyIkir98HzQklI6Ljd5J3lV5OFoV6j4=" providerId="None" clId="Web-{F368BDE0-213B-4302-B19F-C992C3405764}" dt="2025-10-13T10:20:46.196" v="43" actId="1076"/>
      <pc:docMkLst>
        <pc:docMk/>
      </pc:docMkLst>
      <pc:sldChg chg="modSp">
        <pc:chgData name="Rozhdestvenskiy Dmitry" userId="QlsB8TQ4SwxziyIkir98HzQklI6Ljd5J3lV5OFoV6j4=" providerId="None" clId="Web-{F368BDE0-213B-4302-B19F-C992C3405764}" dt="2025-10-13T09:46:00.270" v="4" actId="20577"/>
        <pc:sldMkLst>
          <pc:docMk/>
          <pc:sldMk cId="2598868650" sldId="259"/>
        </pc:sldMkLst>
        <pc:spChg chg="mod">
          <ac:chgData name="Rozhdestvenskiy Dmitry" userId="QlsB8TQ4SwxziyIkir98HzQklI6Ljd5J3lV5OFoV6j4=" providerId="None" clId="Web-{F368BDE0-213B-4302-B19F-C992C3405764}" dt="2025-10-13T09:46:00.270" v="4" actId="20577"/>
          <ac:spMkLst>
            <pc:docMk/>
            <pc:sldMk cId="2598868650" sldId="259"/>
            <ac:spMk id="3" creationId="{00000000-0000-0000-0000-000000000000}"/>
          </ac:spMkLst>
        </pc:spChg>
      </pc:sldChg>
      <pc:sldChg chg="addSp delSp modSp">
        <pc:chgData name="Rozhdestvenskiy Dmitry" userId="QlsB8TQ4SwxziyIkir98HzQklI6Ljd5J3lV5OFoV6j4=" providerId="None" clId="Web-{F368BDE0-213B-4302-B19F-C992C3405764}" dt="2025-10-13T10:08:20.934" v="42"/>
        <pc:sldMkLst>
          <pc:docMk/>
          <pc:sldMk cId="3921650368" sldId="267"/>
        </pc:sldMkLst>
        <pc:picChg chg="add mod">
          <ac:chgData name="Rozhdestvenskiy Dmitry" userId="QlsB8TQ4SwxziyIkir98HzQklI6Ljd5J3lV5OFoV6j4=" providerId="None" clId="Web-{F368BDE0-213B-4302-B19F-C992C3405764}" dt="2025-10-13T10:08:18.434" v="41" actId="1076"/>
          <ac:picMkLst>
            <pc:docMk/>
            <pc:sldMk cId="3921650368" sldId="267"/>
            <ac:picMk id="4" creationId="{2E7A7914-67ED-E3FF-3552-DE97C0EE17EE}"/>
          </ac:picMkLst>
        </pc:picChg>
      </pc:sldChg>
      <pc:sldChg chg="modSp">
        <pc:chgData name="Rozhdestvenskiy Dmitry" userId="QlsB8TQ4SwxziyIkir98HzQklI6Ljd5J3lV5OFoV6j4=" providerId="None" clId="Web-{F368BDE0-213B-4302-B19F-C992C3405764}" dt="2025-10-13T10:20:46.196" v="43" actId="1076"/>
        <pc:sldMkLst>
          <pc:docMk/>
          <pc:sldMk cId="1540076878" sldId="287"/>
        </pc:sldMkLst>
        <pc:picChg chg="mod">
          <ac:chgData name="Rozhdestvenskiy Dmitry" userId="QlsB8TQ4SwxziyIkir98HzQklI6Ljd5J3lV5OFoV6j4=" providerId="None" clId="Web-{F368BDE0-213B-4302-B19F-C992C3405764}" dt="2025-10-13T10:20:46.196" v="43" actId="1076"/>
          <ac:picMkLst>
            <pc:docMk/>
            <pc:sldMk cId="1540076878" sldId="287"/>
            <ac:picMk id="7" creationId="{00000000-0000-0000-0000-000000000000}"/>
          </ac:picMkLst>
        </pc:picChg>
      </pc:sldChg>
      <pc:sldChg chg="addSp delSp modSp">
        <pc:chgData name="Rozhdestvenskiy Dmitry" userId="QlsB8TQ4SwxziyIkir98HzQklI6Ljd5J3lV5OFoV6j4=" providerId="None" clId="Web-{F368BDE0-213B-4302-B19F-C992C3405764}" dt="2025-10-13T10:00:03.059" v="16" actId="1076"/>
        <pc:sldMkLst>
          <pc:docMk/>
          <pc:sldMk cId="311442954" sldId="301"/>
        </pc:sldMkLst>
        <pc:picChg chg="mod ord">
          <ac:chgData name="Rozhdestvenskiy Dmitry" userId="QlsB8TQ4SwxziyIkir98HzQklI6Ljd5J3lV5OFoV6j4=" providerId="None" clId="Web-{F368BDE0-213B-4302-B19F-C992C3405764}" dt="2025-10-13T09:59:50.418" v="13"/>
          <ac:picMkLst>
            <pc:docMk/>
            <pc:sldMk cId="311442954" sldId="301"/>
            <ac:picMk id="4" creationId="{00000000-0000-0000-0000-000000000000}"/>
          </ac:picMkLst>
        </pc:picChg>
        <pc:picChg chg="add mod ord">
          <ac:chgData name="Rozhdestvenskiy Dmitry" userId="QlsB8TQ4SwxziyIkir98HzQklI6Ljd5J3lV5OFoV6j4=" providerId="None" clId="Web-{F368BDE0-213B-4302-B19F-C992C3405764}" dt="2025-10-13T10:00:03.059" v="16" actId="1076"/>
          <ac:picMkLst>
            <pc:docMk/>
            <pc:sldMk cId="311442954" sldId="301"/>
            <ac:picMk id="5" creationId="{1CB55DA3-1D0E-3C04-5045-78668D0220A7}"/>
          </ac:picMkLst>
        </pc:picChg>
      </pc:sldChg>
      <pc:sldChg chg="ord">
        <pc:chgData name="Rozhdestvenskiy Dmitry" userId="QlsB8TQ4SwxziyIkir98HzQklI6Ljd5J3lV5OFoV6j4=" providerId="None" clId="Web-{F368BDE0-213B-4302-B19F-C992C3405764}" dt="2025-10-13T09:35:23.840" v="0"/>
        <pc:sldMkLst>
          <pc:docMk/>
          <pc:sldMk cId="3100053670" sldId="308"/>
        </pc:sldMkLst>
      </pc:sldChg>
      <pc:sldChg chg="modSp ord">
        <pc:chgData name="Rozhdestvenskiy Dmitry" userId="QlsB8TQ4SwxziyIkir98HzQklI6Ljd5J3lV5OFoV6j4=" providerId="None" clId="Web-{F368BDE0-213B-4302-B19F-C992C3405764}" dt="2025-10-13T09:36:24.826" v="3" actId="20577"/>
        <pc:sldMkLst>
          <pc:docMk/>
          <pc:sldMk cId="644342868" sldId="309"/>
        </pc:sldMkLst>
        <pc:spChg chg="mod">
          <ac:chgData name="Rozhdestvenskiy Dmitry" userId="QlsB8TQ4SwxziyIkir98HzQklI6Ljd5J3lV5OFoV6j4=" providerId="None" clId="Web-{F368BDE0-213B-4302-B19F-C992C3405764}" dt="2025-10-13T09:36:24.826" v="3" actId="20577"/>
          <ac:spMkLst>
            <pc:docMk/>
            <pc:sldMk cId="644342868" sldId="309"/>
            <ac:spMk id="3" creationId="{5436C695-5050-4B9E-B9C4-E14060986EB3}"/>
          </ac:spMkLst>
        </pc:spChg>
      </pc:sldChg>
      <pc:sldChg chg="addSp delSp modSp">
        <pc:chgData name="Rozhdestvenskiy Dmitry" userId="QlsB8TQ4SwxziyIkir98HzQklI6Ljd5J3lV5OFoV6j4=" providerId="None" clId="Web-{F368BDE0-213B-4302-B19F-C992C3405764}" dt="2025-10-13T10:00:18.590" v="18" actId="1076"/>
        <pc:sldMkLst>
          <pc:docMk/>
          <pc:sldMk cId="646785078" sldId="318"/>
        </pc:sldMkLst>
        <pc:spChg chg="add del">
          <ac:chgData name="Rozhdestvenskiy Dmitry" userId="QlsB8TQ4SwxziyIkir98HzQklI6Ljd5J3lV5OFoV6j4=" providerId="None" clId="Web-{F368BDE0-213B-4302-B19F-C992C3405764}" dt="2025-10-13T09:58:30.980" v="10"/>
          <ac:spMkLst>
            <pc:docMk/>
            <pc:sldMk cId="646785078" sldId="318"/>
            <ac:spMk id="3" creationId="{00000000-0000-0000-0000-000000000000}"/>
          </ac:spMkLst>
        </pc:spChg>
        <pc:picChg chg="mod">
          <ac:chgData name="Rozhdestvenskiy Dmitry" userId="QlsB8TQ4SwxziyIkir98HzQklI6Ljd5J3lV5OFoV6j4=" providerId="None" clId="Web-{F368BDE0-213B-4302-B19F-C992C3405764}" dt="2025-10-13T09:58:28.073" v="9" actId="1076"/>
          <ac:picMkLst>
            <pc:docMk/>
            <pc:sldMk cId="646785078" sldId="318"/>
            <ac:picMk id="4" creationId="{00000000-0000-0000-0000-000000000000}"/>
          </ac:picMkLst>
        </pc:picChg>
        <pc:picChg chg="add mod">
          <ac:chgData name="Rozhdestvenskiy Dmitry" userId="QlsB8TQ4SwxziyIkir98HzQklI6Ljd5J3lV5OFoV6j4=" providerId="None" clId="Web-{F368BDE0-213B-4302-B19F-C992C3405764}" dt="2025-10-13T10:00:18.590" v="18" actId="1076"/>
          <ac:picMkLst>
            <pc:docMk/>
            <pc:sldMk cId="646785078" sldId="318"/>
            <ac:picMk id="7" creationId="{BF0D498D-A4BD-2D78-8C3B-400013A8CAFC}"/>
          </ac:picMkLst>
        </pc:picChg>
      </pc:sldChg>
    </pc:docChg>
  </pc:docChgLst>
  <pc:docChgLst>
    <pc:chgData name="Rozhdestvenskiy Dmitry" userId="QlsB8TQ4SwxziyIkir98HzQklI6Ljd5J3lV5OFoV6j4=" providerId="None" clId="Web-{3F3CEDEC-175A-4EA6-9723-A4668DF9A0E7}"/>
    <pc:docChg chg="modSld">
      <pc:chgData name="Rozhdestvenskiy Dmitry" userId="QlsB8TQ4SwxziyIkir98HzQklI6Ljd5J3lV5OFoV6j4=" providerId="None" clId="Web-{3F3CEDEC-175A-4EA6-9723-A4668DF9A0E7}" dt="2025-10-13T12:33:02.505" v="5" actId="1076"/>
      <pc:docMkLst>
        <pc:docMk/>
      </pc:docMkLst>
      <pc:sldChg chg="modSp">
        <pc:chgData name="Rozhdestvenskiy Dmitry" userId="QlsB8TQ4SwxziyIkir98HzQklI6Ljd5J3lV5OFoV6j4=" providerId="None" clId="Web-{3F3CEDEC-175A-4EA6-9723-A4668DF9A0E7}" dt="2025-10-13T12:26:52.046" v="4" actId="1076"/>
        <pc:sldMkLst>
          <pc:docMk/>
          <pc:sldMk cId="3921650368" sldId="267"/>
        </pc:sldMkLst>
        <pc:picChg chg="mod">
          <ac:chgData name="Rozhdestvenskiy Dmitry" userId="QlsB8TQ4SwxziyIkir98HzQklI6Ljd5J3lV5OFoV6j4=" providerId="None" clId="Web-{3F3CEDEC-175A-4EA6-9723-A4668DF9A0E7}" dt="2025-10-13T12:26:52.046" v="4" actId="1076"/>
          <ac:picMkLst>
            <pc:docMk/>
            <pc:sldMk cId="3921650368" sldId="267"/>
            <ac:picMk id="4" creationId="{2E7A7914-67ED-E3FF-3552-DE97C0EE17EE}"/>
          </ac:picMkLst>
        </pc:picChg>
      </pc:sldChg>
      <pc:sldChg chg="modSp">
        <pc:chgData name="Rozhdestvenskiy Dmitry" userId="QlsB8TQ4SwxziyIkir98HzQklI6Ljd5J3lV5OFoV6j4=" providerId="None" clId="Web-{3F3CEDEC-175A-4EA6-9723-A4668DF9A0E7}" dt="2025-10-13T12:33:02.505" v="5" actId="1076"/>
        <pc:sldMkLst>
          <pc:docMk/>
          <pc:sldMk cId="2251985801" sldId="312"/>
        </pc:sldMkLst>
        <pc:picChg chg="mod">
          <ac:chgData name="Rozhdestvenskiy Dmitry" userId="QlsB8TQ4SwxziyIkir98HzQklI6Ljd5J3lV5OFoV6j4=" providerId="None" clId="Web-{3F3CEDEC-175A-4EA6-9723-A4668DF9A0E7}" dt="2025-10-13T12:33:02.505" v="5" actId="1076"/>
          <ac:picMkLst>
            <pc:docMk/>
            <pc:sldMk cId="2251985801" sldId="312"/>
            <ac:picMk id="5" creationId="{9D35C6AF-1E34-4A01-B694-225D4D679242}"/>
          </ac:picMkLst>
        </pc:picChg>
      </pc:sldChg>
    </pc:docChg>
  </pc:docChgLst>
  <pc:docChgLst>
    <pc:chgData name="Rozhdestvenskiy Dmitry" userId="QlsB8TQ4SwxziyIkir98HzQklI6Ljd5J3lV5OFoV6j4=" providerId="None" clId="Web-{B9B60048-161C-470C-A417-26A186321C7F}"/>
    <pc:docChg chg="modSld">
      <pc:chgData name="Rozhdestvenskiy Dmitry" userId="QlsB8TQ4SwxziyIkir98HzQklI6Ljd5J3lV5OFoV6j4=" providerId="None" clId="Web-{B9B60048-161C-470C-A417-26A186321C7F}" dt="2025-10-20T11:34:42.484" v="9" actId="14100"/>
      <pc:docMkLst>
        <pc:docMk/>
      </pc:docMkLst>
      <pc:sldChg chg="addSp delSp modSp">
        <pc:chgData name="Rozhdestvenskiy Dmitry" userId="QlsB8TQ4SwxziyIkir98HzQklI6Ljd5J3lV5OFoV6j4=" providerId="None" clId="Web-{B9B60048-161C-470C-A417-26A186321C7F}" dt="2025-10-20T10:31:41.453" v="3"/>
        <pc:sldMkLst>
          <pc:docMk/>
          <pc:sldMk cId="307784992" sldId="286"/>
        </pc:sldMkLst>
        <pc:picChg chg="add del mod">
          <ac:chgData name="Rozhdestvenskiy Dmitry" userId="QlsB8TQ4SwxziyIkir98HzQklI6Ljd5J3lV5OFoV6j4=" providerId="None" clId="Web-{B9B60048-161C-470C-A417-26A186321C7F}" dt="2025-10-20T10:31:41.453" v="3"/>
          <ac:picMkLst>
            <pc:docMk/>
            <pc:sldMk cId="307784992" sldId="286"/>
            <ac:picMk id="4" creationId="{9EC95C8A-DEE4-FB22-7BC8-270CB1A44178}"/>
          </ac:picMkLst>
        </pc:picChg>
      </pc:sldChg>
      <pc:sldChg chg="addSp modSp">
        <pc:chgData name="Rozhdestvenskiy Dmitry" userId="QlsB8TQ4SwxziyIkir98HzQklI6Ljd5J3lV5OFoV6j4=" providerId="None" clId="Web-{B9B60048-161C-470C-A417-26A186321C7F}" dt="2025-10-20T11:34:42.484" v="9" actId="14100"/>
        <pc:sldMkLst>
          <pc:docMk/>
          <pc:sldMk cId="79424495" sldId="288"/>
        </pc:sldMkLst>
        <pc:picChg chg="add mod">
          <ac:chgData name="Rozhdestvenskiy Dmitry" userId="QlsB8TQ4SwxziyIkir98HzQklI6Ljd5J3lV5OFoV6j4=" providerId="None" clId="Web-{B9B60048-161C-470C-A417-26A186321C7F}" dt="2025-10-20T11:34:42.484" v="9" actId="14100"/>
          <ac:picMkLst>
            <pc:docMk/>
            <pc:sldMk cId="79424495" sldId="288"/>
            <ac:picMk id="6" creationId="{B24066F5-6478-FAD6-716F-5CA0C4C26234}"/>
          </ac:picMkLst>
        </pc:picChg>
      </pc:sldChg>
      <pc:sldChg chg="modSp">
        <pc:chgData name="Rozhdestvenskiy Dmitry" userId="QlsB8TQ4SwxziyIkir98HzQklI6Ljd5J3lV5OFoV6j4=" providerId="None" clId="Web-{B9B60048-161C-470C-A417-26A186321C7F}" dt="2025-10-20T10:27:24.653" v="0" actId="1076"/>
        <pc:sldMkLst>
          <pc:docMk/>
          <pc:sldMk cId="2251985801" sldId="312"/>
        </pc:sldMkLst>
        <pc:picChg chg="mod">
          <ac:chgData name="Rozhdestvenskiy Dmitry" userId="QlsB8TQ4SwxziyIkir98HzQklI6Ljd5J3lV5OFoV6j4=" providerId="None" clId="Web-{B9B60048-161C-470C-A417-26A186321C7F}" dt="2025-10-20T10:27:24.653" v="0" actId="1076"/>
          <ac:picMkLst>
            <pc:docMk/>
            <pc:sldMk cId="2251985801" sldId="312"/>
            <ac:picMk id="5" creationId="{9D35C6AF-1E34-4A01-B694-225D4D67924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918A00-D0F4-48EF-80AE-A54896316F9E}" type="doc">
      <dgm:prSet loTypeId="urn:microsoft.com/office/officeart/2016/7/layout/VerticalDownArrowProcess" loCatId="process" qsTypeId="urn:microsoft.com/office/officeart/2005/8/quickstyle/simple4" qsCatId="simple" csTypeId="urn:microsoft.com/office/officeart/2005/8/colors/colorful5" csCatId="colorful"/>
      <dgm:spPr/>
      <dgm:t>
        <a:bodyPr/>
        <a:lstStyle/>
        <a:p>
          <a:endParaRPr lang="en-US"/>
        </a:p>
      </dgm:t>
    </dgm:pt>
    <dgm:pt modelId="{102A4C6D-B804-4336-B90E-854A025204DA}">
      <dgm:prSet/>
      <dgm:spPr/>
      <dgm:t>
        <a:bodyPr/>
        <a:lstStyle/>
        <a:p>
          <a:r>
            <a:rPr lang="en-US"/>
            <a:t>Set</a:t>
          </a:r>
        </a:p>
      </dgm:t>
    </dgm:pt>
    <dgm:pt modelId="{C59083C2-EAF1-4849-997F-B0FBC5025749}" type="parTrans" cxnId="{3CCA5467-FA40-46D3-BC19-8EC1F000253C}">
      <dgm:prSet/>
      <dgm:spPr/>
      <dgm:t>
        <a:bodyPr/>
        <a:lstStyle/>
        <a:p>
          <a:endParaRPr lang="en-US"/>
        </a:p>
      </dgm:t>
    </dgm:pt>
    <dgm:pt modelId="{0759FB36-12A4-4CB5-886B-825A491485D6}" type="sibTrans" cxnId="{3CCA5467-FA40-46D3-BC19-8EC1F000253C}">
      <dgm:prSet/>
      <dgm:spPr/>
      <dgm:t>
        <a:bodyPr/>
        <a:lstStyle/>
        <a:p>
          <a:endParaRPr lang="en-US"/>
        </a:p>
      </dgm:t>
    </dgm:pt>
    <dgm:pt modelId="{A382C538-AE0A-47A6-8076-C9F4C2AAF20C}">
      <dgm:prSet/>
      <dgm:spPr/>
      <dgm:t>
        <a:bodyPr/>
        <a:lstStyle/>
        <a:p>
          <a:r>
            <a:rPr lang="en-US"/>
            <a:t>Set all gains to zero.</a:t>
          </a:r>
        </a:p>
      </dgm:t>
    </dgm:pt>
    <dgm:pt modelId="{5AEF32BC-68B5-45A7-A766-45D11CF07B28}" type="parTrans" cxnId="{3F76E967-F640-4005-A2DA-90856B7475A1}">
      <dgm:prSet/>
      <dgm:spPr/>
      <dgm:t>
        <a:bodyPr/>
        <a:lstStyle/>
        <a:p>
          <a:endParaRPr lang="en-US"/>
        </a:p>
      </dgm:t>
    </dgm:pt>
    <dgm:pt modelId="{32FAB1F9-EFBA-4CC7-9235-31F512B85669}" type="sibTrans" cxnId="{3F76E967-F640-4005-A2DA-90856B7475A1}">
      <dgm:prSet/>
      <dgm:spPr/>
      <dgm:t>
        <a:bodyPr/>
        <a:lstStyle/>
        <a:p>
          <a:endParaRPr lang="en-US"/>
        </a:p>
      </dgm:t>
    </dgm:pt>
    <dgm:pt modelId="{B93DCCBA-3FB7-4441-AA94-F0A9F42BBAE9}">
      <dgm:prSet/>
      <dgm:spPr/>
      <dgm:t>
        <a:bodyPr/>
        <a:lstStyle/>
        <a:p>
          <a:r>
            <a:rPr lang="en-US"/>
            <a:t>Increase</a:t>
          </a:r>
        </a:p>
      </dgm:t>
    </dgm:pt>
    <dgm:pt modelId="{CF14950D-29CB-4909-8884-99B8FD70548E}" type="parTrans" cxnId="{CC54C45A-1EB3-4632-8D86-850E9724C4BD}">
      <dgm:prSet/>
      <dgm:spPr/>
      <dgm:t>
        <a:bodyPr/>
        <a:lstStyle/>
        <a:p>
          <a:endParaRPr lang="en-US"/>
        </a:p>
      </dgm:t>
    </dgm:pt>
    <dgm:pt modelId="{164F5369-0D1C-4C24-AF85-4F1111C8E021}" type="sibTrans" cxnId="{CC54C45A-1EB3-4632-8D86-850E9724C4BD}">
      <dgm:prSet/>
      <dgm:spPr/>
      <dgm:t>
        <a:bodyPr/>
        <a:lstStyle/>
        <a:p>
          <a:endParaRPr lang="en-US"/>
        </a:p>
      </dgm:t>
    </dgm:pt>
    <dgm:pt modelId="{165679B9-9971-4F1E-BCF3-E7E6342B1BD4}">
      <dgm:prSet/>
      <dgm:spPr/>
      <dgm:t>
        <a:bodyPr/>
        <a:lstStyle/>
        <a:p>
          <a:r>
            <a:rPr lang="en-US"/>
            <a:t>Increase the P gain until the response to a disturbance is steady oscillation.</a:t>
          </a:r>
        </a:p>
      </dgm:t>
    </dgm:pt>
    <dgm:pt modelId="{7B9F59AE-A3AE-4EAB-8DB1-19D104A17EF6}" type="parTrans" cxnId="{8B23D407-3125-4A92-9E80-4EBE7050669C}">
      <dgm:prSet/>
      <dgm:spPr/>
      <dgm:t>
        <a:bodyPr/>
        <a:lstStyle/>
        <a:p>
          <a:endParaRPr lang="en-US"/>
        </a:p>
      </dgm:t>
    </dgm:pt>
    <dgm:pt modelId="{E0F4649E-A970-4299-A19B-F1192932AED3}" type="sibTrans" cxnId="{8B23D407-3125-4A92-9E80-4EBE7050669C}">
      <dgm:prSet/>
      <dgm:spPr/>
      <dgm:t>
        <a:bodyPr/>
        <a:lstStyle/>
        <a:p>
          <a:endParaRPr lang="en-US"/>
        </a:p>
      </dgm:t>
    </dgm:pt>
    <dgm:pt modelId="{74DC95E7-1748-40A9-8DFF-3ABE3E84738E}">
      <dgm:prSet/>
      <dgm:spPr/>
      <dgm:t>
        <a:bodyPr/>
        <a:lstStyle/>
        <a:p>
          <a:r>
            <a:rPr lang="en-US"/>
            <a:t>Increase</a:t>
          </a:r>
        </a:p>
      </dgm:t>
    </dgm:pt>
    <dgm:pt modelId="{505749CB-475F-4FB7-9010-4BACDD84ACF8}" type="parTrans" cxnId="{68DFE57C-760D-446D-AD42-F7C3E5BB5A89}">
      <dgm:prSet/>
      <dgm:spPr/>
      <dgm:t>
        <a:bodyPr/>
        <a:lstStyle/>
        <a:p>
          <a:endParaRPr lang="en-US"/>
        </a:p>
      </dgm:t>
    </dgm:pt>
    <dgm:pt modelId="{D26068D7-A55E-433F-B915-BD3E9C38DC76}" type="sibTrans" cxnId="{68DFE57C-760D-446D-AD42-F7C3E5BB5A89}">
      <dgm:prSet/>
      <dgm:spPr/>
      <dgm:t>
        <a:bodyPr/>
        <a:lstStyle/>
        <a:p>
          <a:endParaRPr lang="en-US"/>
        </a:p>
      </dgm:t>
    </dgm:pt>
    <dgm:pt modelId="{51C341C8-2E18-4905-B78E-DA4F3C589139}">
      <dgm:prSet/>
      <dgm:spPr/>
      <dgm:t>
        <a:bodyPr/>
        <a:lstStyle/>
        <a:p>
          <a:r>
            <a:rPr lang="en-US"/>
            <a:t>Increase the D gain until the the oscillations go away (i.e. it's critically damped).</a:t>
          </a:r>
        </a:p>
      </dgm:t>
    </dgm:pt>
    <dgm:pt modelId="{BF19DDA9-B161-4620-BCDA-2E794FE3C8A2}" type="parTrans" cxnId="{8C46E26F-0C9D-42EB-BA23-0155432E933E}">
      <dgm:prSet/>
      <dgm:spPr/>
      <dgm:t>
        <a:bodyPr/>
        <a:lstStyle/>
        <a:p>
          <a:endParaRPr lang="en-US"/>
        </a:p>
      </dgm:t>
    </dgm:pt>
    <dgm:pt modelId="{6C50E5B2-9EA7-4E9C-88E8-CFEAC237EB81}" type="sibTrans" cxnId="{8C46E26F-0C9D-42EB-BA23-0155432E933E}">
      <dgm:prSet/>
      <dgm:spPr/>
      <dgm:t>
        <a:bodyPr/>
        <a:lstStyle/>
        <a:p>
          <a:endParaRPr lang="en-US"/>
        </a:p>
      </dgm:t>
    </dgm:pt>
    <dgm:pt modelId="{971BE505-D6D2-4B90-BCED-D50D1818D731}">
      <dgm:prSet/>
      <dgm:spPr/>
      <dgm:t>
        <a:bodyPr/>
        <a:lstStyle/>
        <a:p>
          <a:r>
            <a:rPr lang="en-US"/>
            <a:t>Repeat</a:t>
          </a:r>
        </a:p>
      </dgm:t>
    </dgm:pt>
    <dgm:pt modelId="{22EB75B0-043E-4E8B-9EF8-24EFA46D71A4}" type="parTrans" cxnId="{E6DC1C75-7220-4316-B663-70A649BA2497}">
      <dgm:prSet/>
      <dgm:spPr/>
      <dgm:t>
        <a:bodyPr/>
        <a:lstStyle/>
        <a:p>
          <a:endParaRPr lang="en-US"/>
        </a:p>
      </dgm:t>
    </dgm:pt>
    <dgm:pt modelId="{DAE5BF9F-AA9D-4A3D-864A-9878E57FCC2A}" type="sibTrans" cxnId="{E6DC1C75-7220-4316-B663-70A649BA2497}">
      <dgm:prSet/>
      <dgm:spPr/>
      <dgm:t>
        <a:bodyPr/>
        <a:lstStyle/>
        <a:p>
          <a:endParaRPr lang="en-US"/>
        </a:p>
      </dgm:t>
    </dgm:pt>
    <dgm:pt modelId="{7ABB1CDE-E5D3-44DE-920E-C8CD97DC4330}">
      <dgm:prSet/>
      <dgm:spPr/>
      <dgm:t>
        <a:bodyPr/>
        <a:lstStyle/>
        <a:p>
          <a:r>
            <a:rPr lang="en-US"/>
            <a:t>Repeat steps 2 and 3 until increasing the D gain does not stop the oscillations.</a:t>
          </a:r>
        </a:p>
      </dgm:t>
    </dgm:pt>
    <dgm:pt modelId="{6848B6A8-6AB4-4CD2-8960-77503FAE8EC5}" type="parTrans" cxnId="{7FF20941-A9BA-4ACE-B664-8286C921886B}">
      <dgm:prSet/>
      <dgm:spPr/>
      <dgm:t>
        <a:bodyPr/>
        <a:lstStyle/>
        <a:p>
          <a:endParaRPr lang="en-US"/>
        </a:p>
      </dgm:t>
    </dgm:pt>
    <dgm:pt modelId="{B8050307-5FC6-4695-B26A-A10EAA051B6B}" type="sibTrans" cxnId="{7FF20941-A9BA-4ACE-B664-8286C921886B}">
      <dgm:prSet/>
      <dgm:spPr/>
      <dgm:t>
        <a:bodyPr/>
        <a:lstStyle/>
        <a:p>
          <a:endParaRPr lang="en-US"/>
        </a:p>
      </dgm:t>
    </dgm:pt>
    <dgm:pt modelId="{C06403BF-3968-4F62-8D46-E662A336F81C}">
      <dgm:prSet/>
      <dgm:spPr/>
      <dgm:t>
        <a:bodyPr/>
        <a:lstStyle/>
        <a:p>
          <a:r>
            <a:rPr lang="en-US"/>
            <a:t>Set</a:t>
          </a:r>
        </a:p>
      </dgm:t>
    </dgm:pt>
    <dgm:pt modelId="{FF00BE9D-5A3B-460A-8B0D-BB6ADAEAA57B}" type="parTrans" cxnId="{7DEE5C8B-E8C4-4CA6-B4A8-2EF4AE3DDCE0}">
      <dgm:prSet/>
      <dgm:spPr/>
      <dgm:t>
        <a:bodyPr/>
        <a:lstStyle/>
        <a:p>
          <a:endParaRPr lang="en-US"/>
        </a:p>
      </dgm:t>
    </dgm:pt>
    <dgm:pt modelId="{553E0208-8811-48CD-AA86-E2451F7ED5B0}" type="sibTrans" cxnId="{7DEE5C8B-E8C4-4CA6-B4A8-2EF4AE3DDCE0}">
      <dgm:prSet/>
      <dgm:spPr/>
      <dgm:t>
        <a:bodyPr/>
        <a:lstStyle/>
        <a:p>
          <a:endParaRPr lang="en-US"/>
        </a:p>
      </dgm:t>
    </dgm:pt>
    <dgm:pt modelId="{D08DF3E6-4B3E-4607-8070-5063D20A0565}">
      <dgm:prSet/>
      <dgm:spPr/>
      <dgm:t>
        <a:bodyPr/>
        <a:lstStyle/>
        <a:p>
          <a:r>
            <a:rPr lang="en-US"/>
            <a:t>Set P and D to the last stable values.</a:t>
          </a:r>
        </a:p>
      </dgm:t>
    </dgm:pt>
    <dgm:pt modelId="{7469724F-2AF1-4C8D-998B-C27926B86A73}" type="parTrans" cxnId="{710FCF68-1FF9-41E1-8740-9FED53BB29ED}">
      <dgm:prSet/>
      <dgm:spPr/>
      <dgm:t>
        <a:bodyPr/>
        <a:lstStyle/>
        <a:p>
          <a:endParaRPr lang="en-US"/>
        </a:p>
      </dgm:t>
    </dgm:pt>
    <dgm:pt modelId="{FA338501-6D34-4A01-AC8C-8BA864DEC63D}" type="sibTrans" cxnId="{710FCF68-1FF9-41E1-8740-9FED53BB29ED}">
      <dgm:prSet/>
      <dgm:spPr/>
      <dgm:t>
        <a:bodyPr/>
        <a:lstStyle/>
        <a:p>
          <a:endParaRPr lang="en-US"/>
        </a:p>
      </dgm:t>
    </dgm:pt>
    <dgm:pt modelId="{D183E0E5-8F61-4590-B609-C9828160102F}">
      <dgm:prSet/>
      <dgm:spPr/>
      <dgm:t>
        <a:bodyPr/>
        <a:lstStyle/>
        <a:p>
          <a:r>
            <a:rPr lang="en-US"/>
            <a:t>Increase</a:t>
          </a:r>
        </a:p>
      </dgm:t>
    </dgm:pt>
    <dgm:pt modelId="{4ABA5A1C-6AA2-4E71-93A1-EC577097E9A0}" type="parTrans" cxnId="{778C08AC-7A6B-475B-996B-A8DD72E09891}">
      <dgm:prSet/>
      <dgm:spPr/>
      <dgm:t>
        <a:bodyPr/>
        <a:lstStyle/>
        <a:p>
          <a:endParaRPr lang="en-US"/>
        </a:p>
      </dgm:t>
    </dgm:pt>
    <dgm:pt modelId="{FDB2286C-57F3-4EA9-8099-DAC938A59FF1}" type="sibTrans" cxnId="{778C08AC-7A6B-475B-996B-A8DD72E09891}">
      <dgm:prSet/>
      <dgm:spPr/>
      <dgm:t>
        <a:bodyPr/>
        <a:lstStyle/>
        <a:p>
          <a:endParaRPr lang="en-US"/>
        </a:p>
      </dgm:t>
    </dgm:pt>
    <dgm:pt modelId="{22F52BE3-8219-4950-8303-4089286A3465}">
      <dgm:prSet/>
      <dgm:spPr/>
      <dgm:t>
        <a:bodyPr/>
        <a:lstStyle/>
        <a:p>
          <a:r>
            <a:rPr lang="en-US"/>
            <a:t>Increase the I gain until it brings you to the set point with the number of oscillations desired</a:t>
          </a:r>
        </a:p>
      </dgm:t>
    </dgm:pt>
    <dgm:pt modelId="{5C8CDA5D-7994-495B-9565-0019C79490DA}" type="parTrans" cxnId="{6A1620F1-5059-476B-8C96-E46A63205301}">
      <dgm:prSet/>
      <dgm:spPr/>
      <dgm:t>
        <a:bodyPr/>
        <a:lstStyle/>
        <a:p>
          <a:endParaRPr lang="en-US"/>
        </a:p>
      </dgm:t>
    </dgm:pt>
    <dgm:pt modelId="{B5DC9695-8F72-4FF8-AD26-AB6CECF04D26}" type="sibTrans" cxnId="{6A1620F1-5059-476B-8C96-E46A63205301}">
      <dgm:prSet/>
      <dgm:spPr/>
      <dgm:t>
        <a:bodyPr/>
        <a:lstStyle/>
        <a:p>
          <a:endParaRPr lang="en-US"/>
        </a:p>
      </dgm:t>
    </dgm:pt>
    <dgm:pt modelId="{3B74BF47-795A-4E70-B656-0A59B8402E6F}" type="pres">
      <dgm:prSet presAssocID="{34918A00-D0F4-48EF-80AE-A54896316F9E}" presName="Name0" presStyleCnt="0">
        <dgm:presLayoutVars>
          <dgm:dir/>
          <dgm:animLvl val="lvl"/>
          <dgm:resizeHandles val="exact"/>
        </dgm:presLayoutVars>
      </dgm:prSet>
      <dgm:spPr/>
    </dgm:pt>
    <dgm:pt modelId="{58811A73-94D9-4CAF-8ABB-7C7E23EFCD44}" type="pres">
      <dgm:prSet presAssocID="{D183E0E5-8F61-4590-B609-C9828160102F}" presName="boxAndChildren" presStyleCnt="0"/>
      <dgm:spPr/>
    </dgm:pt>
    <dgm:pt modelId="{63EB21D9-EF88-41EC-8106-67AFACC15B7D}" type="pres">
      <dgm:prSet presAssocID="{D183E0E5-8F61-4590-B609-C9828160102F}" presName="parentTextBox" presStyleLbl="alignNode1" presStyleIdx="0" presStyleCnt="6"/>
      <dgm:spPr/>
    </dgm:pt>
    <dgm:pt modelId="{3B4D8E04-A28C-4EF1-9254-84EC03E13556}" type="pres">
      <dgm:prSet presAssocID="{D183E0E5-8F61-4590-B609-C9828160102F}" presName="descendantBox" presStyleLbl="bgAccFollowNode1" presStyleIdx="0" presStyleCnt="6"/>
      <dgm:spPr/>
    </dgm:pt>
    <dgm:pt modelId="{7AC0A2DF-7E58-43A5-9FE1-4BAA30F59E02}" type="pres">
      <dgm:prSet presAssocID="{553E0208-8811-48CD-AA86-E2451F7ED5B0}" presName="sp" presStyleCnt="0"/>
      <dgm:spPr/>
    </dgm:pt>
    <dgm:pt modelId="{08902497-98F8-4CE0-87F1-DDB1D6101397}" type="pres">
      <dgm:prSet presAssocID="{C06403BF-3968-4F62-8D46-E662A336F81C}" presName="arrowAndChildren" presStyleCnt="0"/>
      <dgm:spPr/>
    </dgm:pt>
    <dgm:pt modelId="{139D2213-0F9F-489C-992D-1E203C050FBF}" type="pres">
      <dgm:prSet presAssocID="{C06403BF-3968-4F62-8D46-E662A336F81C}" presName="parentTextArrow" presStyleLbl="node1" presStyleIdx="0" presStyleCnt="0"/>
      <dgm:spPr/>
    </dgm:pt>
    <dgm:pt modelId="{EFE5A0AF-1AE0-46F8-B36E-3A128201798D}" type="pres">
      <dgm:prSet presAssocID="{C06403BF-3968-4F62-8D46-E662A336F81C}" presName="arrow" presStyleLbl="alignNode1" presStyleIdx="1" presStyleCnt="6"/>
      <dgm:spPr/>
    </dgm:pt>
    <dgm:pt modelId="{D9072C15-E184-483F-B0F4-61597F66DBB5}" type="pres">
      <dgm:prSet presAssocID="{C06403BF-3968-4F62-8D46-E662A336F81C}" presName="descendantArrow" presStyleLbl="bgAccFollowNode1" presStyleIdx="1" presStyleCnt="6"/>
      <dgm:spPr/>
    </dgm:pt>
    <dgm:pt modelId="{8465C8AE-1F4B-4265-B470-4629EB5CB106}" type="pres">
      <dgm:prSet presAssocID="{DAE5BF9F-AA9D-4A3D-864A-9878E57FCC2A}" presName="sp" presStyleCnt="0"/>
      <dgm:spPr/>
    </dgm:pt>
    <dgm:pt modelId="{9DCCDA44-81D6-48FE-BA38-CC8C43B40E8D}" type="pres">
      <dgm:prSet presAssocID="{971BE505-D6D2-4B90-BCED-D50D1818D731}" presName="arrowAndChildren" presStyleCnt="0"/>
      <dgm:spPr/>
    </dgm:pt>
    <dgm:pt modelId="{82511369-52AE-43F4-A945-669AC68EE20C}" type="pres">
      <dgm:prSet presAssocID="{971BE505-D6D2-4B90-BCED-D50D1818D731}" presName="parentTextArrow" presStyleLbl="node1" presStyleIdx="0" presStyleCnt="0"/>
      <dgm:spPr/>
    </dgm:pt>
    <dgm:pt modelId="{1A237DF6-F968-4B4E-A650-915E5AB9929D}" type="pres">
      <dgm:prSet presAssocID="{971BE505-D6D2-4B90-BCED-D50D1818D731}" presName="arrow" presStyleLbl="alignNode1" presStyleIdx="2" presStyleCnt="6"/>
      <dgm:spPr/>
    </dgm:pt>
    <dgm:pt modelId="{24973218-1CDC-4D3E-A8A6-179F3B0F8216}" type="pres">
      <dgm:prSet presAssocID="{971BE505-D6D2-4B90-BCED-D50D1818D731}" presName="descendantArrow" presStyleLbl="bgAccFollowNode1" presStyleIdx="2" presStyleCnt="6"/>
      <dgm:spPr/>
    </dgm:pt>
    <dgm:pt modelId="{645C1830-889D-4FCB-8A43-DE0D74C67A66}" type="pres">
      <dgm:prSet presAssocID="{D26068D7-A55E-433F-B915-BD3E9C38DC76}" presName="sp" presStyleCnt="0"/>
      <dgm:spPr/>
    </dgm:pt>
    <dgm:pt modelId="{820E06FD-724A-43CB-B2AF-BDB1544BA51D}" type="pres">
      <dgm:prSet presAssocID="{74DC95E7-1748-40A9-8DFF-3ABE3E84738E}" presName="arrowAndChildren" presStyleCnt="0"/>
      <dgm:spPr/>
    </dgm:pt>
    <dgm:pt modelId="{2A4AA441-8D64-4972-AA4B-52DA0F3D0F4C}" type="pres">
      <dgm:prSet presAssocID="{74DC95E7-1748-40A9-8DFF-3ABE3E84738E}" presName="parentTextArrow" presStyleLbl="node1" presStyleIdx="0" presStyleCnt="0"/>
      <dgm:spPr/>
    </dgm:pt>
    <dgm:pt modelId="{1124DE2E-1D39-4549-996A-B6F4641523EF}" type="pres">
      <dgm:prSet presAssocID="{74DC95E7-1748-40A9-8DFF-3ABE3E84738E}" presName="arrow" presStyleLbl="alignNode1" presStyleIdx="3" presStyleCnt="6"/>
      <dgm:spPr/>
    </dgm:pt>
    <dgm:pt modelId="{887802DE-4951-422D-9994-11FC5C513B4E}" type="pres">
      <dgm:prSet presAssocID="{74DC95E7-1748-40A9-8DFF-3ABE3E84738E}" presName="descendantArrow" presStyleLbl="bgAccFollowNode1" presStyleIdx="3" presStyleCnt="6"/>
      <dgm:spPr/>
    </dgm:pt>
    <dgm:pt modelId="{5C41AC80-9DFE-4E1E-A008-FC4B59E294D6}" type="pres">
      <dgm:prSet presAssocID="{164F5369-0D1C-4C24-AF85-4F1111C8E021}" presName="sp" presStyleCnt="0"/>
      <dgm:spPr/>
    </dgm:pt>
    <dgm:pt modelId="{C4CE065A-36F0-4A20-9A24-63F86C9B597E}" type="pres">
      <dgm:prSet presAssocID="{B93DCCBA-3FB7-4441-AA94-F0A9F42BBAE9}" presName="arrowAndChildren" presStyleCnt="0"/>
      <dgm:spPr/>
    </dgm:pt>
    <dgm:pt modelId="{C17DB361-75F0-4139-AB63-D7CB9D2583A8}" type="pres">
      <dgm:prSet presAssocID="{B93DCCBA-3FB7-4441-AA94-F0A9F42BBAE9}" presName="parentTextArrow" presStyleLbl="node1" presStyleIdx="0" presStyleCnt="0"/>
      <dgm:spPr/>
    </dgm:pt>
    <dgm:pt modelId="{D87D0637-D1ED-437C-88E5-4734DC8A4C10}" type="pres">
      <dgm:prSet presAssocID="{B93DCCBA-3FB7-4441-AA94-F0A9F42BBAE9}" presName="arrow" presStyleLbl="alignNode1" presStyleIdx="4" presStyleCnt="6"/>
      <dgm:spPr/>
    </dgm:pt>
    <dgm:pt modelId="{D118617B-99A2-494B-A483-9D69927E9574}" type="pres">
      <dgm:prSet presAssocID="{B93DCCBA-3FB7-4441-AA94-F0A9F42BBAE9}" presName="descendantArrow" presStyleLbl="bgAccFollowNode1" presStyleIdx="4" presStyleCnt="6"/>
      <dgm:spPr/>
    </dgm:pt>
    <dgm:pt modelId="{7B428FC5-66FB-4740-BA3C-B58877D812EA}" type="pres">
      <dgm:prSet presAssocID="{0759FB36-12A4-4CB5-886B-825A491485D6}" presName="sp" presStyleCnt="0"/>
      <dgm:spPr/>
    </dgm:pt>
    <dgm:pt modelId="{E92902C2-BCAA-40D6-8C1C-5C04590864A4}" type="pres">
      <dgm:prSet presAssocID="{102A4C6D-B804-4336-B90E-854A025204DA}" presName="arrowAndChildren" presStyleCnt="0"/>
      <dgm:spPr/>
    </dgm:pt>
    <dgm:pt modelId="{2362C48D-3EF7-47C0-94F8-99C5E34BE7B3}" type="pres">
      <dgm:prSet presAssocID="{102A4C6D-B804-4336-B90E-854A025204DA}" presName="parentTextArrow" presStyleLbl="node1" presStyleIdx="0" presStyleCnt="0"/>
      <dgm:spPr/>
    </dgm:pt>
    <dgm:pt modelId="{5FE33F8F-5ACD-4C15-9A06-F6A442E37BDC}" type="pres">
      <dgm:prSet presAssocID="{102A4C6D-B804-4336-B90E-854A025204DA}" presName="arrow" presStyleLbl="alignNode1" presStyleIdx="5" presStyleCnt="6"/>
      <dgm:spPr/>
    </dgm:pt>
    <dgm:pt modelId="{8EE01CB8-49AF-4F2C-A725-8B08A90D22FF}" type="pres">
      <dgm:prSet presAssocID="{102A4C6D-B804-4336-B90E-854A025204DA}" presName="descendantArrow" presStyleLbl="bgAccFollowNode1" presStyleIdx="5" presStyleCnt="6"/>
      <dgm:spPr/>
    </dgm:pt>
  </dgm:ptLst>
  <dgm:cxnLst>
    <dgm:cxn modelId="{CB064902-69E8-4CBD-B477-09507A1383B4}" type="presOf" srcId="{C06403BF-3968-4F62-8D46-E662A336F81C}" destId="{139D2213-0F9F-489C-992D-1E203C050FBF}" srcOrd="0" destOrd="0" presId="urn:microsoft.com/office/officeart/2016/7/layout/VerticalDownArrowProcess"/>
    <dgm:cxn modelId="{8B23D407-3125-4A92-9E80-4EBE7050669C}" srcId="{B93DCCBA-3FB7-4441-AA94-F0A9F42BBAE9}" destId="{165679B9-9971-4F1E-BCF3-E7E6342B1BD4}" srcOrd="0" destOrd="0" parTransId="{7B9F59AE-A3AE-4EAB-8DB1-19D104A17EF6}" sibTransId="{E0F4649E-A970-4299-A19B-F1192932AED3}"/>
    <dgm:cxn modelId="{5E8E9C22-1829-485E-8CF3-6564237A1AD5}" type="presOf" srcId="{102A4C6D-B804-4336-B90E-854A025204DA}" destId="{5FE33F8F-5ACD-4C15-9A06-F6A442E37BDC}" srcOrd="1" destOrd="0" presId="urn:microsoft.com/office/officeart/2016/7/layout/VerticalDownArrowProcess"/>
    <dgm:cxn modelId="{C2070232-FBB6-4B64-9D4D-0A482C135211}" type="presOf" srcId="{74DC95E7-1748-40A9-8DFF-3ABE3E84738E}" destId="{2A4AA441-8D64-4972-AA4B-52DA0F3D0F4C}" srcOrd="0" destOrd="0" presId="urn:microsoft.com/office/officeart/2016/7/layout/VerticalDownArrowProcess"/>
    <dgm:cxn modelId="{EA259332-8165-4B38-B41E-D603AF89BF63}" type="presOf" srcId="{51C341C8-2E18-4905-B78E-DA4F3C589139}" destId="{887802DE-4951-422D-9994-11FC5C513B4E}" srcOrd="0" destOrd="0" presId="urn:microsoft.com/office/officeart/2016/7/layout/VerticalDownArrowProcess"/>
    <dgm:cxn modelId="{6483975E-E2D5-4416-B813-BE8B40FDF2BF}" type="presOf" srcId="{34918A00-D0F4-48EF-80AE-A54896316F9E}" destId="{3B74BF47-795A-4E70-B656-0A59B8402E6F}" srcOrd="0" destOrd="0" presId="urn:microsoft.com/office/officeart/2016/7/layout/VerticalDownArrowProcess"/>
    <dgm:cxn modelId="{7FF20941-A9BA-4ACE-B664-8286C921886B}" srcId="{971BE505-D6D2-4B90-BCED-D50D1818D731}" destId="{7ABB1CDE-E5D3-44DE-920E-C8CD97DC4330}" srcOrd="0" destOrd="0" parTransId="{6848B6A8-6AB4-4CD2-8960-77503FAE8EC5}" sibTransId="{B8050307-5FC6-4695-B26A-A10EAA051B6B}"/>
    <dgm:cxn modelId="{3CCA5467-FA40-46D3-BC19-8EC1F000253C}" srcId="{34918A00-D0F4-48EF-80AE-A54896316F9E}" destId="{102A4C6D-B804-4336-B90E-854A025204DA}" srcOrd="0" destOrd="0" parTransId="{C59083C2-EAF1-4849-997F-B0FBC5025749}" sibTransId="{0759FB36-12A4-4CB5-886B-825A491485D6}"/>
    <dgm:cxn modelId="{3F76E967-F640-4005-A2DA-90856B7475A1}" srcId="{102A4C6D-B804-4336-B90E-854A025204DA}" destId="{A382C538-AE0A-47A6-8076-C9F4C2AAF20C}" srcOrd="0" destOrd="0" parTransId="{5AEF32BC-68B5-45A7-A766-45D11CF07B28}" sibTransId="{32FAB1F9-EFBA-4CC7-9235-31F512B85669}"/>
    <dgm:cxn modelId="{710FCF68-1FF9-41E1-8740-9FED53BB29ED}" srcId="{C06403BF-3968-4F62-8D46-E662A336F81C}" destId="{D08DF3E6-4B3E-4607-8070-5063D20A0565}" srcOrd="0" destOrd="0" parTransId="{7469724F-2AF1-4C8D-998B-C27926B86A73}" sibTransId="{FA338501-6D34-4A01-AC8C-8BA864DEC63D}"/>
    <dgm:cxn modelId="{33A3A36B-2420-4F01-999F-B2C3CF8D4B09}" type="presOf" srcId="{22F52BE3-8219-4950-8303-4089286A3465}" destId="{3B4D8E04-A28C-4EF1-9254-84EC03E13556}" srcOrd="0" destOrd="0" presId="urn:microsoft.com/office/officeart/2016/7/layout/VerticalDownArrowProcess"/>
    <dgm:cxn modelId="{7C248F6E-7176-434C-89DF-A7B1272DF9AC}" type="presOf" srcId="{D08DF3E6-4B3E-4607-8070-5063D20A0565}" destId="{D9072C15-E184-483F-B0F4-61597F66DBB5}" srcOrd="0" destOrd="0" presId="urn:microsoft.com/office/officeart/2016/7/layout/VerticalDownArrowProcess"/>
    <dgm:cxn modelId="{8C46E26F-0C9D-42EB-BA23-0155432E933E}" srcId="{74DC95E7-1748-40A9-8DFF-3ABE3E84738E}" destId="{51C341C8-2E18-4905-B78E-DA4F3C589139}" srcOrd="0" destOrd="0" parTransId="{BF19DDA9-B161-4620-BCDA-2E794FE3C8A2}" sibTransId="{6C50E5B2-9EA7-4E9C-88E8-CFEAC237EB81}"/>
    <dgm:cxn modelId="{13613851-D675-4C62-8CC8-3C0ED92564E4}" type="presOf" srcId="{D183E0E5-8F61-4590-B609-C9828160102F}" destId="{63EB21D9-EF88-41EC-8106-67AFACC15B7D}" srcOrd="0" destOrd="0" presId="urn:microsoft.com/office/officeart/2016/7/layout/VerticalDownArrowProcess"/>
    <dgm:cxn modelId="{C64B4173-C15E-420E-9366-0B0B5BFB4990}" type="presOf" srcId="{74DC95E7-1748-40A9-8DFF-3ABE3E84738E}" destId="{1124DE2E-1D39-4549-996A-B6F4641523EF}" srcOrd="1" destOrd="0" presId="urn:microsoft.com/office/officeart/2016/7/layout/VerticalDownArrowProcess"/>
    <dgm:cxn modelId="{E6DC1C75-7220-4316-B663-70A649BA2497}" srcId="{34918A00-D0F4-48EF-80AE-A54896316F9E}" destId="{971BE505-D6D2-4B90-BCED-D50D1818D731}" srcOrd="3" destOrd="0" parTransId="{22EB75B0-043E-4E8B-9EF8-24EFA46D71A4}" sibTransId="{DAE5BF9F-AA9D-4A3D-864A-9878E57FCC2A}"/>
    <dgm:cxn modelId="{CC54C45A-1EB3-4632-8D86-850E9724C4BD}" srcId="{34918A00-D0F4-48EF-80AE-A54896316F9E}" destId="{B93DCCBA-3FB7-4441-AA94-F0A9F42BBAE9}" srcOrd="1" destOrd="0" parTransId="{CF14950D-29CB-4909-8884-99B8FD70548E}" sibTransId="{164F5369-0D1C-4C24-AF85-4F1111C8E021}"/>
    <dgm:cxn modelId="{68DFE57C-760D-446D-AD42-F7C3E5BB5A89}" srcId="{34918A00-D0F4-48EF-80AE-A54896316F9E}" destId="{74DC95E7-1748-40A9-8DFF-3ABE3E84738E}" srcOrd="2" destOrd="0" parTransId="{505749CB-475F-4FB7-9010-4BACDD84ACF8}" sibTransId="{D26068D7-A55E-433F-B915-BD3E9C38DC76}"/>
    <dgm:cxn modelId="{675E6B82-DF83-473B-B183-9F103F630439}" type="presOf" srcId="{A382C538-AE0A-47A6-8076-C9F4C2AAF20C}" destId="{8EE01CB8-49AF-4F2C-A725-8B08A90D22FF}" srcOrd="0" destOrd="0" presId="urn:microsoft.com/office/officeart/2016/7/layout/VerticalDownArrowProcess"/>
    <dgm:cxn modelId="{CF83C883-AB03-41FA-83FD-C55E1FAA1DD1}" type="presOf" srcId="{B93DCCBA-3FB7-4441-AA94-F0A9F42BBAE9}" destId="{D87D0637-D1ED-437C-88E5-4734DC8A4C10}" srcOrd="1" destOrd="0" presId="urn:microsoft.com/office/officeart/2016/7/layout/VerticalDownArrowProcess"/>
    <dgm:cxn modelId="{7DEE5C8B-E8C4-4CA6-B4A8-2EF4AE3DDCE0}" srcId="{34918A00-D0F4-48EF-80AE-A54896316F9E}" destId="{C06403BF-3968-4F62-8D46-E662A336F81C}" srcOrd="4" destOrd="0" parTransId="{FF00BE9D-5A3B-460A-8B0D-BB6ADAEAA57B}" sibTransId="{553E0208-8811-48CD-AA86-E2451F7ED5B0}"/>
    <dgm:cxn modelId="{B640708E-C861-4896-BE39-93FFC0C796E2}" type="presOf" srcId="{C06403BF-3968-4F62-8D46-E662A336F81C}" destId="{EFE5A0AF-1AE0-46F8-B36E-3A128201798D}" srcOrd="1" destOrd="0" presId="urn:microsoft.com/office/officeart/2016/7/layout/VerticalDownArrowProcess"/>
    <dgm:cxn modelId="{1C877A9F-21E0-4D7E-8931-B1A30F300733}" type="presOf" srcId="{971BE505-D6D2-4B90-BCED-D50D1818D731}" destId="{1A237DF6-F968-4B4E-A650-915E5AB9929D}" srcOrd="1" destOrd="0" presId="urn:microsoft.com/office/officeart/2016/7/layout/VerticalDownArrowProcess"/>
    <dgm:cxn modelId="{778C08AC-7A6B-475B-996B-A8DD72E09891}" srcId="{34918A00-D0F4-48EF-80AE-A54896316F9E}" destId="{D183E0E5-8F61-4590-B609-C9828160102F}" srcOrd="5" destOrd="0" parTransId="{4ABA5A1C-6AA2-4E71-93A1-EC577097E9A0}" sibTransId="{FDB2286C-57F3-4EA9-8099-DAC938A59FF1}"/>
    <dgm:cxn modelId="{EB25DDB4-3FD1-4B1F-A7A5-97AC335E54E2}" type="presOf" srcId="{102A4C6D-B804-4336-B90E-854A025204DA}" destId="{2362C48D-3EF7-47C0-94F8-99C5E34BE7B3}" srcOrd="0" destOrd="0" presId="urn:microsoft.com/office/officeart/2016/7/layout/VerticalDownArrowProcess"/>
    <dgm:cxn modelId="{69F2EABA-920E-4DDA-ACAE-EE0A7C23529D}" type="presOf" srcId="{165679B9-9971-4F1E-BCF3-E7E6342B1BD4}" destId="{D118617B-99A2-494B-A483-9D69927E9574}" srcOrd="0" destOrd="0" presId="urn:microsoft.com/office/officeart/2016/7/layout/VerticalDownArrowProcess"/>
    <dgm:cxn modelId="{0598BDBD-A6B4-4F31-83D8-DAECADB37410}" type="presOf" srcId="{7ABB1CDE-E5D3-44DE-920E-C8CD97DC4330}" destId="{24973218-1CDC-4D3E-A8A6-179F3B0F8216}" srcOrd="0" destOrd="0" presId="urn:microsoft.com/office/officeart/2016/7/layout/VerticalDownArrowProcess"/>
    <dgm:cxn modelId="{312057C1-C8E1-4EB8-A179-C6E1DD270E36}" type="presOf" srcId="{971BE505-D6D2-4B90-BCED-D50D1818D731}" destId="{82511369-52AE-43F4-A945-669AC68EE20C}" srcOrd="0" destOrd="0" presId="urn:microsoft.com/office/officeart/2016/7/layout/VerticalDownArrowProcess"/>
    <dgm:cxn modelId="{AEB543C7-DD3D-4C1C-AD69-3F60D7E66E04}" type="presOf" srcId="{B93DCCBA-3FB7-4441-AA94-F0A9F42BBAE9}" destId="{C17DB361-75F0-4139-AB63-D7CB9D2583A8}" srcOrd="0" destOrd="0" presId="urn:microsoft.com/office/officeart/2016/7/layout/VerticalDownArrowProcess"/>
    <dgm:cxn modelId="{6A1620F1-5059-476B-8C96-E46A63205301}" srcId="{D183E0E5-8F61-4590-B609-C9828160102F}" destId="{22F52BE3-8219-4950-8303-4089286A3465}" srcOrd="0" destOrd="0" parTransId="{5C8CDA5D-7994-495B-9565-0019C79490DA}" sibTransId="{B5DC9695-8F72-4FF8-AD26-AB6CECF04D26}"/>
    <dgm:cxn modelId="{5C3E6A4F-5346-44B5-BBF8-79A7BF5D3F3D}" type="presParOf" srcId="{3B74BF47-795A-4E70-B656-0A59B8402E6F}" destId="{58811A73-94D9-4CAF-8ABB-7C7E23EFCD44}" srcOrd="0" destOrd="0" presId="urn:microsoft.com/office/officeart/2016/7/layout/VerticalDownArrowProcess"/>
    <dgm:cxn modelId="{12952416-60E3-4B29-8A6C-7AE3E7D1BC31}" type="presParOf" srcId="{58811A73-94D9-4CAF-8ABB-7C7E23EFCD44}" destId="{63EB21D9-EF88-41EC-8106-67AFACC15B7D}" srcOrd="0" destOrd="0" presId="urn:microsoft.com/office/officeart/2016/7/layout/VerticalDownArrowProcess"/>
    <dgm:cxn modelId="{0585EB39-4F19-4249-B937-D8547257E6DE}" type="presParOf" srcId="{58811A73-94D9-4CAF-8ABB-7C7E23EFCD44}" destId="{3B4D8E04-A28C-4EF1-9254-84EC03E13556}" srcOrd="1" destOrd="0" presId="urn:microsoft.com/office/officeart/2016/7/layout/VerticalDownArrowProcess"/>
    <dgm:cxn modelId="{5BD28F53-0E70-475D-A817-FFB3EC20BFBC}" type="presParOf" srcId="{3B74BF47-795A-4E70-B656-0A59B8402E6F}" destId="{7AC0A2DF-7E58-43A5-9FE1-4BAA30F59E02}" srcOrd="1" destOrd="0" presId="urn:microsoft.com/office/officeart/2016/7/layout/VerticalDownArrowProcess"/>
    <dgm:cxn modelId="{F6F4E9CB-6D95-4268-84E6-3D4BF2976278}" type="presParOf" srcId="{3B74BF47-795A-4E70-B656-0A59B8402E6F}" destId="{08902497-98F8-4CE0-87F1-DDB1D6101397}" srcOrd="2" destOrd="0" presId="urn:microsoft.com/office/officeart/2016/7/layout/VerticalDownArrowProcess"/>
    <dgm:cxn modelId="{694EE1EA-9ED4-4269-BF89-1182CC0203FE}" type="presParOf" srcId="{08902497-98F8-4CE0-87F1-DDB1D6101397}" destId="{139D2213-0F9F-489C-992D-1E203C050FBF}" srcOrd="0" destOrd="0" presId="urn:microsoft.com/office/officeart/2016/7/layout/VerticalDownArrowProcess"/>
    <dgm:cxn modelId="{86B976A8-89A7-4665-A13A-A1F04AC6E724}" type="presParOf" srcId="{08902497-98F8-4CE0-87F1-DDB1D6101397}" destId="{EFE5A0AF-1AE0-46F8-B36E-3A128201798D}" srcOrd="1" destOrd="0" presId="urn:microsoft.com/office/officeart/2016/7/layout/VerticalDownArrowProcess"/>
    <dgm:cxn modelId="{E50F0D53-6FE9-4B6F-A8C3-E3590AB8F703}" type="presParOf" srcId="{08902497-98F8-4CE0-87F1-DDB1D6101397}" destId="{D9072C15-E184-483F-B0F4-61597F66DBB5}" srcOrd="2" destOrd="0" presId="urn:microsoft.com/office/officeart/2016/7/layout/VerticalDownArrowProcess"/>
    <dgm:cxn modelId="{893C2405-A4F3-4A7E-87E9-6661AF8F1E14}" type="presParOf" srcId="{3B74BF47-795A-4E70-B656-0A59B8402E6F}" destId="{8465C8AE-1F4B-4265-B470-4629EB5CB106}" srcOrd="3" destOrd="0" presId="urn:microsoft.com/office/officeart/2016/7/layout/VerticalDownArrowProcess"/>
    <dgm:cxn modelId="{464A890A-71C2-49F7-8D6F-6ECA8E3E112E}" type="presParOf" srcId="{3B74BF47-795A-4E70-B656-0A59B8402E6F}" destId="{9DCCDA44-81D6-48FE-BA38-CC8C43B40E8D}" srcOrd="4" destOrd="0" presId="urn:microsoft.com/office/officeart/2016/7/layout/VerticalDownArrowProcess"/>
    <dgm:cxn modelId="{F3816E9D-7B39-4A57-AA4B-39C11B2A30EA}" type="presParOf" srcId="{9DCCDA44-81D6-48FE-BA38-CC8C43B40E8D}" destId="{82511369-52AE-43F4-A945-669AC68EE20C}" srcOrd="0" destOrd="0" presId="urn:microsoft.com/office/officeart/2016/7/layout/VerticalDownArrowProcess"/>
    <dgm:cxn modelId="{768F95FA-BE01-446D-B567-C1F1D51FED06}" type="presParOf" srcId="{9DCCDA44-81D6-48FE-BA38-CC8C43B40E8D}" destId="{1A237DF6-F968-4B4E-A650-915E5AB9929D}" srcOrd="1" destOrd="0" presId="urn:microsoft.com/office/officeart/2016/7/layout/VerticalDownArrowProcess"/>
    <dgm:cxn modelId="{A0E375A8-CCBD-4F84-8782-97BF0B518248}" type="presParOf" srcId="{9DCCDA44-81D6-48FE-BA38-CC8C43B40E8D}" destId="{24973218-1CDC-4D3E-A8A6-179F3B0F8216}" srcOrd="2" destOrd="0" presId="urn:microsoft.com/office/officeart/2016/7/layout/VerticalDownArrowProcess"/>
    <dgm:cxn modelId="{9633BFA5-655D-4989-9603-4321EF08AEA9}" type="presParOf" srcId="{3B74BF47-795A-4E70-B656-0A59B8402E6F}" destId="{645C1830-889D-4FCB-8A43-DE0D74C67A66}" srcOrd="5" destOrd="0" presId="urn:microsoft.com/office/officeart/2016/7/layout/VerticalDownArrowProcess"/>
    <dgm:cxn modelId="{56C9253C-3617-4BCA-AF82-343759EEE5E5}" type="presParOf" srcId="{3B74BF47-795A-4E70-B656-0A59B8402E6F}" destId="{820E06FD-724A-43CB-B2AF-BDB1544BA51D}" srcOrd="6" destOrd="0" presId="urn:microsoft.com/office/officeart/2016/7/layout/VerticalDownArrowProcess"/>
    <dgm:cxn modelId="{935FE928-1337-4AAE-B50D-2AF7C8E16188}" type="presParOf" srcId="{820E06FD-724A-43CB-B2AF-BDB1544BA51D}" destId="{2A4AA441-8D64-4972-AA4B-52DA0F3D0F4C}" srcOrd="0" destOrd="0" presId="urn:microsoft.com/office/officeart/2016/7/layout/VerticalDownArrowProcess"/>
    <dgm:cxn modelId="{8599EB5E-5BE6-4768-AACF-BCF1AE2D36FA}" type="presParOf" srcId="{820E06FD-724A-43CB-B2AF-BDB1544BA51D}" destId="{1124DE2E-1D39-4549-996A-B6F4641523EF}" srcOrd="1" destOrd="0" presId="urn:microsoft.com/office/officeart/2016/7/layout/VerticalDownArrowProcess"/>
    <dgm:cxn modelId="{42EE443C-8620-405C-AD08-F89637CEB144}" type="presParOf" srcId="{820E06FD-724A-43CB-B2AF-BDB1544BA51D}" destId="{887802DE-4951-422D-9994-11FC5C513B4E}" srcOrd="2" destOrd="0" presId="urn:microsoft.com/office/officeart/2016/7/layout/VerticalDownArrowProcess"/>
    <dgm:cxn modelId="{24F27482-95ED-46B5-801C-72A06BB74C1D}" type="presParOf" srcId="{3B74BF47-795A-4E70-B656-0A59B8402E6F}" destId="{5C41AC80-9DFE-4E1E-A008-FC4B59E294D6}" srcOrd="7" destOrd="0" presId="urn:microsoft.com/office/officeart/2016/7/layout/VerticalDownArrowProcess"/>
    <dgm:cxn modelId="{468FE831-5A10-483C-A7E3-5F9977471002}" type="presParOf" srcId="{3B74BF47-795A-4E70-B656-0A59B8402E6F}" destId="{C4CE065A-36F0-4A20-9A24-63F86C9B597E}" srcOrd="8" destOrd="0" presId="urn:microsoft.com/office/officeart/2016/7/layout/VerticalDownArrowProcess"/>
    <dgm:cxn modelId="{2F8A0FBB-E4CF-44FC-B29B-DC20E993A043}" type="presParOf" srcId="{C4CE065A-36F0-4A20-9A24-63F86C9B597E}" destId="{C17DB361-75F0-4139-AB63-D7CB9D2583A8}" srcOrd="0" destOrd="0" presId="urn:microsoft.com/office/officeart/2016/7/layout/VerticalDownArrowProcess"/>
    <dgm:cxn modelId="{27DC0BE2-B053-4AF3-9D57-604AFFD1D89D}" type="presParOf" srcId="{C4CE065A-36F0-4A20-9A24-63F86C9B597E}" destId="{D87D0637-D1ED-437C-88E5-4734DC8A4C10}" srcOrd="1" destOrd="0" presId="urn:microsoft.com/office/officeart/2016/7/layout/VerticalDownArrowProcess"/>
    <dgm:cxn modelId="{BC677985-6334-4EC3-9610-7F61B5B05479}" type="presParOf" srcId="{C4CE065A-36F0-4A20-9A24-63F86C9B597E}" destId="{D118617B-99A2-494B-A483-9D69927E9574}" srcOrd="2" destOrd="0" presId="urn:microsoft.com/office/officeart/2016/7/layout/VerticalDownArrowProcess"/>
    <dgm:cxn modelId="{4FC8A613-07F1-477D-8744-5E5508BABA40}" type="presParOf" srcId="{3B74BF47-795A-4E70-B656-0A59B8402E6F}" destId="{7B428FC5-66FB-4740-BA3C-B58877D812EA}" srcOrd="9" destOrd="0" presId="urn:microsoft.com/office/officeart/2016/7/layout/VerticalDownArrowProcess"/>
    <dgm:cxn modelId="{3B2C57E6-694D-46BF-AAD0-857CB19D51A8}" type="presParOf" srcId="{3B74BF47-795A-4E70-B656-0A59B8402E6F}" destId="{E92902C2-BCAA-40D6-8C1C-5C04590864A4}" srcOrd="10" destOrd="0" presId="urn:microsoft.com/office/officeart/2016/7/layout/VerticalDownArrowProcess"/>
    <dgm:cxn modelId="{C5BA8505-F0A7-4588-B2E4-64C9FF3601ED}" type="presParOf" srcId="{E92902C2-BCAA-40D6-8C1C-5C04590864A4}" destId="{2362C48D-3EF7-47C0-94F8-99C5E34BE7B3}" srcOrd="0" destOrd="0" presId="urn:microsoft.com/office/officeart/2016/7/layout/VerticalDownArrowProcess"/>
    <dgm:cxn modelId="{6F722C00-2ADA-4E4A-B2A3-E18B01E882A7}" type="presParOf" srcId="{E92902C2-BCAA-40D6-8C1C-5C04590864A4}" destId="{5FE33F8F-5ACD-4C15-9A06-F6A442E37BDC}" srcOrd="1" destOrd="0" presId="urn:microsoft.com/office/officeart/2016/7/layout/VerticalDownArrowProcess"/>
    <dgm:cxn modelId="{DF4ACB6D-89D5-461E-A56D-28F0D94B4CD2}" type="presParOf" srcId="{E92902C2-BCAA-40D6-8C1C-5C04590864A4}" destId="{8EE01CB8-49AF-4F2C-A725-8B08A90D22FF}"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EB21D9-EF88-41EC-8106-67AFACC15B7D}">
      <dsp:nvSpPr>
        <dsp:cNvPr id="0" name=""/>
        <dsp:cNvSpPr/>
      </dsp:nvSpPr>
      <dsp:spPr>
        <a:xfrm>
          <a:off x="0" y="4892169"/>
          <a:ext cx="1728061" cy="64209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2900" tIns="156464" rIns="122900" bIns="156464" numCol="1" spcCol="1270" anchor="ctr" anchorCtr="0">
          <a:noAutofit/>
        </a:bodyPr>
        <a:lstStyle/>
        <a:p>
          <a:pPr marL="0" lvl="0" indent="0" algn="ctr" defTabSz="977900">
            <a:lnSpc>
              <a:spcPct val="90000"/>
            </a:lnSpc>
            <a:spcBef>
              <a:spcPct val="0"/>
            </a:spcBef>
            <a:spcAft>
              <a:spcPct val="35000"/>
            </a:spcAft>
            <a:buNone/>
          </a:pPr>
          <a:r>
            <a:rPr lang="en-US" sz="2200" kern="1200"/>
            <a:t>Increase</a:t>
          </a:r>
        </a:p>
      </dsp:txBody>
      <dsp:txXfrm>
        <a:off x="0" y="4892169"/>
        <a:ext cx="1728061" cy="642094"/>
      </dsp:txXfrm>
    </dsp:sp>
    <dsp:sp modelId="{3B4D8E04-A28C-4EF1-9254-84EC03E13556}">
      <dsp:nvSpPr>
        <dsp:cNvPr id="0" name=""/>
        <dsp:cNvSpPr/>
      </dsp:nvSpPr>
      <dsp:spPr>
        <a:xfrm>
          <a:off x="1728061" y="4892169"/>
          <a:ext cx="5184183" cy="642094"/>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160" tIns="152400" rIns="105160" bIns="152400" numCol="1" spcCol="1270" anchor="ctr" anchorCtr="0">
          <a:noAutofit/>
        </a:bodyPr>
        <a:lstStyle/>
        <a:p>
          <a:pPr marL="0" lvl="0" indent="0" algn="l" defTabSz="533400">
            <a:lnSpc>
              <a:spcPct val="90000"/>
            </a:lnSpc>
            <a:spcBef>
              <a:spcPct val="0"/>
            </a:spcBef>
            <a:spcAft>
              <a:spcPct val="35000"/>
            </a:spcAft>
            <a:buNone/>
          </a:pPr>
          <a:r>
            <a:rPr lang="en-US" sz="1200" kern="1200"/>
            <a:t>Increase the I gain until it brings you to the set point with the number of oscillations desired</a:t>
          </a:r>
        </a:p>
      </dsp:txBody>
      <dsp:txXfrm>
        <a:off x="1728061" y="4892169"/>
        <a:ext cx="5184183" cy="642094"/>
      </dsp:txXfrm>
    </dsp:sp>
    <dsp:sp modelId="{EFE5A0AF-1AE0-46F8-B36E-3A128201798D}">
      <dsp:nvSpPr>
        <dsp:cNvPr id="0" name=""/>
        <dsp:cNvSpPr/>
      </dsp:nvSpPr>
      <dsp:spPr>
        <a:xfrm rot="10800000">
          <a:off x="0" y="3914259"/>
          <a:ext cx="1728061" cy="987541"/>
        </a:xfrm>
        <a:prstGeom prst="upArrowCallout">
          <a:avLst>
            <a:gd name="adj1" fmla="val 5000"/>
            <a:gd name="adj2" fmla="val 10000"/>
            <a:gd name="adj3" fmla="val 15000"/>
            <a:gd name="adj4" fmla="val 64977"/>
          </a:avLst>
        </a:prstGeom>
        <a:gradFill rotWithShape="0">
          <a:gsLst>
            <a:gs pos="0">
              <a:schemeClr val="accent5">
                <a:hueOff val="-155906"/>
                <a:satOff val="1594"/>
                <a:lumOff val="-863"/>
                <a:alphaOff val="0"/>
                <a:satMod val="103000"/>
                <a:lumMod val="102000"/>
                <a:tint val="94000"/>
              </a:schemeClr>
            </a:gs>
            <a:gs pos="50000">
              <a:schemeClr val="accent5">
                <a:hueOff val="-155906"/>
                <a:satOff val="1594"/>
                <a:lumOff val="-863"/>
                <a:alphaOff val="0"/>
                <a:satMod val="110000"/>
                <a:lumMod val="100000"/>
                <a:shade val="100000"/>
              </a:schemeClr>
            </a:gs>
            <a:gs pos="100000">
              <a:schemeClr val="accent5">
                <a:hueOff val="-155906"/>
                <a:satOff val="1594"/>
                <a:lumOff val="-863"/>
                <a:alphaOff val="0"/>
                <a:lumMod val="99000"/>
                <a:satMod val="120000"/>
                <a:shade val="78000"/>
              </a:schemeClr>
            </a:gs>
          </a:gsLst>
          <a:lin ang="5400000" scaled="0"/>
        </a:gradFill>
        <a:ln w="6350" cap="flat" cmpd="sng" algn="ctr">
          <a:solidFill>
            <a:schemeClr val="accent5">
              <a:hueOff val="-155906"/>
              <a:satOff val="1594"/>
              <a:lumOff val="-863"/>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2900" tIns="156464" rIns="122900" bIns="156464" numCol="1" spcCol="1270" anchor="ctr" anchorCtr="0">
          <a:noAutofit/>
        </a:bodyPr>
        <a:lstStyle/>
        <a:p>
          <a:pPr marL="0" lvl="0" indent="0" algn="ctr" defTabSz="977900">
            <a:lnSpc>
              <a:spcPct val="90000"/>
            </a:lnSpc>
            <a:spcBef>
              <a:spcPct val="0"/>
            </a:spcBef>
            <a:spcAft>
              <a:spcPct val="35000"/>
            </a:spcAft>
            <a:buNone/>
          </a:pPr>
          <a:r>
            <a:rPr lang="en-US" sz="2200" kern="1200"/>
            <a:t>Set</a:t>
          </a:r>
        </a:p>
      </dsp:txBody>
      <dsp:txXfrm rot="-10800000">
        <a:off x="0" y="3914259"/>
        <a:ext cx="1728061" cy="641901"/>
      </dsp:txXfrm>
    </dsp:sp>
    <dsp:sp modelId="{D9072C15-E184-483F-B0F4-61597F66DBB5}">
      <dsp:nvSpPr>
        <dsp:cNvPr id="0" name=""/>
        <dsp:cNvSpPr/>
      </dsp:nvSpPr>
      <dsp:spPr>
        <a:xfrm>
          <a:off x="1728061" y="3914259"/>
          <a:ext cx="5184183" cy="641901"/>
        </a:xfrm>
        <a:prstGeom prst="rect">
          <a:avLst/>
        </a:prstGeom>
        <a:solidFill>
          <a:schemeClr val="accent5">
            <a:tint val="40000"/>
            <a:alpha val="90000"/>
            <a:hueOff val="-242430"/>
            <a:satOff val="2323"/>
            <a:lumOff val="51"/>
            <a:alphaOff val="0"/>
          </a:schemeClr>
        </a:solidFill>
        <a:ln w="6350" cap="flat" cmpd="sng" algn="ctr">
          <a:solidFill>
            <a:schemeClr val="accent5">
              <a:tint val="40000"/>
              <a:alpha val="90000"/>
              <a:hueOff val="-242430"/>
              <a:satOff val="2323"/>
              <a:lumOff val="5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160" tIns="152400" rIns="105160" bIns="152400" numCol="1" spcCol="1270" anchor="ctr" anchorCtr="0">
          <a:noAutofit/>
        </a:bodyPr>
        <a:lstStyle/>
        <a:p>
          <a:pPr marL="0" lvl="0" indent="0" algn="l" defTabSz="533400">
            <a:lnSpc>
              <a:spcPct val="90000"/>
            </a:lnSpc>
            <a:spcBef>
              <a:spcPct val="0"/>
            </a:spcBef>
            <a:spcAft>
              <a:spcPct val="35000"/>
            </a:spcAft>
            <a:buNone/>
          </a:pPr>
          <a:r>
            <a:rPr lang="en-US" sz="1200" kern="1200"/>
            <a:t>Set P and D to the last stable values.</a:t>
          </a:r>
        </a:p>
      </dsp:txBody>
      <dsp:txXfrm>
        <a:off x="1728061" y="3914259"/>
        <a:ext cx="5184183" cy="641901"/>
      </dsp:txXfrm>
    </dsp:sp>
    <dsp:sp modelId="{1A237DF6-F968-4B4E-A650-915E5AB9929D}">
      <dsp:nvSpPr>
        <dsp:cNvPr id="0" name=""/>
        <dsp:cNvSpPr/>
      </dsp:nvSpPr>
      <dsp:spPr>
        <a:xfrm rot="10800000">
          <a:off x="0" y="2936349"/>
          <a:ext cx="1728061" cy="987541"/>
        </a:xfrm>
        <a:prstGeom prst="upArrowCallout">
          <a:avLst>
            <a:gd name="adj1" fmla="val 5000"/>
            <a:gd name="adj2" fmla="val 10000"/>
            <a:gd name="adj3" fmla="val 15000"/>
            <a:gd name="adj4" fmla="val 64977"/>
          </a:avLst>
        </a:prstGeom>
        <a:gradFill rotWithShape="0">
          <a:gsLst>
            <a:gs pos="0">
              <a:schemeClr val="accent5">
                <a:hueOff val="-311813"/>
                <a:satOff val="3188"/>
                <a:lumOff val="-1726"/>
                <a:alphaOff val="0"/>
                <a:satMod val="103000"/>
                <a:lumMod val="102000"/>
                <a:tint val="94000"/>
              </a:schemeClr>
            </a:gs>
            <a:gs pos="50000">
              <a:schemeClr val="accent5">
                <a:hueOff val="-311813"/>
                <a:satOff val="3188"/>
                <a:lumOff val="-1726"/>
                <a:alphaOff val="0"/>
                <a:satMod val="110000"/>
                <a:lumMod val="100000"/>
                <a:shade val="100000"/>
              </a:schemeClr>
            </a:gs>
            <a:gs pos="100000">
              <a:schemeClr val="accent5">
                <a:hueOff val="-311813"/>
                <a:satOff val="3188"/>
                <a:lumOff val="-1726"/>
                <a:alphaOff val="0"/>
                <a:lumMod val="99000"/>
                <a:satMod val="120000"/>
                <a:shade val="78000"/>
              </a:schemeClr>
            </a:gs>
          </a:gsLst>
          <a:lin ang="5400000" scaled="0"/>
        </a:gradFill>
        <a:ln w="6350" cap="flat" cmpd="sng" algn="ctr">
          <a:solidFill>
            <a:schemeClr val="accent5">
              <a:hueOff val="-311813"/>
              <a:satOff val="3188"/>
              <a:lumOff val="-172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2900" tIns="156464" rIns="122900" bIns="156464" numCol="1" spcCol="1270" anchor="ctr" anchorCtr="0">
          <a:noAutofit/>
        </a:bodyPr>
        <a:lstStyle/>
        <a:p>
          <a:pPr marL="0" lvl="0" indent="0" algn="ctr" defTabSz="977900">
            <a:lnSpc>
              <a:spcPct val="90000"/>
            </a:lnSpc>
            <a:spcBef>
              <a:spcPct val="0"/>
            </a:spcBef>
            <a:spcAft>
              <a:spcPct val="35000"/>
            </a:spcAft>
            <a:buNone/>
          </a:pPr>
          <a:r>
            <a:rPr lang="en-US" sz="2200" kern="1200"/>
            <a:t>Repeat</a:t>
          </a:r>
        </a:p>
      </dsp:txBody>
      <dsp:txXfrm rot="-10800000">
        <a:off x="0" y="2936349"/>
        <a:ext cx="1728061" cy="641901"/>
      </dsp:txXfrm>
    </dsp:sp>
    <dsp:sp modelId="{24973218-1CDC-4D3E-A8A6-179F3B0F8216}">
      <dsp:nvSpPr>
        <dsp:cNvPr id="0" name=""/>
        <dsp:cNvSpPr/>
      </dsp:nvSpPr>
      <dsp:spPr>
        <a:xfrm>
          <a:off x="1728061" y="2936349"/>
          <a:ext cx="5184183" cy="641901"/>
        </a:xfrm>
        <a:prstGeom prst="rect">
          <a:avLst/>
        </a:prstGeom>
        <a:solidFill>
          <a:schemeClr val="accent5">
            <a:tint val="40000"/>
            <a:alpha val="90000"/>
            <a:hueOff val="-484861"/>
            <a:satOff val="4647"/>
            <a:lumOff val="102"/>
            <a:alphaOff val="0"/>
          </a:schemeClr>
        </a:solidFill>
        <a:ln w="6350" cap="flat" cmpd="sng" algn="ctr">
          <a:solidFill>
            <a:schemeClr val="accent5">
              <a:tint val="40000"/>
              <a:alpha val="90000"/>
              <a:hueOff val="-484861"/>
              <a:satOff val="4647"/>
              <a:lumOff val="10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160" tIns="152400" rIns="105160" bIns="152400" numCol="1" spcCol="1270" anchor="ctr" anchorCtr="0">
          <a:noAutofit/>
        </a:bodyPr>
        <a:lstStyle/>
        <a:p>
          <a:pPr marL="0" lvl="0" indent="0" algn="l" defTabSz="533400">
            <a:lnSpc>
              <a:spcPct val="90000"/>
            </a:lnSpc>
            <a:spcBef>
              <a:spcPct val="0"/>
            </a:spcBef>
            <a:spcAft>
              <a:spcPct val="35000"/>
            </a:spcAft>
            <a:buNone/>
          </a:pPr>
          <a:r>
            <a:rPr lang="en-US" sz="1200" kern="1200"/>
            <a:t>Repeat steps 2 and 3 until increasing the D gain does not stop the oscillations.</a:t>
          </a:r>
        </a:p>
      </dsp:txBody>
      <dsp:txXfrm>
        <a:off x="1728061" y="2936349"/>
        <a:ext cx="5184183" cy="641901"/>
      </dsp:txXfrm>
    </dsp:sp>
    <dsp:sp modelId="{1124DE2E-1D39-4549-996A-B6F4641523EF}">
      <dsp:nvSpPr>
        <dsp:cNvPr id="0" name=""/>
        <dsp:cNvSpPr/>
      </dsp:nvSpPr>
      <dsp:spPr>
        <a:xfrm rot="10800000">
          <a:off x="0" y="1958439"/>
          <a:ext cx="1728061" cy="987541"/>
        </a:xfrm>
        <a:prstGeom prst="upArrowCallout">
          <a:avLst>
            <a:gd name="adj1" fmla="val 5000"/>
            <a:gd name="adj2" fmla="val 10000"/>
            <a:gd name="adj3" fmla="val 15000"/>
            <a:gd name="adj4" fmla="val 64977"/>
          </a:avLst>
        </a:prstGeom>
        <a:gradFill rotWithShape="0">
          <a:gsLst>
            <a:gs pos="0">
              <a:schemeClr val="accent5">
                <a:hueOff val="-467719"/>
                <a:satOff val="4781"/>
                <a:lumOff val="-2588"/>
                <a:alphaOff val="0"/>
                <a:satMod val="103000"/>
                <a:lumMod val="102000"/>
                <a:tint val="94000"/>
              </a:schemeClr>
            </a:gs>
            <a:gs pos="50000">
              <a:schemeClr val="accent5">
                <a:hueOff val="-467719"/>
                <a:satOff val="4781"/>
                <a:lumOff val="-2588"/>
                <a:alphaOff val="0"/>
                <a:satMod val="110000"/>
                <a:lumMod val="100000"/>
                <a:shade val="100000"/>
              </a:schemeClr>
            </a:gs>
            <a:gs pos="100000">
              <a:schemeClr val="accent5">
                <a:hueOff val="-467719"/>
                <a:satOff val="4781"/>
                <a:lumOff val="-2588"/>
                <a:alphaOff val="0"/>
                <a:lumMod val="99000"/>
                <a:satMod val="120000"/>
                <a:shade val="78000"/>
              </a:schemeClr>
            </a:gs>
          </a:gsLst>
          <a:lin ang="5400000" scaled="0"/>
        </a:gradFill>
        <a:ln w="6350" cap="flat" cmpd="sng" algn="ctr">
          <a:solidFill>
            <a:schemeClr val="accent5">
              <a:hueOff val="-467719"/>
              <a:satOff val="4781"/>
              <a:lumOff val="-2588"/>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2900" tIns="156464" rIns="122900" bIns="156464" numCol="1" spcCol="1270" anchor="ctr" anchorCtr="0">
          <a:noAutofit/>
        </a:bodyPr>
        <a:lstStyle/>
        <a:p>
          <a:pPr marL="0" lvl="0" indent="0" algn="ctr" defTabSz="977900">
            <a:lnSpc>
              <a:spcPct val="90000"/>
            </a:lnSpc>
            <a:spcBef>
              <a:spcPct val="0"/>
            </a:spcBef>
            <a:spcAft>
              <a:spcPct val="35000"/>
            </a:spcAft>
            <a:buNone/>
          </a:pPr>
          <a:r>
            <a:rPr lang="en-US" sz="2200" kern="1200"/>
            <a:t>Increase</a:t>
          </a:r>
        </a:p>
      </dsp:txBody>
      <dsp:txXfrm rot="-10800000">
        <a:off x="0" y="1958439"/>
        <a:ext cx="1728061" cy="641901"/>
      </dsp:txXfrm>
    </dsp:sp>
    <dsp:sp modelId="{887802DE-4951-422D-9994-11FC5C513B4E}">
      <dsp:nvSpPr>
        <dsp:cNvPr id="0" name=""/>
        <dsp:cNvSpPr/>
      </dsp:nvSpPr>
      <dsp:spPr>
        <a:xfrm>
          <a:off x="1728061" y="1958439"/>
          <a:ext cx="5184183" cy="641901"/>
        </a:xfrm>
        <a:prstGeom prst="rect">
          <a:avLst/>
        </a:prstGeom>
        <a:solidFill>
          <a:schemeClr val="accent5">
            <a:tint val="40000"/>
            <a:alpha val="90000"/>
            <a:hueOff val="-727291"/>
            <a:satOff val="6970"/>
            <a:lumOff val="152"/>
            <a:alphaOff val="0"/>
          </a:schemeClr>
        </a:solidFill>
        <a:ln w="6350" cap="flat" cmpd="sng" algn="ctr">
          <a:solidFill>
            <a:schemeClr val="accent5">
              <a:tint val="40000"/>
              <a:alpha val="90000"/>
              <a:hueOff val="-727291"/>
              <a:satOff val="6970"/>
              <a:lumOff val="1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160" tIns="152400" rIns="105160" bIns="152400" numCol="1" spcCol="1270" anchor="ctr" anchorCtr="0">
          <a:noAutofit/>
        </a:bodyPr>
        <a:lstStyle/>
        <a:p>
          <a:pPr marL="0" lvl="0" indent="0" algn="l" defTabSz="533400">
            <a:lnSpc>
              <a:spcPct val="90000"/>
            </a:lnSpc>
            <a:spcBef>
              <a:spcPct val="0"/>
            </a:spcBef>
            <a:spcAft>
              <a:spcPct val="35000"/>
            </a:spcAft>
            <a:buNone/>
          </a:pPr>
          <a:r>
            <a:rPr lang="en-US" sz="1200" kern="1200"/>
            <a:t>Increase the D gain until the the oscillations go away (i.e. it's critically damped).</a:t>
          </a:r>
        </a:p>
      </dsp:txBody>
      <dsp:txXfrm>
        <a:off x="1728061" y="1958439"/>
        <a:ext cx="5184183" cy="641901"/>
      </dsp:txXfrm>
    </dsp:sp>
    <dsp:sp modelId="{D87D0637-D1ED-437C-88E5-4734DC8A4C10}">
      <dsp:nvSpPr>
        <dsp:cNvPr id="0" name=""/>
        <dsp:cNvSpPr/>
      </dsp:nvSpPr>
      <dsp:spPr>
        <a:xfrm rot="10800000">
          <a:off x="0" y="980529"/>
          <a:ext cx="1728061" cy="987541"/>
        </a:xfrm>
        <a:prstGeom prst="upArrowCallout">
          <a:avLst>
            <a:gd name="adj1" fmla="val 5000"/>
            <a:gd name="adj2" fmla="val 10000"/>
            <a:gd name="adj3" fmla="val 15000"/>
            <a:gd name="adj4" fmla="val 64977"/>
          </a:avLst>
        </a:prstGeom>
        <a:gradFill rotWithShape="0">
          <a:gsLst>
            <a:gs pos="0">
              <a:schemeClr val="accent5">
                <a:hueOff val="-623626"/>
                <a:satOff val="6375"/>
                <a:lumOff val="-3451"/>
                <a:alphaOff val="0"/>
                <a:satMod val="103000"/>
                <a:lumMod val="102000"/>
                <a:tint val="94000"/>
              </a:schemeClr>
            </a:gs>
            <a:gs pos="50000">
              <a:schemeClr val="accent5">
                <a:hueOff val="-623626"/>
                <a:satOff val="6375"/>
                <a:lumOff val="-3451"/>
                <a:alphaOff val="0"/>
                <a:satMod val="110000"/>
                <a:lumMod val="100000"/>
                <a:shade val="100000"/>
              </a:schemeClr>
            </a:gs>
            <a:gs pos="100000">
              <a:schemeClr val="accent5">
                <a:hueOff val="-623626"/>
                <a:satOff val="6375"/>
                <a:lumOff val="-3451"/>
                <a:alphaOff val="0"/>
                <a:lumMod val="99000"/>
                <a:satMod val="120000"/>
                <a:shade val="78000"/>
              </a:schemeClr>
            </a:gs>
          </a:gsLst>
          <a:lin ang="5400000" scaled="0"/>
        </a:gradFill>
        <a:ln w="6350" cap="flat" cmpd="sng" algn="ctr">
          <a:solidFill>
            <a:schemeClr val="accent5">
              <a:hueOff val="-623626"/>
              <a:satOff val="6375"/>
              <a:lumOff val="-345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2900" tIns="156464" rIns="122900" bIns="156464" numCol="1" spcCol="1270" anchor="ctr" anchorCtr="0">
          <a:noAutofit/>
        </a:bodyPr>
        <a:lstStyle/>
        <a:p>
          <a:pPr marL="0" lvl="0" indent="0" algn="ctr" defTabSz="977900">
            <a:lnSpc>
              <a:spcPct val="90000"/>
            </a:lnSpc>
            <a:spcBef>
              <a:spcPct val="0"/>
            </a:spcBef>
            <a:spcAft>
              <a:spcPct val="35000"/>
            </a:spcAft>
            <a:buNone/>
          </a:pPr>
          <a:r>
            <a:rPr lang="en-US" sz="2200" kern="1200"/>
            <a:t>Increase</a:t>
          </a:r>
        </a:p>
      </dsp:txBody>
      <dsp:txXfrm rot="-10800000">
        <a:off x="0" y="980529"/>
        <a:ext cx="1728061" cy="641901"/>
      </dsp:txXfrm>
    </dsp:sp>
    <dsp:sp modelId="{D118617B-99A2-494B-A483-9D69927E9574}">
      <dsp:nvSpPr>
        <dsp:cNvPr id="0" name=""/>
        <dsp:cNvSpPr/>
      </dsp:nvSpPr>
      <dsp:spPr>
        <a:xfrm>
          <a:off x="1728061" y="980529"/>
          <a:ext cx="5184183" cy="641901"/>
        </a:xfrm>
        <a:prstGeom prst="rect">
          <a:avLst/>
        </a:prstGeom>
        <a:solidFill>
          <a:schemeClr val="accent5">
            <a:tint val="40000"/>
            <a:alpha val="90000"/>
            <a:hueOff val="-969722"/>
            <a:satOff val="9294"/>
            <a:lumOff val="203"/>
            <a:alphaOff val="0"/>
          </a:schemeClr>
        </a:solidFill>
        <a:ln w="6350" cap="flat" cmpd="sng" algn="ctr">
          <a:solidFill>
            <a:schemeClr val="accent5">
              <a:tint val="40000"/>
              <a:alpha val="90000"/>
              <a:hueOff val="-969722"/>
              <a:satOff val="9294"/>
              <a:lumOff val="20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160" tIns="152400" rIns="105160" bIns="152400" numCol="1" spcCol="1270" anchor="ctr" anchorCtr="0">
          <a:noAutofit/>
        </a:bodyPr>
        <a:lstStyle/>
        <a:p>
          <a:pPr marL="0" lvl="0" indent="0" algn="l" defTabSz="533400">
            <a:lnSpc>
              <a:spcPct val="90000"/>
            </a:lnSpc>
            <a:spcBef>
              <a:spcPct val="0"/>
            </a:spcBef>
            <a:spcAft>
              <a:spcPct val="35000"/>
            </a:spcAft>
            <a:buNone/>
          </a:pPr>
          <a:r>
            <a:rPr lang="en-US" sz="1200" kern="1200"/>
            <a:t>Increase the P gain until the response to a disturbance is steady oscillation.</a:t>
          </a:r>
        </a:p>
      </dsp:txBody>
      <dsp:txXfrm>
        <a:off x="1728061" y="980529"/>
        <a:ext cx="5184183" cy="641901"/>
      </dsp:txXfrm>
    </dsp:sp>
    <dsp:sp modelId="{5FE33F8F-5ACD-4C15-9A06-F6A442E37BDC}">
      <dsp:nvSpPr>
        <dsp:cNvPr id="0" name=""/>
        <dsp:cNvSpPr/>
      </dsp:nvSpPr>
      <dsp:spPr>
        <a:xfrm rot="10800000">
          <a:off x="0" y="2619"/>
          <a:ext cx="1728061" cy="987541"/>
        </a:xfrm>
        <a:prstGeom prst="upArrowCallout">
          <a:avLst>
            <a:gd name="adj1" fmla="val 5000"/>
            <a:gd name="adj2" fmla="val 10000"/>
            <a:gd name="adj3" fmla="val 15000"/>
            <a:gd name="adj4" fmla="val 64977"/>
          </a:avLst>
        </a:prstGeom>
        <a:gradFill rotWithShape="0">
          <a:gsLst>
            <a:gs pos="0">
              <a:schemeClr val="accent5">
                <a:hueOff val="-779532"/>
                <a:satOff val="7969"/>
                <a:lumOff val="-4314"/>
                <a:alphaOff val="0"/>
                <a:satMod val="103000"/>
                <a:lumMod val="102000"/>
                <a:tint val="94000"/>
              </a:schemeClr>
            </a:gs>
            <a:gs pos="50000">
              <a:schemeClr val="accent5">
                <a:hueOff val="-779532"/>
                <a:satOff val="7969"/>
                <a:lumOff val="-4314"/>
                <a:alphaOff val="0"/>
                <a:satMod val="110000"/>
                <a:lumMod val="100000"/>
                <a:shade val="100000"/>
              </a:schemeClr>
            </a:gs>
            <a:gs pos="100000">
              <a:schemeClr val="accent5">
                <a:hueOff val="-779532"/>
                <a:satOff val="7969"/>
                <a:lumOff val="-4314"/>
                <a:alphaOff val="0"/>
                <a:lumMod val="99000"/>
                <a:satMod val="120000"/>
                <a:shade val="78000"/>
              </a:schemeClr>
            </a:gs>
          </a:gsLst>
          <a:lin ang="5400000" scaled="0"/>
        </a:gradFill>
        <a:ln w="6350" cap="flat" cmpd="sng" algn="ctr">
          <a:solidFill>
            <a:schemeClr val="accent5">
              <a:hueOff val="-779532"/>
              <a:satOff val="7969"/>
              <a:lumOff val="-431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2900" tIns="156464" rIns="122900" bIns="156464" numCol="1" spcCol="1270" anchor="ctr" anchorCtr="0">
          <a:noAutofit/>
        </a:bodyPr>
        <a:lstStyle/>
        <a:p>
          <a:pPr marL="0" lvl="0" indent="0" algn="ctr" defTabSz="977900">
            <a:lnSpc>
              <a:spcPct val="90000"/>
            </a:lnSpc>
            <a:spcBef>
              <a:spcPct val="0"/>
            </a:spcBef>
            <a:spcAft>
              <a:spcPct val="35000"/>
            </a:spcAft>
            <a:buNone/>
          </a:pPr>
          <a:r>
            <a:rPr lang="en-US" sz="2200" kern="1200"/>
            <a:t>Set</a:t>
          </a:r>
        </a:p>
      </dsp:txBody>
      <dsp:txXfrm rot="-10800000">
        <a:off x="0" y="2619"/>
        <a:ext cx="1728061" cy="641901"/>
      </dsp:txXfrm>
    </dsp:sp>
    <dsp:sp modelId="{8EE01CB8-49AF-4F2C-A725-8B08A90D22FF}">
      <dsp:nvSpPr>
        <dsp:cNvPr id="0" name=""/>
        <dsp:cNvSpPr/>
      </dsp:nvSpPr>
      <dsp:spPr>
        <a:xfrm>
          <a:off x="1728061" y="2619"/>
          <a:ext cx="5184183" cy="641901"/>
        </a:xfrm>
        <a:prstGeom prst="rect">
          <a:avLst/>
        </a:prstGeom>
        <a:solidFill>
          <a:schemeClr val="accent5">
            <a:tint val="40000"/>
            <a:alpha val="90000"/>
            <a:hueOff val="-1212152"/>
            <a:satOff val="11617"/>
            <a:lumOff val="254"/>
            <a:alphaOff val="0"/>
          </a:schemeClr>
        </a:solidFill>
        <a:ln w="6350" cap="flat" cmpd="sng" algn="ctr">
          <a:solidFill>
            <a:schemeClr val="accent5">
              <a:tint val="40000"/>
              <a:alpha val="90000"/>
              <a:hueOff val="-1212152"/>
              <a:satOff val="11617"/>
              <a:lumOff val="25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160" tIns="152400" rIns="105160" bIns="152400" numCol="1" spcCol="1270" anchor="ctr" anchorCtr="0">
          <a:noAutofit/>
        </a:bodyPr>
        <a:lstStyle/>
        <a:p>
          <a:pPr marL="0" lvl="0" indent="0" algn="l" defTabSz="533400">
            <a:lnSpc>
              <a:spcPct val="90000"/>
            </a:lnSpc>
            <a:spcBef>
              <a:spcPct val="0"/>
            </a:spcBef>
            <a:spcAft>
              <a:spcPct val="35000"/>
            </a:spcAft>
            <a:buNone/>
          </a:pPr>
          <a:r>
            <a:rPr lang="en-US" sz="1200" kern="1200"/>
            <a:t>Set all gains to zero.</a:t>
          </a:r>
        </a:p>
      </dsp:txBody>
      <dsp:txXfrm>
        <a:off x="1728061" y="2619"/>
        <a:ext cx="5184183" cy="641901"/>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2A00B0-49D2-45B5-9A97-90E58515ADBC}"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F5E2E4-1AA8-463A-9254-F17A24940967}" type="slidenum">
              <a:rPr lang="en-US" smtClean="0"/>
              <a:t>‹#›</a:t>
            </a:fld>
            <a:endParaRPr lang="en-US"/>
          </a:p>
        </p:txBody>
      </p:sp>
    </p:spTree>
    <p:extLst>
      <p:ext uri="{BB962C8B-B14F-4D97-AF65-F5344CB8AC3E}">
        <p14:creationId xmlns:p14="http://schemas.microsoft.com/office/powerpoint/2010/main" val="3799992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Scavenging_(automotive)"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auto.howstuffworks.com/diesel.htm"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en.wikipedia.org/wiki/Spark_plug" TargetMode="External"/><Relationship Id="rId7" Type="http://schemas.openxmlformats.org/officeDocument/2006/relationships/hyperlink" Target="http://en.wikipedia.org/wiki/Diesel_fuel"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en.wikipedia.org/wiki/Aircraft" TargetMode="External"/><Relationship Id="rId5" Type="http://schemas.openxmlformats.org/officeDocument/2006/relationships/hyperlink" Target="http://en.wikipedia.org/wiki/Boat" TargetMode="External"/><Relationship Id="rId4" Type="http://schemas.openxmlformats.org/officeDocument/2006/relationships/hyperlink" Target="http://en.wikipedia.org/wiki/Internal_combustion_engine#cite_note-8"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en.wikipedia.org/wiki/Fuel_injection"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en.wikipedia.org/wiki/Ignition_timing"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seattletimes.com/business/technology/how-gasoline-direct-injection-engines-work/#:~:text=The%20direct%20injection%20process%20allows,can%20increase%20the%20compression%20ratio" TargetMode="External"/><Relationship Id="rId2" Type="http://schemas.openxmlformats.org/officeDocument/2006/relationships/slide" Target="../slides/slide42.xml"/><Relationship Id="rId1" Type="http://schemas.openxmlformats.org/officeDocument/2006/relationships/notesMaster" Target="../notesMasters/notesMaster1.xml"/><Relationship Id="rId4" Type="http://schemas.openxmlformats.org/officeDocument/2006/relationships/hyperlink" Target="https://www.roadandtrack.com/new-cars/a34054931/pre-chamber-ignition-system-explained/"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youtube.com/watch?v=IYWUWMmimjQ"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auto.howstuffworks.com/electromagnet.htm"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4</a:t>
            </a:fld>
            <a:endParaRPr lang="en-US"/>
          </a:p>
        </p:txBody>
      </p:sp>
    </p:spTree>
    <p:extLst>
      <p:ext uri="{BB962C8B-B14F-4D97-AF65-F5344CB8AC3E}">
        <p14:creationId xmlns:p14="http://schemas.microsoft.com/office/powerpoint/2010/main" val="1067300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DF5E2E4-1AA8-463A-9254-F17A24940967}" type="slidenum">
              <a:rPr lang="en-US" smtClean="0"/>
              <a:t>6</a:t>
            </a:fld>
            <a:endParaRPr lang="en-US"/>
          </a:p>
        </p:txBody>
      </p:sp>
    </p:spTree>
    <p:extLst>
      <p:ext uri="{BB962C8B-B14F-4D97-AF65-F5344CB8AC3E}">
        <p14:creationId xmlns:p14="http://schemas.microsoft.com/office/powerpoint/2010/main" val="1175390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8</a:t>
            </a:fld>
            <a:endParaRPr lang="en-US"/>
          </a:p>
        </p:txBody>
      </p:sp>
    </p:spTree>
    <p:extLst>
      <p:ext uri="{BB962C8B-B14F-4D97-AF65-F5344CB8AC3E}">
        <p14:creationId xmlns:p14="http://schemas.microsoft.com/office/powerpoint/2010/main" val="737002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9</a:t>
            </a:fld>
            <a:endParaRPr lang="en-US"/>
          </a:p>
        </p:txBody>
      </p:sp>
    </p:spTree>
    <p:extLst>
      <p:ext uri="{BB962C8B-B14F-4D97-AF65-F5344CB8AC3E}">
        <p14:creationId xmlns:p14="http://schemas.microsoft.com/office/powerpoint/2010/main" val="3612911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https://www.mathworks.com/videos/understanding-pid-control-part-2-expanding-beyond-a-simple-integral-1528310418260.html</a:t>
            </a:r>
          </a:p>
        </p:txBody>
      </p:sp>
      <p:sp>
        <p:nvSpPr>
          <p:cNvPr id="4" name="Slide Number Placeholder 3"/>
          <p:cNvSpPr>
            <a:spLocks noGrp="1"/>
          </p:cNvSpPr>
          <p:nvPr>
            <p:ph type="sldNum" sz="quarter" idx="5"/>
          </p:nvPr>
        </p:nvSpPr>
        <p:spPr/>
        <p:txBody>
          <a:bodyPr/>
          <a:lstStyle/>
          <a:p>
            <a:fld id="{1DF5E2E4-1AA8-463A-9254-F17A24940967}" type="slidenum">
              <a:rPr lang="en-US" smtClean="0"/>
              <a:t>10</a:t>
            </a:fld>
            <a:endParaRPr lang="en-US"/>
          </a:p>
        </p:txBody>
      </p:sp>
    </p:spTree>
    <p:extLst>
      <p:ext uri="{BB962C8B-B14F-4D97-AF65-F5344CB8AC3E}">
        <p14:creationId xmlns:p14="http://schemas.microsoft.com/office/powerpoint/2010/main" val="3196504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14</a:t>
            </a:fld>
            <a:endParaRPr lang="en-US"/>
          </a:p>
        </p:txBody>
      </p:sp>
    </p:spTree>
    <p:extLst>
      <p:ext uri="{BB962C8B-B14F-4D97-AF65-F5344CB8AC3E}">
        <p14:creationId xmlns:p14="http://schemas.microsoft.com/office/powerpoint/2010/main" val="3193045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8F3005-ADFD-4758-8290-149A3A6F8F02}" type="slidenum">
              <a:rPr lang="en-US" smtClean="0"/>
              <a:t>16</a:t>
            </a:fld>
            <a:endParaRPr lang="en-US" dirty="0"/>
          </a:p>
        </p:txBody>
      </p:sp>
    </p:spTree>
    <p:extLst>
      <p:ext uri="{BB962C8B-B14F-4D97-AF65-F5344CB8AC3E}">
        <p14:creationId xmlns:p14="http://schemas.microsoft.com/office/powerpoint/2010/main" val="1337164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Internal combustion means just what it says: that fuel is burned inside the engine. In a car engine, gasoline is burned inside the engine, which ignites the fuel and releases energy that moves the car. </a:t>
            </a:r>
          </a:p>
          <a:p>
            <a:r>
              <a:rPr lang="en-US" sz="1200" b="0" i="0" kern="1200" dirty="0">
                <a:solidFill>
                  <a:schemeClr val="tx1"/>
                </a:solidFill>
                <a:effectLst/>
                <a:latin typeface="+mn-lt"/>
                <a:ea typeface="+mn-ea"/>
                <a:cs typeface="+mn-cs"/>
              </a:rPr>
              <a:t>There are also other methods of internal combustion, such as diesel engines and gas turbine engines. </a:t>
            </a:r>
          </a:p>
          <a:p>
            <a:r>
              <a:rPr lang="en-US" sz="1200" b="0" i="0" kern="1200" dirty="0">
                <a:solidFill>
                  <a:schemeClr val="tx1"/>
                </a:solidFill>
                <a:effectLst/>
                <a:latin typeface="+mn-lt"/>
                <a:ea typeface="+mn-ea"/>
                <a:cs typeface="+mn-cs"/>
              </a:rPr>
              <a:t>Internal combustion is an efficient system that requires a relatively small engine to create motion. </a:t>
            </a:r>
          </a:p>
          <a:p>
            <a:r>
              <a:rPr lang="en-US" sz="1200" b="0" i="0" kern="1200" dirty="0">
                <a:solidFill>
                  <a:schemeClr val="tx1"/>
                </a:solidFill>
                <a:effectLst/>
                <a:latin typeface="+mn-lt"/>
                <a:ea typeface="+mn-ea"/>
                <a:cs typeface="+mn-cs"/>
              </a:rPr>
              <a:t>It is also more fuel efficient than external combustion engines, such as an old-fashioned steam engine.</a:t>
            </a:r>
          </a:p>
          <a:p>
            <a:r>
              <a:rPr lang="en-US" sz="1200" b="0" i="0" kern="1200" dirty="0">
                <a:solidFill>
                  <a:schemeClr val="tx1"/>
                </a:solidFill>
                <a:effectLst/>
                <a:latin typeface="+mn-lt"/>
                <a:ea typeface="+mn-ea"/>
                <a:cs typeface="+mn-cs"/>
              </a:rPr>
              <a:t>Gasoline engines used to be as inefficient as steam engines.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 two-stroke engine, the end of the combustion stroke and the beginning of the compression stroke happen simultaneously, with the intake and exhaust (or </a:t>
            </a:r>
            <a:r>
              <a:rPr lang="en-US" sz="1200" b="0" i="0" u="none" strike="noStrike" kern="1200" dirty="0">
                <a:solidFill>
                  <a:schemeClr val="tx1"/>
                </a:solidFill>
                <a:effectLst/>
                <a:latin typeface="+mn-lt"/>
                <a:ea typeface="+mn-ea"/>
                <a:cs typeface="+mn-cs"/>
                <a:hlinkClick r:id="rId3" tooltip="Scavenging (automotive)"/>
              </a:rPr>
              <a:t>scavenging</a:t>
            </a:r>
            <a:r>
              <a:rPr lang="en-US" sz="1200" b="0" i="0" kern="1200" dirty="0">
                <a:solidFill>
                  <a:schemeClr val="tx1"/>
                </a:solidFill>
                <a:effectLst/>
                <a:latin typeface="+mn-lt"/>
                <a:ea typeface="+mn-ea"/>
                <a:cs typeface="+mn-cs"/>
              </a:rPr>
              <a:t>) functions occurring at the same time. https://www.youtube.com/watch?v=Z6YC3I54so4</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1876 (Gottlieb Daimler</a:t>
            </a:r>
          </a:p>
          <a:p>
            <a:r>
              <a:rPr lang="en-US" sz="1200" b="0" i="0" kern="1200" dirty="0">
                <a:solidFill>
                  <a:schemeClr val="tx1"/>
                </a:solidFill>
                <a:effectLst/>
                <a:latin typeface="+mn-lt"/>
                <a:ea typeface="+mn-ea"/>
                <a:cs typeface="+mn-cs"/>
              </a:rPr>
              <a:t>) the gasoline engine was invented and it was no more efficient than the steam engine, which used external combustion. A lot of fuel was wasted. In 1878, Rudolph Diesel decided to develop an engine with higher efficiency, and in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1892 the </a:t>
            </a:r>
            <a:r>
              <a:rPr lang="en-US" sz="1200" b="0" i="0" u="none" strike="noStrike" kern="1200" dirty="0">
                <a:solidFill>
                  <a:schemeClr val="tx1"/>
                </a:solidFill>
                <a:effectLst/>
                <a:latin typeface="+mn-lt"/>
                <a:ea typeface="+mn-ea"/>
                <a:cs typeface="+mn-cs"/>
                <a:hlinkClick r:id="rId4"/>
              </a:rPr>
              <a:t>diesel engine</a:t>
            </a:r>
            <a:r>
              <a:rPr lang="en-US" sz="1200" b="0" i="0" kern="1200" dirty="0">
                <a:solidFill>
                  <a:schemeClr val="tx1"/>
                </a:solidFill>
                <a:effectLst/>
                <a:latin typeface="+mn-lt"/>
                <a:ea typeface="+mn-ea"/>
                <a:cs typeface="+mn-cs"/>
              </a:rPr>
              <a:t> was born. It was more efficient as an internal combustion engine, but it took many more years to develop a diesel engine that was cleaner and quieter. </a:t>
            </a:r>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19</a:t>
            </a:fld>
            <a:endParaRPr lang="en-US"/>
          </a:p>
        </p:txBody>
      </p:sp>
    </p:spTree>
    <p:extLst>
      <p:ext uri="{BB962C8B-B14F-4D97-AF65-F5344CB8AC3E}">
        <p14:creationId xmlns:p14="http://schemas.microsoft.com/office/powerpoint/2010/main" val="1163823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Engines based on the four-stroke ("Otto cycle") have one power stroke for every four strokes (up-down-up-down) and employ </a:t>
            </a:r>
            <a:r>
              <a:rPr lang="en-US" sz="1200" b="0" i="0" u="none" strike="noStrike" kern="1200" dirty="0">
                <a:solidFill>
                  <a:schemeClr val="tx1"/>
                </a:solidFill>
                <a:effectLst/>
                <a:latin typeface="+mn-lt"/>
                <a:ea typeface="+mn-ea"/>
                <a:cs typeface="+mn-cs"/>
                <a:hlinkClick r:id="rId3" tooltip="Spark plug"/>
              </a:rPr>
              <a:t>spark plug</a:t>
            </a:r>
            <a:r>
              <a:rPr lang="en-US" sz="1200" b="0" i="0" kern="1200" dirty="0">
                <a:solidFill>
                  <a:schemeClr val="tx1"/>
                </a:solidFill>
                <a:effectLst/>
                <a:latin typeface="+mn-lt"/>
                <a:ea typeface="+mn-ea"/>
                <a:cs typeface="+mn-cs"/>
              </a:rPr>
              <a:t> ignition. Combustion occurs rapidly, and during combustion the volume varies little ("constant volume").</a:t>
            </a:r>
            <a:r>
              <a:rPr lang="en-US" sz="1200" b="0" i="0" u="none" strike="noStrike" kern="1200" baseline="30000" dirty="0">
                <a:solidFill>
                  <a:schemeClr val="tx1"/>
                </a:solidFill>
                <a:effectLst/>
                <a:latin typeface="+mn-lt"/>
                <a:ea typeface="+mn-ea"/>
                <a:cs typeface="+mn-cs"/>
                <a:hlinkClick r:id="rId4"/>
              </a:rPr>
              <a:t>[8]</a:t>
            </a:r>
            <a:r>
              <a:rPr lang="en-US" sz="1200" b="0" i="0" kern="1200" dirty="0">
                <a:solidFill>
                  <a:schemeClr val="tx1"/>
                </a:solidFill>
                <a:effectLst/>
                <a:latin typeface="+mn-lt"/>
                <a:ea typeface="+mn-ea"/>
                <a:cs typeface="+mn-cs"/>
              </a:rPr>
              <a:t> They are used in cars, larger </a:t>
            </a:r>
            <a:r>
              <a:rPr lang="en-US" sz="1200" b="0" i="0" u="none" strike="noStrike" kern="1200" dirty="0">
                <a:solidFill>
                  <a:schemeClr val="tx1"/>
                </a:solidFill>
                <a:effectLst/>
                <a:latin typeface="+mn-lt"/>
                <a:ea typeface="+mn-ea"/>
                <a:cs typeface="+mn-cs"/>
                <a:hlinkClick r:id="rId5" tooltip="Boat"/>
              </a:rPr>
              <a:t>boats</a:t>
            </a:r>
            <a:r>
              <a:rPr lang="en-US" sz="1200" b="0" i="0" kern="1200" dirty="0">
                <a:solidFill>
                  <a:schemeClr val="tx1"/>
                </a:solidFill>
                <a:effectLst/>
                <a:latin typeface="+mn-lt"/>
                <a:ea typeface="+mn-ea"/>
                <a:cs typeface="+mn-cs"/>
              </a:rPr>
              <a:t>, some motorcycles, and many light </a:t>
            </a:r>
            <a:r>
              <a:rPr lang="en-US" sz="1200" b="0" i="0" u="none" strike="noStrike" kern="1200" dirty="0">
                <a:solidFill>
                  <a:schemeClr val="tx1"/>
                </a:solidFill>
                <a:effectLst/>
                <a:latin typeface="+mn-lt"/>
                <a:ea typeface="+mn-ea"/>
                <a:cs typeface="+mn-cs"/>
                <a:hlinkClick r:id="rId6" tooltip="Aircraft"/>
              </a:rPr>
              <a:t>aircraft</a:t>
            </a:r>
            <a:r>
              <a:rPr lang="en-US" sz="1200" b="0" i="0" kern="1200" dirty="0">
                <a:solidFill>
                  <a:schemeClr val="tx1"/>
                </a:solidFill>
                <a:effectLst/>
                <a:latin typeface="+mn-lt"/>
                <a:ea typeface="+mn-ea"/>
                <a:cs typeface="+mn-cs"/>
              </a:rPr>
              <a:t>. They are generally quieter, more efficient, and larger than their two-stroke counterparts.</a:t>
            </a:r>
          </a:p>
          <a:p>
            <a:r>
              <a:rPr lang="en-US" sz="1200" b="0" i="0" kern="1200" dirty="0">
                <a:solidFill>
                  <a:schemeClr val="tx1"/>
                </a:solidFill>
                <a:effectLst/>
                <a:latin typeface="+mn-lt"/>
                <a:ea typeface="+mn-ea"/>
                <a:cs typeface="+mn-cs"/>
              </a:rPr>
              <a:t>Most truck and automotive diesel engines use a cycle reminiscent of a four-stroke cycle, but with a compression heating ignition system, rather than needing a separate ignition system. This variation is called the diesel cycle. In the diesel cycle, </a:t>
            </a:r>
            <a:r>
              <a:rPr lang="en-US" sz="1200" b="0" i="0" u="none" strike="noStrike" kern="1200" dirty="0">
                <a:solidFill>
                  <a:schemeClr val="tx1"/>
                </a:solidFill>
                <a:effectLst/>
                <a:latin typeface="+mn-lt"/>
                <a:ea typeface="+mn-ea"/>
                <a:cs typeface="+mn-cs"/>
                <a:hlinkClick r:id="rId7" tooltip="Diesel fuel"/>
              </a:rPr>
              <a:t>diesel fuel</a:t>
            </a:r>
            <a:r>
              <a:rPr lang="en-US" sz="1200" b="0" i="0" kern="1200" dirty="0">
                <a:solidFill>
                  <a:schemeClr val="tx1"/>
                </a:solidFill>
                <a:effectLst/>
                <a:latin typeface="+mn-lt"/>
                <a:ea typeface="+mn-ea"/>
                <a:cs typeface="+mn-cs"/>
              </a:rPr>
              <a:t> is injected directly into the cylinder so that combustion occurs at constant pressure, as the piston moves.</a:t>
            </a:r>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20</a:t>
            </a:fld>
            <a:endParaRPr lang="en-US"/>
          </a:p>
        </p:txBody>
      </p:sp>
    </p:spTree>
    <p:extLst>
      <p:ext uri="{BB962C8B-B14F-4D97-AF65-F5344CB8AC3E}">
        <p14:creationId xmlns:p14="http://schemas.microsoft.com/office/powerpoint/2010/main" val="3293031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https://youtu.be/DZt5xU44IfQ?t=88</a:t>
            </a:r>
          </a:p>
        </p:txBody>
      </p:sp>
      <p:sp>
        <p:nvSpPr>
          <p:cNvPr id="4" name="Slide Number Placeholder 3"/>
          <p:cNvSpPr>
            <a:spLocks noGrp="1"/>
          </p:cNvSpPr>
          <p:nvPr>
            <p:ph type="sldNum" sz="quarter" idx="5"/>
          </p:nvPr>
        </p:nvSpPr>
        <p:spPr/>
        <p:txBody>
          <a:bodyPr/>
          <a:lstStyle/>
          <a:p>
            <a:fld id="{1DF5E2E4-1AA8-463A-9254-F17A24940967}" type="slidenum">
              <a:rPr lang="en-US" smtClean="0"/>
              <a:t>22</a:t>
            </a:fld>
            <a:endParaRPr lang="en-US"/>
          </a:p>
        </p:txBody>
      </p:sp>
    </p:spTree>
    <p:extLst>
      <p:ext uri="{BB962C8B-B14F-4D97-AF65-F5344CB8AC3E}">
        <p14:creationId xmlns:p14="http://schemas.microsoft.com/office/powerpoint/2010/main" val="441701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https://www.youtube.com/watch?v=h5Ug-U-Rsts&amp;ab_channel=TutorialsPoint%28India%29Ltd.</a:t>
            </a:r>
          </a:p>
        </p:txBody>
      </p:sp>
      <p:sp>
        <p:nvSpPr>
          <p:cNvPr id="4" name="Slide Number Placeholder 3"/>
          <p:cNvSpPr>
            <a:spLocks noGrp="1"/>
          </p:cNvSpPr>
          <p:nvPr>
            <p:ph type="sldNum" sz="quarter" idx="5"/>
          </p:nvPr>
        </p:nvSpPr>
        <p:spPr/>
        <p:txBody>
          <a:bodyPr/>
          <a:lstStyle/>
          <a:p>
            <a:fld id="{1DF5E2E4-1AA8-463A-9254-F17A24940967}" type="slidenum">
              <a:rPr lang="en-US" smtClean="0"/>
              <a:t>23</a:t>
            </a:fld>
            <a:endParaRPr lang="en-US"/>
          </a:p>
        </p:txBody>
      </p:sp>
    </p:spTree>
    <p:extLst>
      <p:ext uri="{BB962C8B-B14F-4D97-AF65-F5344CB8AC3E}">
        <p14:creationId xmlns:p14="http://schemas.microsoft.com/office/powerpoint/2010/main" val="3683334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~adjust the </a:t>
            </a:r>
            <a:r>
              <a:rPr lang="en-US" sz="1200" b="0" i="0" u="none" strike="noStrike" kern="1200" dirty="0">
                <a:solidFill>
                  <a:schemeClr val="tx1"/>
                </a:solidFill>
                <a:effectLst/>
                <a:latin typeface="+mn-lt"/>
                <a:ea typeface="+mn-ea"/>
                <a:cs typeface="+mn-cs"/>
                <a:hlinkClick r:id="rId3" tooltip="Fuel injection"/>
              </a:rPr>
              <a:t>fuel injection</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4" tooltip="Ignition timing"/>
              </a:rPr>
              <a:t>ignition timing</a:t>
            </a:r>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a:t>
            </a:r>
            <a:r>
              <a:rPr lang="en-US" sz="1200" b="0" i="0" u="none" strike="noStrike" kern="1200" baseline="0" dirty="0">
                <a:solidFill>
                  <a:schemeClr val="tx1"/>
                </a:solidFill>
                <a:effectLst/>
                <a:latin typeface="+mn-lt"/>
                <a:ea typeface="+mn-ea"/>
                <a:cs typeface="+mn-cs"/>
              </a:rPr>
              <a:t> </a:t>
            </a:r>
            <a:r>
              <a:rPr lang="en-US" sz="1200" b="0" i="0" u="none" strike="noStrike" kern="1200" baseline="0" dirty="0" err="1">
                <a:solidFill>
                  <a:schemeClr val="tx1"/>
                </a:solidFill>
                <a:effectLst/>
                <a:latin typeface="+mn-lt"/>
                <a:ea typeface="+mn-ea"/>
                <a:cs typeface="+mn-cs"/>
              </a:rPr>
              <a:t>Speek</a:t>
            </a:r>
            <a:r>
              <a:rPr lang="en-US" sz="1200" b="0" i="0" u="none" strike="noStrike" kern="1200" baseline="0" dirty="0">
                <a:solidFill>
                  <a:schemeClr val="tx1"/>
                </a:solidFill>
                <a:effectLst/>
                <a:latin typeface="+mn-lt"/>
                <a:ea typeface="+mn-ea"/>
                <a:cs typeface="+mn-cs"/>
              </a:rPr>
              <a:t> about ecology (additional sensors)</a:t>
            </a:r>
          </a:p>
          <a:p>
            <a:endParaRPr lang="en-US" sz="1200" b="0" i="0" u="none" strike="noStrike" kern="1200" baseline="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24</a:t>
            </a:fld>
            <a:endParaRPr lang="en-US"/>
          </a:p>
        </p:txBody>
      </p:sp>
    </p:spTree>
    <p:extLst>
      <p:ext uri="{BB962C8B-B14F-4D97-AF65-F5344CB8AC3E}">
        <p14:creationId xmlns:p14="http://schemas.microsoft.com/office/powerpoint/2010/main" val="2548822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DF5E2E4-1AA8-463A-9254-F17A24940967}" type="slidenum">
              <a:rPr lang="en-US" smtClean="0"/>
              <a:t>30</a:t>
            </a:fld>
            <a:endParaRPr lang="en-US"/>
          </a:p>
        </p:txBody>
      </p:sp>
    </p:spTree>
    <p:extLst>
      <p:ext uri="{BB962C8B-B14F-4D97-AF65-F5344CB8AC3E}">
        <p14:creationId xmlns:p14="http://schemas.microsoft.com/office/powerpoint/2010/main" val="2321043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a:t>
            </a:r>
            <a:r>
              <a:rPr lang="en-US" dirty="0"/>
              <a:t>=V/R</a:t>
            </a:r>
          </a:p>
          <a:p>
            <a:r>
              <a:rPr lang="en-US" dirty="0"/>
              <a:t>Cold air has more oxygen …. </a:t>
            </a:r>
            <a:r>
              <a:rPr lang="en-US" dirty="0" err="1"/>
              <a:t>Temperaturesensor</a:t>
            </a:r>
            <a:endParaRPr lang="en-US" dirty="0"/>
          </a:p>
          <a:p>
            <a:r>
              <a:rPr lang="en-US" dirty="0"/>
              <a:t>Drawbacks</a:t>
            </a:r>
            <a:r>
              <a:rPr lang="en-US" baseline="0" dirty="0"/>
              <a:t> – inertia….. Gravity……</a:t>
            </a:r>
          </a:p>
          <a:p>
            <a:r>
              <a:rPr lang="en-US" baseline="0" dirty="0"/>
              <a:t>Manifold Absolute </a:t>
            </a:r>
            <a:r>
              <a:rPr lang="en-US" baseline="0" dirty="0" err="1"/>
              <a:t>PresureSensor</a:t>
            </a:r>
            <a:r>
              <a:rPr lang="en-US" baseline="0" dirty="0"/>
              <a:t>, flexible silicon chip , change </a:t>
            </a:r>
            <a:r>
              <a:rPr lang="en-US" baseline="0" dirty="0" err="1"/>
              <a:t>valtage</a:t>
            </a:r>
            <a:r>
              <a:rPr lang="en-US" baseline="0" dirty="0"/>
              <a:t> based on banding</a:t>
            </a:r>
          </a:p>
          <a:p>
            <a:r>
              <a:rPr lang="en-US" baseline="0" dirty="0"/>
              <a:t>Accelerate – less vacuum , increase </a:t>
            </a:r>
            <a:r>
              <a:rPr lang="en-US" baseline="0" dirty="0" err="1"/>
              <a:t>preasue</a:t>
            </a:r>
            <a:r>
              <a:rPr lang="en-US" baseline="0" dirty="0"/>
              <a:t> in intake </a:t>
            </a:r>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37</a:t>
            </a:fld>
            <a:endParaRPr lang="en-US"/>
          </a:p>
        </p:txBody>
      </p:sp>
    </p:spTree>
    <p:extLst>
      <p:ext uri="{BB962C8B-B14F-4D97-AF65-F5344CB8AC3E}">
        <p14:creationId xmlns:p14="http://schemas.microsoft.com/office/powerpoint/2010/main" val="372903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41</a:t>
            </a:fld>
            <a:endParaRPr lang="en-US"/>
          </a:p>
        </p:txBody>
      </p:sp>
    </p:spTree>
    <p:extLst>
      <p:ext uri="{BB962C8B-B14F-4D97-AF65-F5344CB8AC3E}">
        <p14:creationId xmlns:p14="http://schemas.microsoft.com/office/powerpoint/2010/main" val="2689915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key technologies making gasoline direct injection possible is new piezoelectric fuel injectors. They are extremely precise and extremely fast. They also provide an unexpected side-effect in some cases. With these injectors, it is possible to start a warm engine without using the starter motor. The computer can find a cylinder that has its piston in the right position, inject fuel and fire it to start the engine. This stop-start ability should make it much easier for car manufacturers to create cars that no longer need to idle at traffic lights, saving a lot of fuel (and eliminating lots of urban pollution) in stop-and-go  traffic. </a:t>
            </a:r>
            <a:r>
              <a:rPr lang="en-US" dirty="0">
                <a:hlinkClick r:id="rId3"/>
              </a:rPr>
              <a:t>https://www.seattletimes.com/business/technology/how-gasoline-direct-injection-engines-work/#:~:text=The%20direct%20injection%20process%20allows,can%20increase%20the%20compression%20ratio</a:t>
            </a:r>
            <a:r>
              <a:rPr lang="en-US" dirty="0"/>
              <a:t>.</a:t>
            </a:r>
          </a:p>
          <a:p>
            <a:endParaRPr lang="en-US" dirty="0">
              <a:cs typeface="Calibri"/>
            </a:endParaRPr>
          </a:p>
          <a:p>
            <a:r>
              <a:rPr lang="en-US" dirty="0">
                <a:hlinkClick r:id="rId4"/>
              </a:rPr>
              <a:t>https://www.roadandtrack.com/new-cars/a34054931/pre-chamber-ignition-system-explained/</a:t>
            </a:r>
          </a:p>
          <a:p>
            <a:endParaRPr lang="en-US" dirty="0"/>
          </a:p>
        </p:txBody>
      </p:sp>
      <p:sp>
        <p:nvSpPr>
          <p:cNvPr id="4" name="Slide Number Placeholder 3"/>
          <p:cNvSpPr>
            <a:spLocks noGrp="1"/>
          </p:cNvSpPr>
          <p:nvPr>
            <p:ph type="sldNum" sz="quarter" idx="5"/>
          </p:nvPr>
        </p:nvSpPr>
        <p:spPr/>
        <p:txBody>
          <a:bodyPr/>
          <a:lstStyle/>
          <a:p>
            <a:fld id="{1DF5E2E4-1AA8-463A-9254-F17A24940967}" type="slidenum">
              <a:rPr lang="en-US" smtClean="0"/>
              <a:t>42</a:t>
            </a:fld>
            <a:endParaRPr lang="en-US"/>
          </a:p>
        </p:txBody>
      </p:sp>
    </p:spTree>
    <p:extLst>
      <p:ext uri="{BB962C8B-B14F-4D97-AF65-F5344CB8AC3E}">
        <p14:creationId xmlns:p14="http://schemas.microsoft.com/office/powerpoint/2010/main" val="1983068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http://www.youtube.com/watch?v=IYWUWMmimjQ</a:t>
            </a:r>
            <a:endParaRPr lang="en-US" dirty="0"/>
          </a:p>
          <a:p>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47</a:t>
            </a:fld>
            <a:endParaRPr lang="en-US"/>
          </a:p>
        </p:txBody>
      </p:sp>
    </p:spTree>
    <p:extLst>
      <p:ext uri="{BB962C8B-B14F-4D97-AF65-F5344CB8AC3E}">
        <p14:creationId xmlns:p14="http://schemas.microsoft.com/office/powerpoint/2010/main" val="1530329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DF5E2E4-1AA8-463A-9254-F17A24940967}" type="slidenum">
              <a:rPr lang="en-US" smtClean="0"/>
              <a:t>52</a:t>
            </a:fld>
            <a:endParaRPr lang="en-US"/>
          </a:p>
        </p:txBody>
      </p:sp>
    </p:spTree>
    <p:extLst>
      <p:ext uri="{BB962C8B-B14F-4D97-AF65-F5344CB8AC3E}">
        <p14:creationId xmlns:p14="http://schemas.microsoft.com/office/powerpoint/2010/main" val="24066545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think the coil looks like an </a:t>
            </a:r>
            <a:r>
              <a:rPr lang="en-US" dirty="0">
                <a:hlinkClick r:id="rId3"/>
              </a:rPr>
              <a:t>electromagnet</a:t>
            </a:r>
            <a:r>
              <a:rPr lang="en-US" dirty="0"/>
              <a:t>, you're right -- but it is also an inductor. The key to the coil's operation is what happens when the circuit is suddenly broken by the points. The magnetic field of the primary coil collapses rapidly. The secondary coil is engulfed by a powerful and changing magnetic field. This field induces a current in the coils -- a very high-voltage current (up to 100,000 volts) because of the number of coils in the secondary winding. The secondary coil feeds this voltage to the distributor via a very well insulated, high-voltage wire. </a:t>
            </a:r>
          </a:p>
        </p:txBody>
      </p:sp>
      <p:sp>
        <p:nvSpPr>
          <p:cNvPr id="4" name="Slide Number Placeholder 3"/>
          <p:cNvSpPr>
            <a:spLocks noGrp="1"/>
          </p:cNvSpPr>
          <p:nvPr>
            <p:ph type="sldNum" sz="quarter" idx="10"/>
          </p:nvPr>
        </p:nvSpPr>
        <p:spPr/>
        <p:txBody>
          <a:bodyPr/>
          <a:lstStyle/>
          <a:p>
            <a:fld id="{1DF5E2E4-1AA8-463A-9254-F17A24940967}" type="slidenum">
              <a:rPr lang="en-US" smtClean="0"/>
              <a:t>53</a:t>
            </a:fld>
            <a:endParaRPr lang="en-US"/>
          </a:p>
        </p:txBody>
      </p:sp>
    </p:spTree>
    <p:extLst>
      <p:ext uri="{BB962C8B-B14F-4D97-AF65-F5344CB8AC3E}">
        <p14:creationId xmlns:p14="http://schemas.microsoft.com/office/powerpoint/2010/main" val="2006916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F5E2E4-1AA8-463A-9254-F17A24940967}" type="slidenum">
              <a:rPr lang="en-US" smtClean="0"/>
              <a:t>54</a:t>
            </a:fld>
            <a:endParaRPr lang="en-US"/>
          </a:p>
        </p:txBody>
      </p:sp>
    </p:spTree>
    <p:extLst>
      <p:ext uri="{BB962C8B-B14F-4D97-AF65-F5344CB8AC3E}">
        <p14:creationId xmlns:p14="http://schemas.microsoft.com/office/powerpoint/2010/main" val="4159771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CD19FB2-3AAB-4D03-B13A-2960828C78E3}" type="datetimeFigureOut">
              <a:rPr lang="en-US" dirty="0"/>
              <a:t>10/20/2025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16976-5D93-46E4-A98A-FAD63E4D0EA8}" type="datetimeFigureOut">
              <a:rPr lang="en-US" dirty="0"/>
              <a:t>10/20/2025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39F4F5-F4D2-4D2A-AB60-88D37ADCB869}" type="datetimeFigureOut">
              <a:rPr lang="en-US" dirty="0"/>
              <a:t>10/20/2025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3BC6CE-6D1E-47E5-8859-F31AC5380EB2}" type="datetimeFigureOut">
              <a:rPr lang="en-US" dirty="0"/>
              <a:t>10/20/2025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B4E7C4-4DA4-404D-9965-B13F2DD7D8BF}" type="datetimeFigureOut">
              <a:rPr lang="en-US" dirty="0"/>
              <a:t>10/20/2025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6FB7AA-4A53-424F-AD41-70827B6504BA}" type="datetimeFigureOut">
              <a:rPr lang="en-US" dirty="0"/>
              <a:t>10/20/2025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84882-FB12-4BC8-9960-9AD8104D7FAE}" type="datetimeFigureOut">
              <a:rPr lang="en-US" dirty="0"/>
              <a:t>10/20/2025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D1BD23-6E54-4D9D-AD88-A2813C73CC25}" type="datetimeFigureOut">
              <a:rPr lang="en-US" dirty="0"/>
              <a:t>10/20/2025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71A834-4F3C-4AF9-9C74-05EC35A0F292}" type="datetimeFigureOut">
              <a:rPr lang="en-US" dirty="0"/>
              <a:t>10/20/2025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80C674-7DFC-42FE-B9CD-82963CDB1557}" type="datetimeFigureOut">
              <a:rPr lang="en-US" dirty="0"/>
              <a:t>10/20/2025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76456F-F47D-4F25-8053-2A695DA0CA7D}" type="datetimeFigureOut">
              <a:rPr lang="en-US" dirty="0"/>
              <a:t>10/20/2025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6C7379-69CC-4837-9905-BEBA22830C8A}" type="datetimeFigureOut">
              <a:rPr lang="en-US" dirty="0"/>
              <a:t>10/20/2025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EB8B7E-8AEE-4F10-BFEE-C999AD004D36}" type="datetimeFigureOut">
              <a:rPr lang="en-US" dirty="0"/>
              <a:t>10/20/2025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68F3F9-58BC-440B-B37B-805B9055EF92}" type="datetimeFigureOut">
              <a:rPr lang="en-US" dirty="0"/>
              <a:t>10/20/2025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D5A53AF-48EA-489D-8260-9DCAB666386A}" type="datetimeFigureOut">
              <a:rPr lang="en-US" dirty="0"/>
              <a:t>10/20/2025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D02AE-B9A4-47BD-AF8E-97E16144138B}" type="datetimeFigureOut">
              <a:rPr lang="en-US" dirty="0"/>
              <a:t>10/20/2025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FD78B-DB02-4362-BCDC-98A55456977C}" type="datetimeFigureOut">
              <a:rPr lang="en-US" dirty="0"/>
              <a:t>10/20/2025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1CF1133-3259-4C45-BABA-5B62D9C6F78D}" type="datetimeFigureOut">
              <a:rPr lang="en-US" dirty="0"/>
              <a:t>10/20/2025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en-US" dirty="0"/>
              <a:t>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9.png"/><Relationship Id="rId7" Type="http://schemas.openxmlformats.org/officeDocument/2006/relationships/image" Target="../media/image16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19.jpeg"/><Relationship Id="rId9" Type="http://schemas.openxmlformats.org/officeDocument/2006/relationships/image" Target="../media/image18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en.wikipedia.org/wiki/Adiabatic_process" TargetMode="External"/><Relationship Id="rId4" Type="http://schemas.openxmlformats.org/officeDocument/2006/relationships/hyperlink" Target="https://merchantnavydecoded.com/two-stroke-engin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3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7.emf"/></Relationships>
</file>

<file path=ppt/slides/_rels/slide48.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3.xml.rels><?xml version="1.0" encoding="UTF-8" standalone="yes"?>
<Relationships xmlns="http://schemas.openxmlformats.org/package/2006/relationships"><Relationship Id="rId3" Type="http://schemas.openxmlformats.org/officeDocument/2006/relationships/image" Target="../media/image68.gif"/><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7.emf"/><Relationship Id="rId4" Type="http://schemas.openxmlformats.org/officeDocument/2006/relationships/image" Target="../media/image69.emf"/></Relationships>
</file>

<file path=ppt/slides/_rels/slide54.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72.jpeg"/><Relationship Id="rId4" Type="http://schemas.openxmlformats.org/officeDocument/2006/relationships/image" Target="../media/image71.png"/></Relationships>
</file>

<file path=ppt/slides/_rels/slide5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73.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2.xml"/><Relationship Id="rId4" Type="http://schemas.openxmlformats.org/officeDocument/2006/relationships/image" Target="../media/image79.jpeg"/></Relationships>
</file>

<file path=ppt/slides/_rels/slide5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Engine Control System</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05191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system</a:t>
            </a:r>
          </a:p>
        </p:txBody>
      </p:sp>
      <p:sp>
        <p:nvSpPr>
          <p:cNvPr id="3" name="Content Placeholder 2"/>
          <p:cNvSpPr>
            <a:spLocks noGrp="1"/>
          </p:cNvSpPr>
          <p:nvPr>
            <p:ph idx="1"/>
          </p:nvPr>
        </p:nvSpPr>
        <p:spPr>
          <a:xfrm>
            <a:off x="537328" y="1451728"/>
            <a:ext cx="10816472" cy="4725235"/>
          </a:xfrm>
        </p:spPr>
        <p:txBody>
          <a:bodyPr vert="horz" lIns="91440" tIns="45720" rIns="91440" bIns="45720" rtlCol="0" anchor="t">
            <a:normAutofit fontScale="85000" lnSpcReduction="20000"/>
          </a:bodyPr>
          <a:lstStyle/>
          <a:p>
            <a:r>
              <a:rPr lang="en-US" dirty="0">
                <a:solidFill>
                  <a:schemeClr val="tx1"/>
                </a:solidFill>
              </a:rPr>
              <a:t>A </a:t>
            </a:r>
            <a:r>
              <a:rPr lang="en-US" b="1" dirty="0">
                <a:solidFill>
                  <a:schemeClr val="tx1"/>
                </a:solidFill>
              </a:rPr>
              <a:t>system</a:t>
            </a:r>
            <a:r>
              <a:rPr lang="en-US" dirty="0">
                <a:solidFill>
                  <a:schemeClr val="tx1"/>
                </a:solidFill>
              </a:rPr>
              <a:t> is a set of interacting or interdependent components forming an integrated whole</a:t>
            </a:r>
            <a:endParaRPr lang="en-US" baseline="30000">
              <a:solidFill>
                <a:schemeClr val="tx1"/>
              </a:solidFill>
            </a:endParaRPr>
          </a:p>
          <a:p>
            <a:pPr lvl="1"/>
            <a:r>
              <a:rPr lang="en-US" dirty="0">
                <a:solidFill>
                  <a:schemeClr val="tx1"/>
                </a:solidFill>
              </a:rPr>
              <a:t>A system has </a:t>
            </a:r>
            <a:r>
              <a:rPr lang="en-US" b="1" dirty="0">
                <a:solidFill>
                  <a:schemeClr val="tx1"/>
                </a:solidFill>
              </a:rPr>
              <a:t>structure</a:t>
            </a:r>
            <a:r>
              <a:rPr lang="en-US" dirty="0">
                <a:solidFill>
                  <a:schemeClr val="tx1"/>
                </a:solidFill>
              </a:rPr>
              <a:t>, it contains parts (or components) that are directly or indirectly related to each other;</a:t>
            </a:r>
          </a:p>
          <a:p>
            <a:pPr lvl="1"/>
            <a:r>
              <a:rPr lang="en-US" dirty="0">
                <a:solidFill>
                  <a:schemeClr val="tx1"/>
                </a:solidFill>
              </a:rPr>
              <a:t>A system has </a:t>
            </a:r>
            <a:r>
              <a:rPr lang="en-US" b="1" dirty="0">
                <a:solidFill>
                  <a:schemeClr val="tx1"/>
                </a:solidFill>
              </a:rPr>
              <a:t>behavior</a:t>
            </a:r>
            <a:r>
              <a:rPr lang="en-US" dirty="0">
                <a:solidFill>
                  <a:schemeClr val="tx1"/>
                </a:solidFill>
              </a:rPr>
              <a:t>, it contains processes that transform inputs into outputs (material, energy or data);</a:t>
            </a:r>
          </a:p>
          <a:p>
            <a:pPr lvl="1"/>
            <a:r>
              <a:rPr lang="en-US" dirty="0">
                <a:solidFill>
                  <a:schemeClr val="tx1"/>
                </a:solidFill>
              </a:rPr>
              <a:t>A system has </a:t>
            </a:r>
            <a:r>
              <a:rPr lang="en-US" b="1" dirty="0">
                <a:solidFill>
                  <a:schemeClr val="tx1"/>
                </a:solidFill>
              </a:rPr>
              <a:t>interconnectivity</a:t>
            </a:r>
            <a:r>
              <a:rPr lang="en-US" dirty="0">
                <a:solidFill>
                  <a:schemeClr val="tx1"/>
                </a:solidFill>
              </a:rPr>
              <a:t>: the parts and processes are connected by structural and/or behavioral relationships.</a:t>
            </a:r>
          </a:p>
          <a:p>
            <a:pPr lvl="1"/>
            <a:r>
              <a:rPr lang="en-US" dirty="0">
                <a:solidFill>
                  <a:schemeClr val="tx1"/>
                </a:solidFill>
              </a:rPr>
              <a:t>A system's structure and behavior may be decomposed via subsystems and sub-processes to elementary parts and process steps. (“Divide and Conquer”)</a:t>
            </a:r>
          </a:p>
          <a:p>
            <a:r>
              <a:rPr lang="en-US" dirty="0">
                <a:solidFill>
                  <a:schemeClr val="tx1"/>
                </a:solidFill>
              </a:rPr>
              <a:t>Elements of a system :</a:t>
            </a:r>
          </a:p>
          <a:p>
            <a:pPr lvl="1"/>
            <a:r>
              <a:rPr lang="en-US" dirty="0">
                <a:solidFill>
                  <a:schemeClr val="tx1"/>
                </a:solidFill>
              </a:rPr>
              <a:t>Inputs and outputs</a:t>
            </a:r>
          </a:p>
          <a:p>
            <a:pPr lvl="1"/>
            <a:r>
              <a:rPr lang="en-US" dirty="0">
                <a:solidFill>
                  <a:schemeClr val="tx1"/>
                </a:solidFill>
              </a:rPr>
              <a:t>Processor</a:t>
            </a:r>
          </a:p>
          <a:p>
            <a:pPr lvl="1"/>
            <a:r>
              <a:rPr lang="en-US" dirty="0">
                <a:solidFill>
                  <a:schemeClr val="tx1"/>
                </a:solidFill>
              </a:rPr>
              <a:t>Control</a:t>
            </a:r>
          </a:p>
          <a:p>
            <a:pPr lvl="1"/>
            <a:r>
              <a:rPr lang="en-US" dirty="0">
                <a:solidFill>
                  <a:schemeClr val="tx1"/>
                </a:solidFill>
              </a:rPr>
              <a:t>Environment/surroundings</a:t>
            </a:r>
          </a:p>
          <a:p>
            <a:pPr lvl="1"/>
            <a:r>
              <a:rPr lang="en-US" dirty="0">
                <a:solidFill>
                  <a:schemeClr val="tx1"/>
                </a:solidFill>
              </a:rPr>
              <a:t>Feedback</a:t>
            </a:r>
          </a:p>
          <a:p>
            <a:pPr lvl="1"/>
            <a:r>
              <a:rPr lang="en-US" dirty="0">
                <a:solidFill>
                  <a:schemeClr val="tx1"/>
                </a:solidFill>
              </a:rPr>
              <a:t>Boundaries and interface</a:t>
            </a:r>
          </a:p>
          <a:p>
            <a:endParaRPr lang="en-US" dirty="0">
              <a:solidFill>
                <a:schemeClr val="tx1"/>
              </a:solidFill>
            </a:endParaRPr>
          </a:p>
        </p:txBody>
      </p:sp>
    </p:spTree>
    <p:extLst>
      <p:ext uri="{BB962C8B-B14F-4D97-AF65-F5344CB8AC3E}">
        <p14:creationId xmlns:p14="http://schemas.microsoft.com/office/powerpoint/2010/main" val="1873104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827" y="168546"/>
            <a:ext cx="10515600" cy="1325563"/>
          </a:xfrm>
        </p:spPr>
        <p:txBody>
          <a:bodyPr>
            <a:normAutofit/>
          </a:bodyPr>
          <a:lstStyle/>
          <a:p>
            <a:r>
              <a:rPr lang="en-US" dirty="0"/>
              <a:t>Introduction to system</a:t>
            </a:r>
          </a:p>
        </p:txBody>
      </p:sp>
      <p:sp>
        <p:nvSpPr>
          <p:cNvPr id="3" name="Content Placeholder 2"/>
          <p:cNvSpPr>
            <a:spLocks noGrp="1"/>
          </p:cNvSpPr>
          <p:nvPr>
            <p:ph idx="1"/>
          </p:nvPr>
        </p:nvSpPr>
        <p:spPr>
          <a:xfrm>
            <a:off x="1120000" y="1825625"/>
            <a:ext cx="6850808" cy="4351338"/>
          </a:xfrm>
        </p:spPr>
        <p:txBody>
          <a:bodyPr>
            <a:normAutofit/>
          </a:bodyPr>
          <a:lstStyle/>
          <a:p>
            <a:r>
              <a:rPr lang="en-US" dirty="0"/>
              <a:t>Open-Loop</a:t>
            </a:r>
          </a:p>
          <a:p>
            <a:pPr lvl="1"/>
            <a:r>
              <a:rPr lang="en-US" dirty="0"/>
              <a:t>Simple control system which performs its function without concerns for initial conditions or external inputs</a:t>
            </a:r>
          </a:p>
          <a:p>
            <a:pPr lvl="1"/>
            <a:r>
              <a:rPr lang="en-US" dirty="0"/>
              <a:t> Must be closely monitored</a:t>
            </a:r>
          </a:p>
          <a:p>
            <a:pPr lvl="1"/>
            <a:r>
              <a:rPr lang="en-US" dirty="0"/>
              <a:t> the input has no way to compensate the variation in the system…</a:t>
            </a:r>
          </a:p>
          <a:p>
            <a:r>
              <a:rPr lang="en-US" dirty="0"/>
              <a:t>Closed-Loop (feedback)</a:t>
            </a:r>
          </a:p>
          <a:p>
            <a:pPr lvl="1"/>
            <a:r>
              <a:rPr lang="en-US" dirty="0"/>
              <a:t>Uses the output of the system to modify the input to produce the desired result</a:t>
            </a:r>
          </a:p>
          <a:p>
            <a:pPr lvl="1"/>
            <a:r>
              <a:rPr lang="en-US" dirty="0"/>
              <a:t>Continually adjusts the input</a:t>
            </a:r>
          </a:p>
        </p:txBody>
      </p:sp>
      <p:pic>
        <p:nvPicPr>
          <p:cNvPr id="4" name="Picture 3"/>
          <p:cNvPicPr>
            <a:picLocks noChangeAspect="1"/>
          </p:cNvPicPr>
          <p:nvPr/>
        </p:nvPicPr>
        <p:blipFill>
          <a:blip r:embed="rId2"/>
          <a:stretch>
            <a:fillRect/>
          </a:stretch>
        </p:blipFill>
        <p:spPr>
          <a:xfrm>
            <a:off x="8577895" y="1349288"/>
            <a:ext cx="3523983" cy="1780217"/>
          </a:xfrm>
          <a:prstGeom prst="rect">
            <a:avLst/>
          </a:prstGeom>
        </p:spPr>
      </p:pic>
      <p:pic>
        <p:nvPicPr>
          <p:cNvPr id="6" name="Picture 5"/>
          <p:cNvPicPr>
            <a:picLocks noChangeAspect="1"/>
          </p:cNvPicPr>
          <p:nvPr/>
        </p:nvPicPr>
        <p:blipFill>
          <a:blip r:embed="rId3"/>
          <a:stretch>
            <a:fillRect/>
          </a:stretch>
        </p:blipFill>
        <p:spPr>
          <a:xfrm>
            <a:off x="8577896" y="3095715"/>
            <a:ext cx="3523983" cy="3762285"/>
          </a:xfrm>
          <a:prstGeom prst="rect">
            <a:avLst/>
          </a:prstGeom>
        </p:spPr>
      </p:pic>
      <p:pic>
        <p:nvPicPr>
          <p:cNvPr id="7" name="Picture 6"/>
          <p:cNvPicPr>
            <a:picLocks noChangeAspect="1"/>
          </p:cNvPicPr>
          <p:nvPr/>
        </p:nvPicPr>
        <p:blipFill>
          <a:blip r:embed="rId4"/>
          <a:stretch>
            <a:fillRect/>
          </a:stretch>
        </p:blipFill>
        <p:spPr>
          <a:xfrm>
            <a:off x="8577894" y="2960778"/>
            <a:ext cx="2181225" cy="361950"/>
          </a:xfrm>
          <a:prstGeom prst="rect">
            <a:avLst/>
          </a:prstGeom>
        </p:spPr>
      </p:pic>
      <p:pic>
        <p:nvPicPr>
          <p:cNvPr id="9" name="Picture 8"/>
          <p:cNvPicPr>
            <a:picLocks noChangeAspect="1"/>
          </p:cNvPicPr>
          <p:nvPr/>
        </p:nvPicPr>
        <p:blipFill rotWithShape="1">
          <a:blip r:embed="rId5"/>
          <a:srcRect r="19996"/>
          <a:stretch/>
        </p:blipFill>
        <p:spPr>
          <a:xfrm>
            <a:off x="8577894" y="1172655"/>
            <a:ext cx="3528205" cy="342900"/>
          </a:xfrm>
          <a:prstGeom prst="rect">
            <a:avLst/>
          </a:prstGeom>
        </p:spPr>
      </p:pic>
    </p:spTree>
    <p:extLst>
      <p:ext uri="{BB962C8B-B14F-4D97-AF65-F5344CB8AC3E}">
        <p14:creationId xmlns:p14="http://schemas.microsoft.com/office/powerpoint/2010/main" val="1938215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722"/>
            <a:ext cx="10515600" cy="1325563"/>
          </a:xfrm>
        </p:spPr>
        <p:txBody>
          <a:bodyPr/>
          <a:lstStyle/>
          <a:p>
            <a:r>
              <a:rPr lang="en-US" dirty="0"/>
              <a:t>Introduction to control system	</a:t>
            </a:r>
          </a:p>
        </p:txBody>
      </p:sp>
      <p:sp>
        <p:nvSpPr>
          <p:cNvPr id="3" name="Content Placeholder 2"/>
          <p:cNvSpPr>
            <a:spLocks noGrp="1"/>
          </p:cNvSpPr>
          <p:nvPr>
            <p:ph idx="1"/>
          </p:nvPr>
        </p:nvSpPr>
        <p:spPr>
          <a:xfrm>
            <a:off x="1120000" y="1295082"/>
            <a:ext cx="10233800" cy="4351338"/>
          </a:xfrm>
        </p:spPr>
        <p:txBody>
          <a:bodyPr/>
          <a:lstStyle/>
          <a:p>
            <a:r>
              <a:rPr lang="en-US" dirty="0"/>
              <a:t>Control system – mechanism that alters the future state or behavior of the system.</a:t>
            </a:r>
          </a:p>
          <a:p>
            <a:r>
              <a:rPr lang="en-US" dirty="0"/>
              <a:t>Behavior or the output must tent towards the state which is desired </a:t>
            </a:r>
          </a:p>
          <a:p>
            <a:r>
              <a:rPr lang="en-US" dirty="0"/>
              <a:t>Control theory – branch of mathematics to find a strategy to select appropriate input ….</a:t>
            </a:r>
          </a:p>
          <a:p>
            <a:r>
              <a:rPr lang="en-US" dirty="0"/>
              <a:t>Without CT finding this strategy is simple trial and error</a:t>
            </a:r>
          </a:p>
          <a:p>
            <a:endParaRPr lang="en-US" dirty="0"/>
          </a:p>
        </p:txBody>
      </p:sp>
      <p:sp>
        <p:nvSpPr>
          <p:cNvPr id="5" name="Rounded Rectangle 4"/>
          <p:cNvSpPr/>
          <p:nvPr/>
        </p:nvSpPr>
        <p:spPr>
          <a:xfrm>
            <a:off x="5826034" y="5421085"/>
            <a:ext cx="2873829" cy="10842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 or a plant </a:t>
            </a:r>
          </a:p>
        </p:txBody>
      </p:sp>
      <p:cxnSp>
        <p:nvCxnSpPr>
          <p:cNvPr id="7" name="Straight Arrow Connector 6"/>
          <p:cNvCxnSpPr>
            <a:stCxn id="5" idx="3"/>
          </p:cNvCxnSpPr>
          <p:nvPr/>
        </p:nvCxnSpPr>
        <p:spPr>
          <a:xfrm>
            <a:off x="8699863" y="5963194"/>
            <a:ext cx="914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Callout 7"/>
          <p:cNvSpPr/>
          <p:nvPr/>
        </p:nvSpPr>
        <p:spPr>
          <a:xfrm>
            <a:off x="9157063" y="4665209"/>
            <a:ext cx="1972491" cy="1084217"/>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Desired output….</a:t>
            </a:r>
          </a:p>
        </p:txBody>
      </p:sp>
      <p:cxnSp>
        <p:nvCxnSpPr>
          <p:cNvPr id="12" name="Straight Arrow Connector 11"/>
          <p:cNvCxnSpPr/>
          <p:nvPr/>
        </p:nvCxnSpPr>
        <p:spPr>
          <a:xfrm flipV="1">
            <a:off x="4506686" y="6054634"/>
            <a:ext cx="1319348" cy="6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Cloud Callout 14"/>
          <p:cNvSpPr/>
          <p:nvPr/>
        </p:nvSpPr>
        <p:spPr>
          <a:xfrm>
            <a:off x="1280160" y="4665208"/>
            <a:ext cx="2970097" cy="1084218"/>
          </a:xfrm>
          <a:prstGeom prst="cloudCallout">
            <a:avLst>
              <a:gd name="adj1" fmla="val 56431"/>
              <a:gd name="adj2" fmla="val 7213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How do I change the input to get desired output.</a:t>
            </a:r>
          </a:p>
        </p:txBody>
      </p:sp>
    </p:spTree>
    <p:extLst>
      <p:ext uri="{BB962C8B-B14F-4D97-AF65-F5344CB8AC3E}">
        <p14:creationId xmlns:p14="http://schemas.microsoft.com/office/powerpoint/2010/main" val="4030049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control </a:t>
            </a:r>
          </a:p>
        </p:txBody>
      </p:sp>
      <p:sp>
        <p:nvSpPr>
          <p:cNvPr id="3" name="Content Placeholder 2"/>
          <p:cNvSpPr>
            <a:spLocks noGrp="1"/>
          </p:cNvSpPr>
          <p:nvPr>
            <p:ph idx="1"/>
          </p:nvPr>
        </p:nvSpPr>
        <p:spPr>
          <a:xfrm>
            <a:off x="1120000" y="1825625"/>
            <a:ext cx="7540921" cy="4351338"/>
          </a:xfrm>
        </p:spPr>
        <p:txBody>
          <a:bodyPr>
            <a:normAutofit fontScale="92500" lnSpcReduction="10000"/>
          </a:bodyPr>
          <a:lstStyle/>
          <a:p>
            <a:r>
              <a:rPr lang="en-US" dirty="0"/>
              <a:t>Fixed set point control</a:t>
            </a:r>
          </a:p>
          <a:p>
            <a:pPr lvl="1"/>
            <a:r>
              <a:rPr lang="en-US" dirty="0"/>
              <a:t>The reference variable w is set as a fixed </a:t>
            </a:r>
            <a:r>
              <a:rPr lang="en-US" dirty="0" err="1"/>
              <a:t>setpoint</a:t>
            </a:r>
            <a:r>
              <a:rPr lang="en-US" dirty="0"/>
              <a:t> x at the controller's set point selector</a:t>
            </a:r>
          </a:p>
          <a:p>
            <a:pPr lvl="1"/>
            <a:r>
              <a:rPr lang="en-US" dirty="0"/>
              <a:t>ACC without climate control</a:t>
            </a:r>
          </a:p>
          <a:p>
            <a:r>
              <a:rPr lang="en-US" dirty="0"/>
              <a:t>Follow up control</a:t>
            </a:r>
          </a:p>
          <a:p>
            <a:pPr lvl="1"/>
            <a:r>
              <a:rPr lang="en-US" dirty="0"/>
              <a:t>The reference variable is varying in time depending on other variables however its progress in time is not known before</a:t>
            </a:r>
          </a:p>
          <a:p>
            <a:pPr lvl="2"/>
            <a:r>
              <a:rPr lang="en-US" dirty="0"/>
              <a:t>Automatic climate control </a:t>
            </a:r>
          </a:p>
          <a:p>
            <a:r>
              <a:rPr lang="en-US" dirty="0"/>
              <a:t>Program control</a:t>
            </a:r>
          </a:p>
          <a:p>
            <a:pPr lvl="1"/>
            <a:r>
              <a:rPr lang="en-US" dirty="0"/>
              <a:t>Time behavior of expected value is programmed</a:t>
            </a:r>
          </a:p>
          <a:p>
            <a:pPr lvl="2"/>
            <a:r>
              <a:rPr lang="en-US" dirty="0"/>
              <a:t>Example: Central heating control</a:t>
            </a:r>
          </a:p>
          <a:p>
            <a:pPr lvl="2"/>
            <a:r>
              <a:rPr lang="en-US" dirty="0"/>
              <a:t>Radar antenna control </a:t>
            </a:r>
          </a:p>
        </p:txBody>
      </p:sp>
      <p:pic>
        <p:nvPicPr>
          <p:cNvPr id="4" name="Picture 3"/>
          <p:cNvPicPr>
            <a:picLocks noChangeAspect="1"/>
          </p:cNvPicPr>
          <p:nvPr/>
        </p:nvPicPr>
        <p:blipFill>
          <a:blip r:embed="rId2"/>
          <a:stretch>
            <a:fillRect/>
          </a:stretch>
        </p:blipFill>
        <p:spPr>
          <a:xfrm>
            <a:off x="8781691" y="5012160"/>
            <a:ext cx="2483600" cy="1259693"/>
          </a:xfrm>
          <a:prstGeom prst="rect">
            <a:avLst/>
          </a:prstGeom>
        </p:spPr>
      </p:pic>
      <p:pic>
        <p:nvPicPr>
          <p:cNvPr id="5" name="Picture 4"/>
          <p:cNvPicPr>
            <a:picLocks noChangeAspect="1"/>
          </p:cNvPicPr>
          <p:nvPr/>
        </p:nvPicPr>
        <p:blipFill>
          <a:blip r:embed="rId3"/>
          <a:stretch>
            <a:fillRect/>
          </a:stretch>
        </p:blipFill>
        <p:spPr>
          <a:xfrm>
            <a:off x="8660921" y="3326742"/>
            <a:ext cx="3016714" cy="1197544"/>
          </a:xfrm>
          <a:prstGeom prst="rect">
            <a:avLst/>
          </a:prstGeom>
        </p:spPr>
      </p:pic>
      <p:pic>
        <p:nvPicPr>
          <p:cNvPr id="6" name="Picture 5"/>
          <p:cNvPicPr>
            <a:picLocks noChangeAspect="1"/>
          </p:cNvPicPr>
          <p:nvPr/>
        </p:nvPicPr>
        <p:blipFill>
          <a:blip r:embed="rId4"/>
          <a:stretch>
            <a:fillRect/>
          </a:stretch>
        </p:blipFill>
        <p:spPr>
          <a:xfrm>
            <a:off x="8660921" y="1938281"/>
            <a:ext cx="3030095" cy="995478"/>
          </a:xfrm>
          <a:prstGeom prst="rect">
            <a:avLst/>
          </a:prstGeom>
        </p:spPr>
      </p:pic>
    </p:spTree>
    <p:extLst>
      <p:ext uri="{BB962C8B-B14F-4D97-AF65-F5344CB8AC3E}">
        <p14:creationId xmlns:p14="http://schemas.microsoft.com/office/powerpoint/2010/main" val="605150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6130003-5222-4875-8738-1217755C7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blipFill>
            <a:blip r:embed="rId3"/>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gradFill flip="none" rotWithShape="1">
                  <a:gsLst>
                    <a:gs pos="28000">
                      <a:srgbClr val="EDEDED"/>
                    </a:gs>
                    <a:gs pos="0">
                      <a:srgbClr val="BFBFBF"/>
                    </a:gs>
                    <a:gs pos="100000">
                      <a:srgbClr val="FFFFFF"/>
                    </a:gs>
                  </a:gsLst>
                  <a:lin ang="4800000" scaled="0"/>
                  <a:tileRect/>
                </a:gradFill>
              </a:rPr>
              <a:t>Types of responses</a:t>
            </a:r>
          </a:p>
        </p:txBody>
      </p:sp>
      <p:sp>
        <p:nvSpPr>
          <p:cNvPr id="73" name="Rounded Rectangle 17">
            <a:extLst>
              <a:ext uri="{FF2B5EF4-FFF2-40B4-BE49-F238E27FC236}">
                <a16:creationId xmlns:a16="http://schemas.microsoft.com/office/drawing/2014/main" id="{3E388DCC-9257-412E-811D-30F74D4CB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948070"/>
            <a:ext cx="4773166" cy="3896140"/>
          </a:xfrm>
          <a:prstGeom prst="roundRect">
            <a:avLst>
              <a:gd name="adj" fmla="val 2028"/>
            </a:avLst>
          </a:prstGeom>
          <a:solidFill>
            <a:schemeClr val="bg1"/>
          </a:solidFill>
          <a:ln>
            <a:noFill/>
          </a:ln>
          <a:effectLst>
            <a:innerShdw blurRad="127000" dist="12700">
              <a:prstClr val="black"/>
            </a:innerShdw>
            <a:reflection blurRad="6350" stA="52000" endA="300" endPos="2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tps://ars.els-cdn.com/content/image/3-s2.0-B9780750657204501029-u02-15-9780750657204.gif?_">
            <a:extLst>
              <a:ext uri="{FF2B5EF4-FFF2-40B4-BE49-F238E27FC236}">
                <a16:creationId xmlns:a16="http://schemas.microsoft.com/office/drawing/2014/main" id="{C3308398-AF0E-49BB-9179-F50A49BE10D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404937" y="2434485"/>
            <a:ext cx="3929252" cy="325605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6096000" y="1319419"/>
            <a:ext cx="5257799" cy="4228893"/>
          </a:xfrm>
        </p:spPr>
        <p:txBody>
          <a:bodyPr vert="horz" lIns="91440" tIns="45720" rIns="91440" bIns="45720" rtlCol="0" anchor="t">
            <a:noAutofit/>
          </a:bodyPr>
          <a:lstStyle/>
          <a:p>
            <a:r>
              <a:rPr lang="en-US" sz="1600" dirty="0">
                <a:gradFill>
                  <a:gsLst>
                    <a:gs pos="0">
                      <a:srgbClr val="BFBFBF"/>
                    </a:gs>
                    <a:gs pos="34000">
                      <a:srgbClr val="EDEDED"/>
                    </a:gs>
                    <a:gs pos="100000">
                      <a:srgbClr val="FFFFFF"/>
                    </a:gs>
                  </a:gsLst>
                  <a:lin ang="4800000" scaled="0"/>
                </a:gradFill>
                <a:ea typeface="+mn-lt"/>
                <a:cs typeface="+mn-lt"/>
              </a:rPr>
              <a:t>Transient Response</a:t>
            </a:r>
            <a:endParaRPr lang="en-US" sz="1600" dirty="0">
              <a:gradFill>
                <a:gsLst>
                  <a:gs pos="0">
                    <a:srgbClr val="BFBFBF"/>
                  </a:gs>
                  <a:gs pos="34000">
                    <a:srgbClr val="EDEDED"/>
                  </a:gs>
                  <a:gs pos="100000">
                    <a:srgbClr val="FFFFFF"/>
                  </a:gs>
                </a:gsLst>
                <a:lin ang="4800000" scaled="0"/>
              </a:gradFill>
            </a:endParaRPr>
          </a:p>
          <a:p>
            <a:pPr lvl="1"/>
            <a:r>
              <a:rPr lang="en-US" sz="1600" dirty="0">
                <a:gradFill>
                  <a:gsLst>
                    <a:gs pos="0">
                      <a:srgbClr val="BFBFBF"/>
                    </a:gs>
                    <a:gs pos="34000">
                      <a:srgbClr val="EDEDED"/>
                    </a:gs>
                    <a:gs pos="100000">
                      <a:srgbClr val="FFFFFF"/>
                    </a:gs>
                  </a:gsLst>
                  <a:lin ang="4800000" scaled="0"/>
                </a:gradFill>
                <a:ea typeface="+mn-lt"/>
                <a:cs typeface="+mn-lt"/>
              </a:rPr>
              <a:t>The transient response is the temporary part of the solution. It represents the system's reaction to an abrupt change (like flipping a switch or applying a sudden force)</a:t>
            </a:r>
            <a:endParaRPr lang="en-US" sz="1600" dirty="0">
              <a:gradFill>
                <a:gsLst>
                  <a:gs pos="0">
                    <a:srgbClr val="BFBFBF"/>
                  </a:gs>
                  <a:gs pos="34000">
                    <a:srgbClr val="EDEDED"/>
                  </a:gs>
                  <a:gs pos="100000">
                    <a:srgbClr val="FFFFFF"/>
                  </a:gs>
                </a:gsLst>
                <a:lin ang="4800000" scaled="0"/>
              </a:gradFill>
            </a:endParaRPr>
          </a:p>
          <a:p>
            <a:r>
              <a:rPr lang="en-US" sz="1600" dirty="0">
                <a:gradFill>
                  <a:gsLst>
                    <a:gs pos="0">
                      <a:srgbClr val="BFBFBF"/>
                    </a:gs>
                    <a:gs pos="34000">
                      <a:srgbClr val="EDEDED"/>
                    </a:gs>
                    <a:gs pos="100000">
                      <a:srgbClr val="FFFFFF"/>
                    </a:gs>
                  </a:gsLst>
                  <a:lin ang="4800000" scaled="0"/>
                </a:gradFill>
              </a:rPr>
              <a:t>Steady-state response </a:t>
            </a:r>
          </a:p>
          <a:p>
            <a:pPr lvl="1"/>
            <a:r>
              <a:rPr lang="en-US" sz="1600" dirty="0">
                <a:gradFill>
                  <a:gsLst>
                    <a:gs pos="0">
                      <a:srgbClr val="BFBFBF"/>
                    </a:gs>
                    <a:gs pos="34000">
                      <a:srgbClr val="EDEDED"/>
                    </a:gs>
                    <a:gs pos="100000">
                      <a:srgbClr val="FFFFFF"/>
                    </a:gs>
                  </a:gsLst>
                  <a:lin ang="4800000" scaled="0"/>
                </a:gradFill>
              </a:rPr>
              <a:t> </a:t>
            </a:r>
            <a:r>
              <a:rPr lang="en-US" sz="1600" b="1" dirty="0">
                <a:gradFill>
                  <a:gsLst>
                    <a:gs pos="0">
                      <a:srgbClr val="BFBFBF"/>
                    </a:gs>
                    <a:gs pos="34000">
                      <a:srgbClr val="EDEDED"/>
                    </a:gs>
                    <a:gs pos="100000">
                      <a:srgbClr val="FFFFFF"/>
                    </a:gs>
                  </a:gsLst>
                  <a:lin ang="4800000" scaled="0"/>
                </a:gradFill>
                <a:ea typeface="+mn-lt"/>
                <a:cs typeface="+mn-lt"/>
              </a:rPr>
              <a:t>long-term behavior</a:t>
            </a:r>
            <a:r>
              <a:rPr lang="en-US" sz="1600" dirty="0">
                <a:gradFill>
                  <a:gsLst>
                    <a:gs pos="0">
                      <a:srgbClr val="BFBFBF"/>
                    </a:gs>
                    <a:gs pos="34000">
                      <a:srgbClr val="EDEDED"/>
                    </a:gs>
                    <a:gs pos="100000">
                      <a:srgbClr val="FFFFFF"/>
                    </a:gs>
                  </a:gsLst>
                  <a:lin ang="4800000" scaled="0"/>
                </a:gradFill>
                <a:ea typeface="+mn-lt"/>
                <a:cs typeface="+mn-lt"/>
              </a:rPr>
              <a:t> of a system after it has been subjected to an input for a long enough time that all temporary, startup effects have disappeared.</a:t>
            </a:r>
            <a:endParaRPr lang="en-US" sz="1600" dirty="0">
              <a:gradFill>
                <a:gsLst>
                  <a:gs pos="0">
                    <a:srgbClr val="BFBFBF"/>
                  </a:gs>
                  <a:gs pos="34000">
                    <a:srgbClr val="EDEDED"/>
                  </a:gs>
                  <a:gs pos="100000">
                    <a:srgbClr val="FFFFFF"/>
                  </a:gs>
                </a:gsLst>
                <a:lin ang="4800000" scaled="0"/>
              </a:gradFill>
            </a:endParaRPr>
          </a:p>
          <a:p>
            <a:pPr lvl="1"/>
            <a:r>
              <a:rPr lang="en-US" sz="1600" dirty="0">
                <a:gradFill>
                  <a:gsLst>
                    <a:gs pos="0">
                      <a:srgbClr val="BFBFBF"/>
                    </a:gs>
                    <a:gs pos="34000">
                      <a:srgbClr val="EDEDED"/>
                    </a:gs>
                    <a:gs pos="100000">
                      <a:srgbClr val="FFFFFF"/>
                    </a:gs>
                  </a:gsLst>
                  <a:lin ang="4800000" scaled="0"/>
                </a:gradFill>
                <a:ea typeface="+mn-lt"/>
                <a:cs typeface="+mn-lt"/>
              </a:rPr>
              <a:t>It's the stable, long-term behavior after the initial </a:t>
            </a:r>
            <a:r>
              <a:rPr lang="en-US" sz="1600">
                <a:gradFill>
                  <a:gsLst>
                    <a:gs pos="0">
                      <a:srgbClr val="BFBFBF"/>
                    </a:gs>
                    <a:gs pos="34000">
                      <a:srgbClr val="EDEDED"/>
                    </a:gs>
                    <a:gs pos="100000">
                      <a:srgbClr val="FFFFFF"/>
                    </a:gs>
                  </a:gsLst>
                  <a:lin ang="4800000" scaled="0"/>
                </a:gradFill>
                <a:ea typeface="+mn-lt"/>
                <a:cs typeface="+mn-lt"/>
              </a:rPr>
              <a:t>Transient response has died out. For a closed-</a:t>
            </a:r>
            <a:r>
              <a:rPr lang="en-US" sz="1600" dirty="0">
                <a:gradFill>
                  <a:gsLst>
                    <a:gs pos="0">
                      <a:srgbClr val="BFBFBF"/>
                    </a:gs>
                    <a:gs pos="34000">
                      <a:srgbClr val="EDEDED"/>
                    </a:gs>
                    <a:gs pos="100000">
                      <a:srgbClr val="FFFFFF"/>
                    </a:gs>
                  </a:gsLst>
                  <a:lin ang="4800000" scaled="0"/>
                </a:gradFill>
                <a:ea typeface="+mn-lt"/>
                <a:cs typeface="+mn-lt"/>
              </a:rPr>
              <a:t>loop system, it describes the final, settled relationship between the output and the input.</a:t>
            </a:r>
            <a:endParaRPr lang="en-US" sz="1600" dirty="0">
              <a:gradFill>
                <a:gsLst>
                  <a:gs pos="0">
                    <a:srgbClr val="BFBFBF"/>
                  </a:gs>
                  <a:gs pos="34000">
                    <a:srgbClr val="EDEDED"/>
                  </a:gs>
                  <a:gs pos="100000">
                    <a:srgbClr val="FFFFFF"/>
                  </a:gs>
                </a:gsLst>
                <a:lin ang="4800000" scaled="0"/>
              </a:gradFill>
            </a:endParaRPr>
          </a:p>
          <a:p>
            <a:r>
              <a:rPr lang="en-US" sz="1600" dirty="0">
                <a:gradFill>
                  <a:gsLst>
                    <a:gs pos="0">
                      <a:srgbClr val="BFBFBF"/>
                    </a:gs>
                    <a:gs pos="34000">
                      <a:srgbClr val="EDEDED"/>
                    </a:gs>
                    <a:gs pos="100000">
                      <a:srgbClr val="FFFFFF"/>
                    </a:gs>
                  </a:gsLst>
                  <a:lin ang="4800000" scaled="0"/>
                </a:gradFill>
              </a:rPr>
              <a:t>Dynamic response</a:t>
            </a:r>
          </a:p>
          <a:p>
            <a:pPr lvl="1"/>
            <a:r>
              <a:rPr lang="en-US" sz="1600">
                <a:gradFill>
                  <a:gsLst>
                    <a:gs pos="0">
                      <a:srgbClr val="BFBFBF"/>
                    </a:gs>
                    <a:gs pos="34000">
                      <a:srgbClr val="EDEDED"/>
                    </a:gs>
                    <a:gs pos="100000">
                      <a:srgbClr val="FFFFFF"/>
                    </a:gs>
                  </a:gsLst>
                  <a:lin ang="4800000" scaled="0"/>
                </a:gradFill>
                <a:ea typeface="+mn-lt"/>
                <a:cs typeface="+mn-lt"/>
              </a:rPr>
              <a:t>Is the complete, time-varying </a:t>
            </a:r>
            <a:r>
              <a:rPr lang="en-US" sz="1600" dirty="0">
                <a:gradFill>
                  <a:gsLst>
                    <a:gs pos="0">
                      <a:srgbClr val="BFBFBF"/>
                    </a:gs>
                    <a:gs pos="34000">
                      <a:srgbClr val="EDEDED"/>
                    </a:gs>
                    <a:gs pos="100000">
                      <a:srgbClr val="FFFFFF"/>
                    </a:gs>
                  </a:gsLst>
                  <a:lin ang="4800000" scaled="0"/>
                </a:gradFill>
                <a:ea typeface="+mn-lt"/>
                <a:cs typeface="+mn-lt"/>
              </a:rPr>
              <a:t>behavior that occurs immediately following a change in its inputs or environment.</a:t>
            </a:r>
          </a:p>
          <a:p>
            <a:pPr lvl="1"/>
            <a:r>
              <a:rPr lang="en-US" sz="1600" dirty="0">
                <a:gradFill>
                  <a:gsLst>
                    <a:gs pos="0">
                      <a:srgbClr val="BFBFBF"/>
                    </a:gs>
                    <a:gs pos="34000">
                      <a:srgbClr val="EDEDED"/>
                    </a:gs>
                    <a:gs pos="100000">
                      <a:srgbClr val="FFFFFF"/>
                    </a:gs>
                  </a:gsLst>
                  <a:lin ang="4800000" scaled="0"/>
                </a:gradFill>
                <a:ea typeface="+mn-lt"/>
                <a:cs typeface="+mn-lt"/>
              </a:rPr>
              <a:t>Essentially, the dynamic response is the </a:t>
            </a:r>
            <a:r>
              <a:rPr lang="en-US" sz="1600" b="1" dirty="0">
                <a:gradFill>
                  <a:gsLst>
                    <a:gs pos="0">
                      <a:srgbClr val="BFBFBF"/>
                    </a:gs>
                    <a:gs pos="34000">
                      <a:srgbClr val="EDEDED"/>
                    </a:gs>
                    <a:gs pos="100000">
                      <a:srgbClr val="FFFFFF"/>
                    </a:gs>
                  </a:gsLst>
                  <a:lin ang="4800000" scaled="0"/>
                </a:gradFill>
                <a:ea typeface="+mn-lt"/>
                <a:cs typeface="+mn-lt"/>
              </a:rPr>
              <a:t>entire journey</a:t>
            </a:r>
            <a:r>
              <a:rPr lang="en-US" sz="1600" dirty="0">
                <a:gradFill>
                  <a:gsLst>
                    <a:gs pos="0">
                      <a:srgbClr val="BFBFBF"/>
                    </a:gs>
                    <a:gs pos="34000">
                      <a:srgbClr val="EDEDED"/>
                    </a:gs>
                    <a:gs pos="100000">
                      <a:srgbClr val="FFFFFF"/>
                    </a:gs>
                  </a:gsLst>
                  <a:lin ang="4800000" scaled="0"/>
                </a:gradFill>
                <a:ea typeface="+mn-lt"/>
                <a:cs typeface="+mn-lt"/>
              </a:rPr>
              <a:t> a system takes from its initial state to its final steady state.</a:t>
            </a:r>
          </a:p>
          <a:p>
            <a:pPr lvl="1"/>
            <a:r>
              <a:rPr lang="en-US" sz="1600">
                <a:gradFill>
                  <a:gsLst>
                    <a:gs pos="0">
                      <a:srgbClr val="BFBFBF"/>
                    </a:gs>
                    <a:gs pos="34000">
                      <a:srgbClr val="EDEDED"/>
                    </a:gs>
                    <a:gs pos="100000">
                      <a:srgbClr val="FFFFFF"/>
                    </a:gs>
                  </a:gsLst>
                  <a:lin ang="4800000" scaled="0"/>
                </a:gradFill>
                <a:ea typeface="+mn-lt"/>
                <a:cs typeface="+mn-lt"/>
              </a:rPr>
              <a:t>Dynamic Response (y(t))=Transient Response (</a:t>
            </a:r>
            <a:r>
              <a:rPr lang="en-US" sz="1600" err="1">
                <a:gradFill>
                  <a:gsLst>
                    <a:gs pos="0">
                      <a:srgbClr val="BFBFBF"/>
                    </a:gs>
                    <a:gs pos="34000">
                      <a:srgbClr val="EDEDED"/>
                    </a:gs>
                    <a:gs pos="100000">
                      <a:srgbClr val="FFFFFF"/>
                    </a:gs>
                  </a:gsLst>
                  <a:lin ang="4800000" scaled="0"/>
                </a:gradFill>
                <a:ea typeface="+mn-lt"/>
                <a:cs typeface="+mn-lt"/>
              </a:rPr>
              <a:t>ytransient</a:t>
            </a:r>
            <a:r>
              <a:rPr lang="en-US" sz="1600">
                <a:gradFill>
                  <a:gsLst>
                    <a:gs pos="0">
                      <a:srgbClr val="BFBFBF"/>
                    </a:gs>
                    <a:gs pos="34000">
                      <a:srgbClr val="EDEDED"/>
                    </a:gs>
                    <a:gs pos="100000">
                      <a:srgbClr val="FFFFFF"/>
                    </a:gs>
                  </a:gsLst>
                  <a:lin ang="4800000" scaled="0"/>
                </a:gradFill>
                <a:ea typeface="+mn-lt"/>
                <a:cs typeface="+mn-lt"/>
              </a:rPr>
              <a:t> (t))+Steady-State Response</a:t>
            </a:r>
            <a:endParaRPr lang="en-US" sz="1600" dirty="0">
              <a:gradFill>
                <a:gsLst>
                  <a:gs pos="0">
                    <a:srgbClr val="BFBFBF"/>
                  </a:gs>
                  <a:gs pos="34000">
                    <a:srgbClr val="EDEDED"/>
                  </a:gs>
                  <a:gs pos="100000">
                    <a:srgbClr val="FFFFFF"/>
                  </a:gs>
                </a:gsLst>
                <a:lin ang="4800000" scaled="0"/>
              </a:gradFill>
              <a:ea typeface="+mn-lt"/>
              <a:cs typeface="+mn-lt"/>
            </a:endParaRPr>
          </a:p>
        </p:txBody>
      </p:sp>
    </p:spTree>
    <p:extLst>
      <p:ext uri="{BB962C8B-B14F-4D97-AF65-F5344CB8AC3E}">
        <p14:creationId xmlns:p14="http://schemas.microsoft.com/office/powerpoint/2010/main" val="292417724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test	/ step response</a:t>
            </a:r>
          </a:p>
        </p:txBody>
      </p:sp>
      <p:sp>
        <p:nvSpPr>
          <p:cNvPr id="3" name="Content Placeholder 2"/>
          <p:cNvSpPr>
            <a:spLocks noGrp="1"/>
          </p:cNvSpPr>
          <p:nvPr>
            <p:ph idx="1"/>
          </p:nvPr>
        </p:nvSpPr>
        <p:spPr/>
        <p:txBody>
          <a:bodyPr/>
          <a:lstStyle/>
          <a:p>
            <a:r>
              <a:rPr lang="en-US" dirty="0"/>
              <a:t>The dynamics of a process can be determined from the response of the process to pulses, steps, ramps, or other deterministic signals.</a:t>
            </a:r>
          </a:p>
          <a:p>
            <a:r>
              <a:rPr lang="en-US" dirty="0"/>
              <a:t>Many tuning methods are based on it.</a:t>
            </a:r>
          </a:p>
          <a:p>
            <a:r>
              <a:rPr lang="en-US" dirty="0"/>
              <a:t>Step Test procedure:</a:t>
            </a:r>
          </a:p>
          <a:p>
            <a:pPr lvl="1"/>
            <a:r>
              <a:rPr lang="en-US" dirty="0"/>
              <a:t>Wait until the process is at rest.</a:t>
            </a:r>
          </a:p>
          <a:p>
            <a:pPr lvl="1"/>
            <a:r>
              <a:rPr lang="en-US" dirty="0"/>
              <a:t>Set the controller to manual.</a:t>
            </a:r>
          </a:p>
          <a:p>
            <a:pPr lvl="1"/>
            <a:r>
              <a:rPr lang="en-US" dirty="0"/>
              <a:t>Change the control variable rapidly *,</a:t>
            </a:r>
          </a:p>
          <a:p>
            <a:pPr lvl="1"/>
            <a:r>
              <a:rPr lang="en-US" dirty="0"/>
              <a:t>Record the process variable and scale it by dividing by the change in the control variable.</a:t>
            </a:r>
          </a:p>
          <a:p>
            <a:pPr lvl="1"/>
            <a:endParaRPr lang="en-US" dirty="0"/>
          </a:p>
        </p:txBody>
      </p:sp>
      <p:sp>
        <p:nvSpPr>
          <p:cNvPr id="4" name="Rectangle 3"/>
          <p:cNvSpPr/>
          <p:nvPr/>
        </p:nvSpPr>
        <p:spPr>
          <a:xfrm>
            <a:off x="572159" y="6176963"/>
            <a:ext cx="11329482" cy="646331"/>
          </a:xfrm>
          <a:prstGeom prst="rect">
            <a:avLst/>
          </a:prstGeom>
        </p:spPr>
        <p:txBody>
          <a:bodyPr wrap="square">
            <a:spAutoFit/>
          </a:bodyPr>
          <a:lstStyle/>
          <a:p>
            <a:r>
              <a:rPr lang="en-US" dirty="0">
                <a:latin typeface="KQUIHY+CenturySchL-Roma"/>
              </a:rPr>
              <a:t>* The change in control variable should be as large as possible in order to get a maximum signal to noise ratio.</a:t>
            </a:r>
            <a:endParaRPr lang="en-US" dirty="0"/>
          </a:p>
        </p:txBody>
      </p:sp>
    </p:spTree>
    <p:extLst>
      <p:ext uri="{BB962C8B-B14F-4D97-AF65-F5344CB8AC3E}">
        <p14:creationId xmlns:p14="http://schemas.microsoft.com/office/powerpoint/2010/main" val="2371721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PID controller</a:t>
            </a:r>
          </a:p>
        </p:txBody>
      </p:sp>
      <p:sp>
        <p:nvSpPr>
          <p:cNvPr id="3" name="Content Placeholder 2"/>
          <p:cNvSpPr>
            <a:spLocks noGrp="1"/>
          </p:cNvSpPr>
          <p:nvPr>
            <p:ph idx="1"/>
          </p:nvPr>
        </p:nvSpPr>
        <p:spPr>
          <a:xfrm>
            <a:off x="1120000" y="1825624"/>
            <a:ext cx="10233800" cy="4549049"/>
          </a:xfrm>
        </p:spPr>
        <p:txBody>
          <a:bodyPr/>
          <a:lstStyle/>
          <a:p>
            <a:r>
              <a:rPr lang="en-US" dirty="0"/>
              <a:t>PID – Proportional Integral derivative </a:t>
            </a:r>
          </a:p>
          <a:p>
            <a:r>
              <a:rPr lang="en-US" dirty="0"/>
              <a:t>Describes how the error terms is handled (how to correct an input based on error)</a:t>
            </a:r>
          </a:p>
          <a:p>
            <a:r>
              <a:rPr lang="en-US" dirty="0" err="1"/>
              <a:t>Kp</a:t>
            </a:r>
            <a:r>
              <a:rPr lang="en-US" dirty="0"/>
              <a:t>, Ki, </a:t>
            </a:r>
            <a:r>
              <a:rPr lang="en-US" dirty="0" err="1"/>
              <a:t>Kd</a:t>
            </a:r>
            <a:r>
              <a:rPr lang="en-US" dirty="0"/>
              <a:t> – are gain which can be changed (adjusted)</a:t>
            </a:r>
          </a:p>
          <a:p>
            <a:endParaRPr lang="en-US" dirty="0"/>
          </a:p>
        </p:txBody>
      </p:sp>
      <p:sp>
        <p:nvSpPr>
          <p:cNvPr id="4" name="Rectangle 3"/>
          <p:cNvSpPr/>
          <p:nvPr/>
        </p:nvSpPr>
        <p:spPr>
          <a:xfrm>
            <a:off x="4075612" y="3804398"/>
            <a:ext cx="3409406" cy="6662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Proportional multiplied by  </a:t>
            </a:r>
            <a:r>
              <a:rPr lang="en-US" dirty="0" err="1"/>
              <a:t>Kp</a:t>
            </a:r>
            <a:endParaRPr lang="en-US" dirty="0"/>
          </a:p>
        </p:txBody>
      </p:sp>
      <p:sp>
        <p:nvSpPr>
          <p:cNvPr id="5" name="Rectangle 4"/>
          <p:cNvSpPr/>
          <p:nvPr/>
        </p:nvSpPr>
        <p:spPr>
          <a:xfrm>
            <a:off x="4075612" y="4727507"/>
            <a:ext cx="3409406" cy="6662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Integral multiplied by Ki 1/s and integrated</a:t>
            </a:r>
          </a:p>
        </p:txBody>
      </p:sp>
      <p:sp>
        <p:nvSpPr>
          <p:cNvPr id="6" name="Rectangle 5"/>
          <p:cNvSpPr/>
          <p:nvPr/>
        </p:nvSpPr>
        <p:spPr>
          <a:xfrm>
            <a:off x="4075612" y="5708468"/>
            <a:ext cx="3409406" cy="6662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Integral multiplied by </a:t>
            </a:r>
            <a:r>
              <a:rPr lang="en-US" dirty="0" err="1"/>
              <a:t>Kd</a:t>
            </a:r>
            <a:r>
              <a:rPr lang="en-US" dirty="0"/>
              <a:t> *s and differentiated </a:t>
            </a:r>
          </a:p>
        </p:txBody>
      </p:sp>
      <p:cxnSp>
        <p:nvCxnSpPr>
          <p:cNvPr id="8" name="Elbow Connector 7"/>
          <p:cNvCxnSpPr>
            <a:endCxn id="4" idx="1"/>
          </p:cNvCxnSpPr>
          <p:nvPr/>
        </p:nvCxnSpPr>
        <p:spPr>
          <a:xfrm flipV="1">
            <a:off x="1841863" y="4137501"/>
            <a:ext cx="2233749" cy="92310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endCxn id="6" idx="1"/>
          </p:cNvCxnSpPr>
          <p:nvPr/>
        </p:nvCxnSpPr>
        <p:spPr>
          <a:xfrm>
            <a:off x="1841863" y="5060609"/>
            <a:ext cx="2233749" cy="98096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p:cNvCxnSpPr>
            <a:endCxn id="5" idx="1"/>
          </p:cNvCxnSpPr>
          <p:nvPr/>
        </p:nvCxnSpPr>
        <p:spPr>
          <a:xfrm>
            <a:off x="1841863" y="5047592"/>
            <a:ext cx="2233749" cy="130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9014460" y="4863566"/>
            <a:ext cx="378823" cy="3940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Elbow Connector 19"/>
          <p:cNvCxnSpPr>
            <a:stCxn id="5" idx="3"/>
            <a:endCxn id="18" idx="2"/>
          </p:cNvCxnSpPr>
          <p:nvPr/>
        </p:nvCxnSpPr>
        <p:spPr>
          <a:xfrm flipV="1">
            <a:off x="7485018" y="5060609"/>
            <a:ext cx="1529442"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4" idx="3"/>
            <a:endCxn id="18" idx="0"/>
          </p:cNvCxnSpPr>
          <p:nvPr/>
        </p:nvCxnSpPr>
        <p:spPr>
          <a:xfrm>
            <a:off x="7485018" y="4137501"/>
            <a:ext cx="1718854" cy="72606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6" idx="3"/>
            <a:endCxn id="18" idx="4"/>
          </p:cNvCxnSpPr>
          <p:nvPr/>
        </p:nvCxnSpPr>
        <p:spPr>
          <a:xfrm flipV="1">
            <a:off x="7485018" y="5257651"/>
            <a:ext cx="1718854" cy="78392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6"/>
          </p:cNvCxnSpPr>
          <p:nvPr/>
        </p:nvCxnSpPr>
        <p:spPr>
          <a:xfrm flipV="1">
            <a:off x="9393283" y="5060608"/>
            <a:ext cx="73043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023974" y="4678900"/>
            <a:ext cx="665567" cy="369332"/>
          </a:xfrm>
          <a:prstGeom prst="rect">
            <a:avLst/>
          </a:prstGeom>
          <a:noFill/>
        </p:spPr>
        <p:txBody>
          <a:bodyPr wrap="none" rtlCol="0">
            <a:spAutoFit/>
          </a:bodyPr>
          <a:lstStyle/>
          <a:p>
            <a:r>
              <a:rPr lang="en-US" dirty="0"/>
              <a:t>Error</a:t>
            </a:r>
          </a:p>
        </p:txBody>
      </p:sp>
      <p:sp>
        <p:nvSpPr>
          <p:cNvPr id="29" name="TextBox 28"/>
          <p:cNvSpPr txBox="1"/>
          <p:nvPr/>
        </p:nvSpPr>
        <p:spPr>
          <a:xfrm>
            <a:off x="9458148" y="4492714"/>
            <a:ext cx="1275166" cy="646331"/>
          </a:xfrm>
          <a:prstGeom prst="rect">
            <a:avLst/>
          </a:prstGeom>
          <a:noFill/>
        </p:spPr>
        <p:txBody>
          <a:bodyPr wrap="square" rtlCol="0">
            <a:spAutoFit/>
          </a:bodyPr>
          <a:lstStyle/>
          <a:p>
            <a:r>
              <a:rPr lang="en-US" dirty="0"/>
              <a:t>Controller output</a:t>
            </a:r>
          </a:p>
        </p:txBody>
      </p:sp>
      <p:pic>
        <p:nvPicPr>
          <p:cNvPr id="30" name="Picture 29"/>
          <p:cNvPicPr>
            <a:picLocks noChangeAspect="1"/>
          </p:cNvPicPr>
          <p:nvPr/>
        </p:nvPicPr>
        <p:blipFill rotWithShape="1">
          <a:blip r:embed="rId3"/>
          <a:srcRect l="-1483" t="347" r="1483" b="41665"/>
          <a:stretch/>
        </p:blipFill>
        <p:spPr>
          <a:xfrm>
            <a:off x="8249739" y="88246"/>
            <a:ext cx="3523983" cy="2181679"/>
          </a:xfrm>
          <a:prstGeom prst="rect">
            <a:avLst/>
          </a:prstGeom>
        </p:spPr>
      </p:pic>
    </p:spTree>
    <p:extLst>
      <p:ext uri="{BB962C8B-B14F-4D97-AF65-F5344CB8AC3E}">
        <p14:creationId xmlns:p14="http://schemas.microsoft.com/office/powerpoint/2010/main" val="3162030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PID Controller part 2</a:t>
            </a:r>
          </a:p>
        </p:txBody>
      </p:sp>
      <p:sp>
        <p:nvSpPr>
          <p:cNvPr id="3" name="Content Placeholder 2"/>
          <p:cNvSpPr>
            <a:spLocks noGrp="1"/>
          </p:cNvSpPr>
          <p:nvPr>
            <p:ph idx="1"/>
          </p:nvPr>
        </p:nvSpPr>
        <p:spPr>
          <a:xfrm>
            <a:off x="1120000" y="1503431"/>
            <a:ext cx="10233800" cy="2794249"/>
          </a:xfrm>
        </p:spPr>
        <p:txBody>
          <a:bodyPr>
            <a:normAutofit fontScale="77500" lnSpcReduction="20000"/>
          </a:bodyPr>
          <a:lstStyle/>
          <a:p>
            <a:r>
              <a:rPr lang="en-US" dirty="0"/>
              <a:t>Proportional path remove current error get to desire output as soon as possible </a:t>
            </a:r>
          </a:p>
          <a:p>
            <a:r>
              <a:rPr lang="en-US" dirty="0"/>
              <a:t>Integral path is used to remove constant errors in the control system, no matter how small the constant error, the summation will by significant enough to adjust controller output</a:t>
            </a:r>
          </a:p>
          <a:p>
            <a:r>
              <a:rPr lang="en-US" dirty="0"/>
              <a:t>Derivative path – the rate of change which contributes to the output signal. , limits you to over shoot desired output </a:t>
            </a:r>
          </a:p>
          <a:p>
            <a:r>
              <a:rPr lang="en-US" dirty="0"/>
              <a:t>Look at home: https://www.youtube.com/watch?v=XfAt6hNV8XM&amp;feature=iv&amp;src_vid=UR0hOmjaHp0&amp;annotation_id=annotation_891845</a:t>
            </a:r>
          </a:p>
        </p:txBody>
      </p:sp>
      <p:pic>
        <p:nvPicPr>
          <p:cNvPr id="4" name="Picture 3"/>
          <p:cNvPicPr>
            <a:picLocks noChangeAspect="1"/>
          </p:cNvPicPr>
          <p:nvPr/>
        </p:nvPicPr>
        <p:blipFill>
          <a:blip r:embed="rId3"/>
          <a:stretch>
            <a:fillRect/>
          </a:stretch>
        </p:blipFill>
        <p:spPr>
          <a:xfrm>
            <a:off x="1956025" y="4297680"/>
            <a:ext cx="8279949" cy="2433449"/>
          </a:xfrm>
          <a:prstGeom prst="rect">
            <a:avLst/>
          </a:prstGeom>
        </p:spPr>
      </p:pic>
    </p:spTree>
    <p:extLst>
      <p:ext uri="{BB962C8B-B14F-4D97-AF65-F5344CB8AC3E}">
        <p14:creationId xmlns:p14="http://schemas.microsoft.com/office/powerpoint/2010/main" val="4247819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DA497-9726-4D3B-AA2B-0F4BF6FF4E8E}"/>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68A33436-AEFD-4D55-9F58-94ADA6D3DFC3}"/>
              </a:ext>
            </a:extLst>
          </p:cNvPr>
          <p:cNvPicPr>
            <a:picLocks noGrp="1" noChangeAspect="1"/>
          </p:cNvPicPr>
          <p:nvPr>
            <p:ph idx="1"/>
          </p:nvPr>
        </p:nvPicPr>
        <p:blipFill>
          <a:blip r:embed="rId3"/>
          <a:stretch>
            <a:fillRect/>
          </a:stretch>
        </p:blipFill>
        <p:spPr>
          <a:xfrm>
            <a:off x="2175723" y="3484996"/>
            <a:ext cx="7023344" cy="3373004"/>
          </a:xfrm>
          <a:prstGeom prst="rect">
            <a:avLst/>
          </a:prstGeom>
        </p:spPr>
      </p:pic>
      <p:pic>
        <p:nvPicPr>
          <p:cNvPr id="4" name="Picture 3">
            <a:extLst>
              <a:ext uri="{FF2B5EF4-FFF2-40B4-BE49-F238E27FC236}">
                <a16:creationId xmlns:a16="http://schemas.microsoft.com/office/drawing/2014/main" id="{2AD8DE1C-109D-4DBA-90E1-6B887A8272C4}"/>
              </a:ext>
            </a:extLst>
          </p:cNvPr>
          <p:cNvPicPr>
            <a:picLocks noChangeAspect="1"/>
          </p:cNvPicPr>
          <p:nvPr/>
        </p:nvPicPr>
        <p:blipFill>
          <a:blip r:embed="rId4"/>
          <a:stretch>
            <a:fillRect/>
          </a:stretch>
        </p:blipFill>
        <p:spPr>
          <a:xfrm>
            <a:off x="1511695" y="80432"/>
            <a:ext cx="7992172" cy="3488417"/>
          </a:xfrm>
          <a:prstGeom prst="rect">
            <a:avLst/>
          </a:prstGeom>
        </p:spPr>
      </p:pic>
    </p:spTree>
    <p:extLst>
      <p:ext uri="{BB962C8B-B14F-4D97-AF65-F5344CB8AC3E}">
        <p14:creationId xmlns:p14="http://schemas.microsoft.com/office/powerpoint/2010/main" val="935366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920-CFEB-4ED2-BB1F-7CF811968EA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8DBC0B5-5956-4E10-B816-3C8748977D61}"/>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B7BD52BF-CF3C-4476-843C-41089F7572BE}"/>
              </a:ext>
            </a:extLst>
          </p:cNvPr>
          <p:cNvPicPr>
            <a:picLocks noChangeAspect="1"/>
          </p:cNvPicPr>
          <p:nvPr/>
        </p:nvPicPr>
        <p:blipFill>
          <a:blip r:embed="rId2"/>
          <a:stretch>
            <a:fillRect/>
          </a:stretch>
        </p:blipFill>
        <p:spPr>
          <a:xfrm>
            <a:off x="236948" y="229272"/>
            <a:ext cx="11458049" cy="6063952"/>
          </a:xfrm>
          <a:prstGeom prst="rect">
            <a:avLst/>
          </a:prstGeom>
        </p:spPr>
      </p:pic>
    </p:spTree>
    <p:extLst>
      <p:ext uri="{BB962C8B-B14F-4D97-AF65-F5344CB8AC3E}">
        <p14:creationId xmlns:p14="http://schemas.microsoft.com/office/powerpoint/2010/main" val="3457631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PID Tuning	</a:t>
            </a:r>
          </a:p>
        </p:txBody>
      </p:sp>
      <p:sp>
        <p:nvSpPr>
          <p:cNvPr id="3" name="Content Placeholder 2"/>
          <p:cNvSpPr>
            <a:spLocks noGrp="1"/>
          </p:cNvSpPr>
          <p:nvPr>
            <p:ph idx="1"/>
          </p:nvPr>
        </p:nvSpPr>
        <p:spPr/>
        <p:txBody>
          <a:bodyPr/>
          <a:lstStyle/>
          <a:p>
            <a:r>
              <a:rPr lang="en-US" dirty="0"/>
              <a:t>The process of setting the optimal gains for P, I and D to get an ideal response from a control system is called tuning</a:t>
            </a:r>
          </a:p>
          <a:p>
            <a:r>
              <a:rPr lang="en-US" dirty="0"/>
              <a:t>A lot of different Methods</a:t>
            </a:r>
          </a:p>
          <a:p>
            <a:pPr lvl="1"/>
            <a:r>
              <a:rPr lang="en-US" dirty="0"/>
              <a:t>Guess And Check</a:t>
            </a:r>
          </a:p>
          <a:p>
            <a:pPr lvl="1"/>
            <a:r>
              <a:rPr lang="en-US" dirty="0"/>
              <a:t>Ziegler-Nichols</a:t>
            </a:r>
          </a:p>
          <a:p>
            <a:pPr lvl="1"/>
            <a:r>
              <a:rPr lang="en-US" dirty="0"/>
              <a:t>Cohen-Coon Method</a:t>
            </a:r>
          </a:p>
          <a:p>
            <a:pPr lvl="1"/>
            <a:r>
              <a:rPr lang="en-US" dirty="0" err="1"/>
              <a:t>Tyreus-Luyben</a:t>
            </a:r>
            <a:r>
              <a:rPr lang="en-US" dirty="0"/>
              <a:t> Method</a:t>
            </a:r>
          </a:p>
          <a:p>
            <a:pPr lvl="1"/>
            <a:r>
              <a:rPr lang="en-US" dirty="0" err="1"/>
              <a:t>Autotune</a:t>
            </a:r>
            <a:r>
              <a:rPr lang="en-US" dirty="0"/>
              <a:t> Method </a:t>
            </a:r>
          </a:p>
        </p:txBody>
      </p:sp>
      <p:pic>
        <p:nvPicPr>
          <p:cNvPr id="5" name="Picture 4">
            <a:extLst>
              <a:ext uri="{FF2B5EF4-FFF2-40B4-BE49-F238E27FC236}">
                <a16:creationId xmlns:a16="http://schemas.microsoft.com/office/drawing/2014/main" id="{A382B21A-E8FA-4460-A8B7-4F2039B193CB}"/>
              </a:ext>
            </a:extLst>
          </p:cNvPr>
          <p:cNvPicPr>
            <a:picLocks noChangeAspect="1"/>
          </p:cNvPicPr>
          <p:nvPr/>
        </p:nvPicPr>
        <p:blipFill>
          <a:blip r:embed="rId2"/>
          <a:stretch>
            <a:fillRect/>
          </a:stretch>
        </p:blipFill>
        <p:spPr>
          <a:xfrm>
            <a:off x="5407233" y="2819400"/>
            <a:ext cx="6441162" cy="3673475"/>
          </a:xfrm>
          <a:prstGeom prst="rect">
            <a:avLst/>
          </a:prstGeom>
        </p:spPr>
      </p:pic>
    </p:spTree>
    <p:extLst>
      <p:ext uri="{BB962C8B-B14F-4D97-AF65-F5344CB8AC3E}">
        <p14:creationId xmlns:p14="http://schemas.microsoft.com/office/powerpoint/2010/main" val="77216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9B3503-D505-49AA-97C1-B299D58DB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7746" y="0"/>
            <a:ext cx="8124253" cy="6858000"/>
          </a:xfrm>
          <a:prstGeom prst="rect">
            <a:avLst/>
          </a:prstGeom>
          <a:solidFill>
            <a:schemeClr val="bg1">
              <a:alpha val="20000"/>
            </a:schemeClr>
          </a:solidFill>
          <a:ln>
            <a:noFill/>
          </a:ln>
          <a:effectLst>
            <a:innerShdw blurRad="139700" dist="50800" dir="5400000">
              <a:prstClr val="black">
                <a:alpha val="2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E39A2319-946A-4C65-9B7C-1F86E9B1B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067747" cy="6857996"/>
          </a:xfrm>
          <a:prstGeom prst="rect">
            <a:avLst/>
          </a:pr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7889" y="1349680"/>
            <a:ext cx="2931320" cy="4449541"/>
          </a:xfrm>
        </p:spPr>
        <p:txBody>
          <a:bodyPr anchor="t">
            <a:normAutofit/>
          </a:bodyPr>
          <a:lstStyle/>
          <a:p>
            <a:r>
              <a:rPr lang="en-US" sz="4800">
                <a:solidFill>
                  <a:schemeClr val="tx1"/>
                </a:solidFill>
              </a:rPr>
              <a:t>Guess And Check</a:t>
            </a:r>
          </a:p>
        </p:txBody>
      </p:sp>
      <p:graphicFrame>
        <p:nvGraphicFramePr>
          <p:cNvPr id="5" name="Content Placeholder 2">
            <a:extLst>
              <a:ext uri="{FF2B5EF4-FFF2-40B4-BE49-F238E27FC236}">
                <a16:creationId xmlns:a16="http://schemas.microsoft.com/office/drawing/2014/main" id="{7932BD7C-8054-434F-BE04-E7FA34D1E081}"/>
              </a:ext>
            </a:extLst>
          </p:cNvPr>
          <p:cNvGraphicFramePr>
            <a:graphicFrameLocks noGrp="1"/>
          </p:cNvGraphicFramePr>
          <p:nvPr>
            <p:ph idx="1"/>
            <p:extLst>
              <p:ext uri="{D42A27DB-BD31-4B8C-83A1-F6EECF244321}">
                <p14:modId xmlns:p14="http://schemas.microsoft.com/office/powerpoint/2010/main" val="3221605970"/>
              </p:ext>
            </p:extLst>
          </p:nvPr>
        </p:nvGraphicFramePr>
        <p:xfrm>
          <a:off x="4662106" y="640075"/>
          <a:ext cx="6912245" cy="5536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7578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Ziegler-Nichols</a:t>
            </a:r>
          </a:p>
        </p:txBody>
      </p:sp>
      <p:sp>
        <p:nvSpPr>
          <p:cNvPr id="3" name="Content Placeholder 2"/>
          <p:cNvSpPr>
            <a:spLocks noGrp="1"/>
          </p:cNvSpPr>
          <p:nvPr>
            <p:ph idx="1"/>
          </p:nvPr>
        </p:nvSpPr>
        <p:spPr>
          <a:xfrm>
            <a:off x="1120000" y="1363047"/>
            <a:ext cx="10233800" cy="4351338"/>
          </a:xfrm>
        </p:spPr>
        <p:txBody>
          <a:bodyPr/>
          <a:lstStyle/>
          <a:p>
            <a:r>
              <a:rPr lang="en-US" dirty="0"/>
              <a:t>Determine the sign of process gain Implement a proportional control and introducing a new set-point.</a:t>
            </a:r>
          </a:p>
          <a:p>
            <a:r>
              <a:rPr lang="en-US" dirty="0"/>
              <a:t>Increase proportional gain until sustained periodic oscillation.</a:t>
            </a:r>
          </a:p>
          <a:p>
            <a:r>
              <a:rPr lang="en-US" dirty="0"/>
              <a:t>Record critical gain and ultimate period (Ku Pu)</a:t>
            </a:r>
          </a:p>
          <a:p>
            <a:r>
              <a:rPr lang="en-US" dirty="0"/>
              <a:t>Evaluate control parameters as prescribed by Ziegler and Nichols</a:t>
            </a:r>
            <a:endParaRPr lang="cs-CZ" dirty="0"/>
          </a:p>
          <a:p>
            <a:r>
              <a:rPr lang="en-US" dirty="0"/>
              <a:t>https://www.youtube.com/watch?v=nvAQHSe-Ax4</a:t>
            </a:r>
          </a:p>
        </p:txBody>
      </p:sp>
      <p:pic>
        <p:nvPicPr>
          <p:cNvPr id="4" name="Picture 3"/>
          <p:cNvPicPr>
            <a:picLocks noChangeAspect="1"/>
          </p:cNvPicPr>
          <p:nvPr/>
        </p:nvPicPr>
        <p:blipFill>
          <a:blip r:embed="rId3"/>
          <a:stretch>
            <a:fillRect/>
          </a:stretch>
        </p:blipFill>
        <p:spPr>
          <a:xfrm>
            <a:off x="3299531" y="4216385"/>
            <a:ext cx="5592937" cy="2641615"/>
          </a:xfrm>
          <a:prstGeom prst="rect">
            <a:avLst/>
          </a:prstGeom>
        </p:spPr>
      </p:pic>
      <p:pic>
        <p:nvPicPr>
          <p:cNvPr id="5" name="Picture 4">
            <a:extLst>
              <a:ext uri="{FF2B5EF4-FFF2-40B4-BE49-F238E27FC236}">
                <a16:creationId xmlns:a16="http://schemas.microsoft.com/office/drawing/2014/main" id="{11004C44-8D94-4E77-9179-7472DC33D771}"/>
              </a:ext>
            </a:extLst>
          </p:cNvPr>
          <p:cNvPicPr>
            <a:picLocks noChangeAspect="1"/>
          </p:cNvPicPr>
          <p:nvPr/>
        </p:nvPicPr>
        <p:blipFill>
          <a:blip r:embed="rId4"/>
          <a:stretch>
            <a:fillRect/>
          </a:stretch>
        </p:blipFill>
        <p:spPr>
          <a:xfrm>
            <a:off x="12613650" y="4341729"/>
            <a:ext cx="6454266" cy="2161904"/>
          </a:xfrm>
          <a:prstGeom prst="rect">
            <a:avLst/>
          </a:prstGeom>
        </p:spPr>
      </p:pic>
      <p:pic>
        <p:nvPicPr>
          <p:cNvPr id="6" name="Picture 5">
            <a:extLst>
              <a:ext uri="{FF2B5EF4-FFF2-40B4-BE49-F238E27FC236}">
                <a16:creationId xmlns:a16="http://schemas.microsoft.com/office/drawing/2014/main" id="{BA253D72-126D-499C-B422-26E74613F867}"/>
              </a:ext>
            </a:extLst>
          </p:cNvPr>
          <p:cNvPicPr>
            <a:picLocks noChangeAspect="1"/>
          </p:cNvPicPr>
          <p:nvPr/>
        </p:nvPicPr>
        <p:blipFill>
          <a:blip r:embed="rId5"/>
          <a:stretch>
            <a:fillRect/>
          </a:stretch>
        </p:blipFill>
        <p:spPr>
          <a:xfrm>
            <a:off x="12592134" y="365125"/>
            <a:ext cx="5114925" cy="3333750"/>
          </a:xfrm>
          <a:prstGeom prst="rect">
            <a:avLst/>
          </a:prstGeom>
        </p:spPr>
      </p:pic>
    </p:spTree>
    <p:extLst>
      <p:ext uri="{BB962C8B-B14F-4D97-AF65-F5344CB8AC3E}">
        <p14:creationId xmlns:p14="http://schemas.microsoft.com/office/powerpoint/2010/main" val="613564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Practical task </a:t>
            </a:r>
          </a:p>
        </p:txBody>
      </p:sp>
      <p:sp>
        <p:nvSpPr>
          <p:cNvPr id="3" name="Content Placeholder 2"/>
          <p:cNvSpPr>
            <a:spLocks noGrp="1"/>
          </p:cNvSpPr>
          <p:nvPr>
            <p:ph idx="1"/>
          </p:nvPr>
        </p:nvSpPr>
        <p:spPr/>
        <p:txBody>
          <a:bodyPr vert="horz" lIns="91440" tIns="45720" rIns="91440" bIns="45720" rtlCol="0" anchor="t">
            <a:normAutofit/>
          </a:bodyPr>
          <a:lstStyle/>
          <a:p>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Study the system below</a:t>
            </a:r>
          </a:p>
          <a:p>
            <a:pPr marL="0" indent="0">
              <a:buNone/>
            </a:pPr>
            <a:endPar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pPr marL="0" indent="0">
              <a:buNone/>
            </a:pPr>
            <a:endPar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pPr marL="0" indent="0">
              <a:buNone/>
            </a:pPr>
            <a:endPar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pPr marL="0" indent="0">
              <a:buNone/>
            </a:pPr>
            <a:endPar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endParaRPr lang="en-US" dirty="0">
              <a:gradFill>
                <a:gsLst>
                  <a:gs pos="0">
                    <a:srgbClr val="000000"/>
                  </a:gs>
                  <a:gs pos="34000">
                    <a:srgbClr val="FFFFFF"/>
                  </a:gs>
                  <a:gs pos="100000">
                    <a:srgbClr val="94D7E4">
                      <a:lumMod val="0"/>
                      <a:lumOff val="100000"/>
                    </a:srgbClr>
                  </a:gs>
                </a:gsLst>
                <a:lin ang="4800000" scaled="0"/>
              </a:gradFill>
            </a:endParaRPr>
          </a:p>
          <a:p>
            <a:endParaRPr lang="en-US" dirty="0">
              <a:gradFill>
                <a:gsLst>
                  <a:gs pos="0">
                    <a:srgbClr val="000000"/>
                  </a:gs>
                  <a:gs pos="34000">
                    <a:srgbClr val="FFFFFF"/>
                  </a:gs>
                  <a:gs pos="100000">
                    <a:srgbClr val="94D7E4">
                      <a:lumMod val="0"/>
                      <a:lumOff val="100000"/>
                    </a:srgbClr>
                  </a:gs>
                </a:gsLst>
                <a:lin ang="4800000" scaled="0"/>
              </a:gradFill>
            </a:endParaRPr>
          </a:p>
          <a:p>
            <a:r>
              <a:rPr lang="en-US" dirty="0">
                <a:gradFill>
                  <a:gsLst>
                    <a:gs pos="0">
                      <a:srgbClr val="000000"/>
                    </a:gs>
                    <a:gs pos="34000">
                      <a:srgbClr val="FFFFFF"/>
                    </a:gs>
                    <a:gs pos="100000">
                      <a:srgbClr val="94D7E4">
                        <a:lumMod val="0"/>
                        <a:lumOff val="100000"/>
                      </a:srgbClr>
                    </a:gs>
                  </a:gsLst>
                  <a:lin ang="4800000" scaled="0"/>
                </a:gradFill>
              </a:rPr>
              <a:t>Implement ZN method to find suitable PID constants. </a:t>
            </a:r>
            <a:endPar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pPr marL="0" indent="0">
              <a:buNone/>
            </a:pPr>
            <a:endParaRPr lang="en-US" dirty="0">
              <a:gradFill>
                <a:gsLst>
                  <a:gs pos="0">
                    <a:srgbClr val="000000"/>
                  </a:gs>
                  <a:gs pos="34000">
                    <a:srgbClr val="FFFFFF"/>
                  </a:gs>
                  <a:gs pos="100000">
                    <a:srgbClr val="94D7E4">
                      <a:lumMod val="0"/>
                      <a:lumOff val="100000"/>
                    </a:srgbClr>
                  </a:gs>
                </a:gsLst>
                <a:lin ang="4800000" scaled="0"/>
              </a:gradFill>
            </a:endParaRPr>
          </a:p>
        </p:txBody>
      </p:sp>
      <p:pic>
        <p:nvPicPr>
          <p:cNvPr id="5" name="Picture 4" descr="A diagram of a road&#10;&#10;AI-generated content may be incorrect.">
            <a:extLst>
              <a:ext uri="{FF2B5EF4-FFF2-40B4-BE49-F238E27FC236}">
                <a16:creationId xmlns:a16="http://schemas.microsoft.com/office/drawing/2014/main" id="{6C3610F7-15B3-4E4D-E633-E5169FC0FDAD}"/>
              </a:ext>
            </a:extLst>
          </p:cNvPr>
          <p:cNvPicPr>
            <a:picLocks noChangeAspect="1"/>
          </p:cNvPicPr>
          <p:nvPr/>
        </p:nvPicPr>
        <p:blipFill>
          <a:blip r:embed="rId2"/>
          <a:stretch>
            <a:fillRect/>
          </a:stretch>
        </p:blipFill>
        <p:spPr>
          <a:xfrm>
            <a:off x="3697865" y="2356861"/>
            <a:ext cx="3006725" cy="2813916"/>
          </a:xfrm>
          <a:prstGeom prst="rect">
            <a:avLst/>
          </a:prstGeom>
        </p:spPr>
      </p:pic>
    </p:spTree>
    <p:extLst>
      <p:ext uri="{BB962C8B-B14F-4D97-AF65-F5344CB8AC3E}">
        <p14:creationId xmlns:p14="http://schemas.microsoft.com/office/powerpoint/2010/main" val="1834255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4825" y="80225"/>
            <a:ext cx="8596668" cy="767787"/>
          </a:xfrm>
        </p:spPr>
        <p:txBody>
          <a:bodyPr>
            <a:normAutofit fontScale="90000"/>
          </a:bodyPr>
          <a:lstStyle/>
          <a:p>
            <a:r>
              <a:rPr lang="en-US" dirty="0"/>
              <a:t>Energy used by vehicle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868680"/>
                <a:ext cx="10188786" cy="5775959"/>
              </a:xfrm>
            </p:spPr>
            <p:txBody>
              <a:bodyPr>
                <a:normAutofit fontScale="92500" lnSpcReduction="20000"/>
              </a:bodyPr>
              <a:lstStyle/>
              <a:p>
                <a:r>
                  <a:rPr lang="en-US" dirty="0"/>
                  <a:t>The energy consumption models are developed from the first principles of 	mechanics and the vehicle parameters </a:t>
                </a:r>
              </a:p>
              <a:p>
                <a:pPr marL="0"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ctrlPr>
                        </m:sSubPr>
                        <m:e>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𝑂</m:t>
                          </m:r>
                        </m:e>
                        <m: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𝑡𝑜𝑡𝑎𝑙</m:t>
                          </m:r>
                        </m:sub>
                      </m:s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m:t>
                      </m:r>
                      <m:f>
                        <m:fPr>
                          <m:ctrlP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ctrlPr>
                        </m:fPr>
                        <m:num>
                          <m:sSub>
                            <m:sSubPr>
                              <m:ctrlP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ctrlPr>
                            </m:sSubPr>
                            <m:e>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𝑂</m:t>
                              </m:r>
                            </m:e>
                            <m: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𝐹</m:t>
                              </m:r>
                            </m:sub>
                          </m:s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m:t>
                          </m:r>
                          <m:sSub>
                            <m:sSubPr>
                              <m:ctrlP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ctrlPr>
                            </m:sSubPr>
                            <m:e>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𝑂</m:t>
                              </m:r>
                            </m:e>
                            <m: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𝑉</m:t>
                              </m:r>
                            </m:sub>
                          </m:s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m:t>
                          </m:r>
                          <m:sSub>
                            <m:sSubPr>
                              <m:ctrlP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ctrlPr>
                            </m:sSubPr>
                            <m:e>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𝑂</m:t>
                              </m:r>
                            </m:e>
                            <m: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𝑆</m:t>
                              </m:r>
                            </m:sub>
                          </m:s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m:t>
                          </m:r>
                          <m:sSub>
                            <m:sSubPr>
                              <m:ctrlP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ctrlPr>
                            </m:sSubPr>
                            <m:e>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𝑂</m:t>
                              </m:r>
                            </m:e>
                            <m: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𝑍</m:t>
                              </m:r>
                            </m:sub>
                          </m:sSub>
                        </m:num>
                        <m:den>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𝜂</m:t>
                          </m:r>
                        </m:den>
                      </m:f>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m:t>
                      </m:r>
                      <m:sSub>
                        <m:sSubPr>
                          <m:ctrlP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ctrlPr>
                        </m:sSubPr>
                        <m:e>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𝑂</m:t>
                          </m:r>
                        </m:e>
                        <m:sub>
                          <m:r>
                            <a:rPr lang="en-US" sz="3200" b="1" i="1">
                              <a:ln w="22225">
                                <a:solidFill>
                                  <a:schemeClr val="accent2"/>
                                </a:solidFill>
                                <a:prstDash val="solid"/>
                              </a:ln>
                              <a:solidFill>
                                <a:schemeClr val="accent2">
                                  <a:lumMod val="40000"/>
                                  <a:lumOff val="60000"/>
                                </a:schemeClr>
                              </a:solidFill>
                              <a:latin typeface="Cambria Math" panose="02040503050406030204" pitchFamily="18" charset="0"/>
                            </a:rPr>
                            <m:t>𝑎𝑢𝑥</m:t>
                          </m:r>
                        </m:sub>
                      </m:sSub>
                    </m:oMath>
                  </m:oMathPara>
                </a14:m>
                <a:endParaRPr lang="en-US" dirty="0"/>
              </a:p>
              <a:p>
                <a:pPr marL="0" indent="0">
                  <a:buNone/>
                </a:pPr>
                <a:r>
                  <a:rPr lang="en-US" dirty="0"/>
                  <a:t>O</a:t>
                </a:r>
                <a:r>
                  <a:rPr lang="en-US" baseline="-25000" dirty="0"/>
                  <a:t>V  </a:t>
                </a:r>
                <a:r>
                  <a:rPr lang="en-US" dirty="0"/>
                  <a:t>Drag resistance;</a:t>
                </a:r>
                <a:endParaRPr lang="en-US" sz="2000" dirty="0"/>
              </a:p>
              <a:p>
                <a:pPr marL="0" indent="0">
                  <a:buNone/>
                </a:pPr>
                <a:endParaRPr lang="en-US" dirty="0"/>
              </a:p>
              <a:p>
                <a:pPr marL="0" indent="0">
                  <a:buNone/>
                </a:pPr>
                <a:r>
                  <a:rPr lang="en-US" dirty="0"/>
                  <a:t>O</a:t>
                </a:r>
                <a:r>
                  <a:rPr lang="en-US" baseline="-25000" dirty="0"/>
                  <a:t>f</a:t>
                </a:r>
                <a:r>
                  <a:rPr lang="en-US" dirty="0"/>
                  <a:t>  Friction (Rolling) Resistance;</a:t>
                </a:r>
                <a:endParaRPr lang="en-US" sz="2000" dirty="0"/>
              </a:p>
              <a:p>
                <a:pPr marL="0" indent="0">
                  <a:buNone/>
                </a:pPr>
                <a:endParaRPr lang="en-US" dirty="0"/>
              </a:p>
              <a:p>
                <a:pPr marL="0" indent="0">
                  <a:buNone/>
                </a:pPr>
                <a:r>
                  <a:rPr lang="en-US" dirty="0"/>
                  <a:t>O</a:t>
                </a:r>
                <a:r>
                  <a:rPr lang="en-US" baseline="-25000" dirty="0"/>
                  <a:t>z </a:t>
                </a:r>
                <a:r>
                  <a:rPr lang="en-US" dirty="0"/>
                  <a:t>Acceleration resistance;</a:t>
                </a:r>
                <a:endParaRPr lang="en-US" sz="2000" dirty="0"/>
              </a:p>
              <a:p>
                <a:pPr marL="0" indent="0">
                  <a:buNone/>
                </a:pPr>
                <a:endParaRPr lang="en-US" dirty="0"/>
              </a:p>
              <a:p>
                <a:pPr marL="0" indent="0">
                  <a:buNone/>
                </a:pPr>
                <a:r>
                  <a:rPr lang="en-US" dirty="0"/>
                  <a:t>O</a:t>
                </a:r>
                <a:r>
                  <a:rPr lang="en-US" baseline="-25000" dirty="0"/>
                  <a:t>s</a:t>
                </a:r>
                <a:r>
                  <a:rPr lang="en-US" dirty="0"/>
                  <a:t>- Resistance to overcome a slope;</a:t>
                </a:r>
                <a:endParaRPr lang="en-US" sz="2000" dirty="0"/>
              </a:p>
              <a:p>
                <a:pPr marL="0" indent="0">
                  <a:buNone/>
                </a:pPr>
                <a:endParaRPr lang="en-US" dirty="0"/>
              </a:p>
              <a:p>
                <a:pPr marL="0" indent="0">
                  <a:buNone/>
                </a:pPr>
                <a:r>
                  <a:rPr lang="en-US" dirty="0"/>
                  <a:t>O</a:t>
                </a:r>
                <a:r>
                  <a:rPr lang="en-US" baseline="-25000" dirty="0"/>
                  <a:t>aux </a:t>
                </a:r>
                <a:r>
                  <a:rPr lang="en-US" dirty="0"/>
                  <a:t>- losses from ‘all other’ electrical equipment’s</a:t>
                </a:r>
              </a:p>
              <a:p>
                <a:pPr marL="45720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7334" y="868680"/>
                <a:ext cx="10188786" cy="5775959"/>
              </a:xfrm>
              <a:blipFill>
                <a:blip r:embed="rId3"/>
                <a:stretch>
                  <a:fillRect/>
                </a:stretch>
              </a:blipFill>
            </p:spPr>
            <p:txBody>
              <a:bodyPr/>
              <a:lstStyle/>
              <a:p>
                <a:r>
                  <a:rPr lang="en-GB">
                    <a:noFill/>
                  </a:rPr>
                  <a:t> </a:t>
                </a:r>
              </a:p>
            </p:txBody>
          </p:sp>
        </mc:Fallback>
      </mc:AlternateContent>
      <p:pic>
        <p:nvPicPr>
          <p:cNvPr id="9" name="Picture 8" descr="C:\Users\Dmitry\Dropbox\diplom\carforces.jpg"/>
          <p:cNvPicPr/>
          <p:nvPr/>
        </p:nvPicPr>
        <p:blipFill>
          <a:blip r:embed="rId4">
            <a:extLst>
              <a:ext uri="{28A0092B-C50C-407E-A947-70E740481C1C}">
                <a14:useLocalDpi xmlns:a14="http://schemas.microsoft.com/office/drawing/2010/main" val="0"/>
              </a:ext>
            </a:extLst>
          </a:blip>
          <a:srcRect/>
          <a:stretch>
            <a:fillRect/>
          </a:stretch>
        </p:blipFill>
        <p:spPr bwMode="auto">
          <a:xfrm>
            <a:off x="8820737" y="3842868"/>
            <a:ext cx="3344545" cy="2459673"/>
          </a:xfrm>
          <a:prstGeom prst="rect">
            <a:avLst/>
          </a:prstGeom>
          <a:ln>
            <a:noFill/>
          </a:ln>
          <a:effectLst>
            <a:outerShdw blurRad="190500" algn="tl" rotWithShape="0">
              <a:srgbClr val="000000">
                <a:alpha val="70000"/>
              </a:srgbClr>
            </a:outerShdw>
          </a:effectLst>
        </p:spPr>
      </p:pic>
      <mc:AlternateContent xmlns:mc="http://schemas.openxmlformats.org/markup-compatibility/2006" xmlns:a14="http://schemas.microsoft.com/office/drawing/2010/main">
        <mc:Choice Requires="a14">
          <p:sp>
            <p:nvSpPr>
              <p:cNvPr id="11" name="Rectangle 10"/>
              <p:cNvSpPr/>
              <p:nvPr/>
            </p:nvSpPr>
            <p:spPr>
              <a:xfrm>
                <a:off x="5604937" y="3644438"/>
                <a:ext cx="2362570" cy="3915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𝑓</m:t>
                          </m:r>
                        </m:sub>
                      </m:sSub>
                      <m:r>
                        <a:rPr lang="en-US" i="0">
                          <a:latin typeface="Cambria Math" panose="02040503050406030204" pitchFamily="18" charset="0"/>
                        </a:rPr>
                        <m:t>=</m:t>
                      </m:r>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𝑔</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r>
                        <a:rPr lang="en-US" i="0">
                          <a:latin typeface="Cambria Math" panose="02040503050406030204" pitchFamily="18" charset="0"/>
                        </a:rPr>
                        <m:t>∙</m:t>
                      </m:r>
                      <m:func>
                        <m:funcPr>
                          <m:ctrlPr>
                            <a:rPr lang="en-US" i="1">
                              <a:latin typeface="Cambria Math" panose="02040503050406030204" pitchFamily="18" charset="0"/>
                            </a:rPr>
                          </m:ctrlPr>
                        </m:funcPr>
                        <m:fName>
                          <m:r>
                            <m:rPr>
                              <m:sty m:val="p"/>
                            </m:rPr>
                            <a:rPr lang="en-US" i="0">
                              <a:latin typeface="Cambria Math" panose="02040503050406030204" pitchFamily="18" charset="0"/>
                            </a:rPr>
                            <m:t>cos</m:t>
                          </m:r>
                        </m:fName>
                        <m:e>
                          <m:r>
                            <a:rPr lang="en-US" i="1">
                              <a:latin typeface="Cambria Math" panose="02040503050406030204" pitchFamily="18" charset="0"/>
                            </a:rPr>
                            <m:t>𝛼</m:t>
                          </m:r>
                        </m:e>
                      </m:func>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5604937" y="3644438"/>
                <a:ext cx="2362570" cy="391582"/>
              </a:xfrm>
              <a:prstGeom prst="rect">
                <a:avLst/>
              </a:prstGeom>
              <a:blipFill rotWithShape="0">
                <a:blip r:embed="rId5"/>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470140" y="2677603"/>
                <a:ext cx="3350597"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𝑣</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den>
                      </m:f>
                      <m:r>
                        <a:rPr lang="en-US" i="0">
                          <a:latin typeface="Cambria Math" panose="02040503050406030204" pitchFamily="18" charset="0"/>
                        </a:rPr>
                        <m:t> </m:t>
                      </m:r>
                      <m:r>
                        <a:rPr lang="en-US" i="1">
                          <a:latin typeface="Cambria Math" panose="02040503050406030204" pitchFamily="18" charset="0"/>
                        </a:rPr>
                        <m:t>𝜌</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𝑥</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𝑥</m:t>
                          </m:r>
                        </m:sub>
                      </m:sSub>
                      <m:r>
                        <a:rPr lang="en-US" i="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𝑣</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𝑤𝑖𝑛𝑑</m:t>
                                  </m:r>
                                </m:sub>
                              </m:sSub>
                            </m:e>
                          </m:d>
                        </m:e>
                        <m:sup>
                          <m:r>
                            <a:rPr lang="en-US" i="0">
                              <a:latin typeface="Cambria Math" panose="02040503050406030204" pitchFamily="18" charset="0"/>
                            </a:rPr>
                            <m:t>2</m:t>
                          </m:r>
                        </m:sup>
                      </m:sSup>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5470140" y="2677603"/>
                <a:ext cx="3350597" cy="610936"/>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666160" y="4438266"/>
                <a:ext cx="15934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𝑧</m:t>
                          </m:r>
                        </m:sub>
                      </m:sSub>
                      <m:r>
                        <a:rPr lang="en-US" i="0">
                          <a:latin typeface="Cambria Math" panose="02040503050406030204" pitchFamily="18" charset="0"/>
                        </a:rPr>
                        <m:t>=</m:t>
                      </m:r>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𝑎</m:t>
                      </m:r>
                      <m:r>
                        <a:rPr lang="en-US" i="0">
                          <a:latin typeface="Cambria Math" panose="02040503050406030204" pitchFamily="18" charset="0"/>
                        </a:rPr>
                        <m:t>∙</m:t>
                      </m:r>
                      <m:r>
                        <a:rPr lang="en-US" i="1">
                          <a:latin typeface="Cambria Math" panose="02040503050406030204" pitchFamily="18" charset="0"/>
                        </a:rPr>
                        <m:t>𝑣</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5666160" y="4438266"/>
                <a:ext cx="1593450" cy="369332"/>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5681458" y="5233993"/>
                <a:ext cx="223971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𝑠</m:t>
                          </m:r>
                        </m:sub>
                      </m:sSub>
                      <m:r>
                        <a:rPr lang="en-US" i="0">
                          <a:latin typeface="Cambria Math" panose="02040503050406030204" pitchFamily="18" charset="0"/>
                        </a:rPr>
                        <m:t>=</m:t>
                      </m:r>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𝑔</m:t>
                      </m:r>
                      <m:r>
                        <a:rPr lang="en-US" i="0">
                          <a:latin typeface="Cambria Math" panose="02040503050406030204" pitchFamily="18" charset="0"/>
                        </a:rPr>
                        <m:t>∙</m:t>
                      </m:r>
                      <m:r>
                        <a:rPr lang="en-US" i="1">
                          <a:latin typeface="Cambria Math" panose="02040503050406030204" pitchFamily="18" charset="0"/>
                        </a:rPr>
                        <m:t>𝑣</m:t>
                      </m:r>
                      <m:r>
                        <a:rPr lang="en-US" i="0">
                          <a:latin typeface="Cambria Math" panose="02040503050406030204" pitchFamily="18" charset="0"/>
                        </a:rPr>
                        <m:t>∙</m:t>
                      </m:r>
                      <m:func>
                        <m:funcPr>
                          <m:ctrlPr>
                            <a:rPr lang="en-US" i="1">
                              <a:latin typeface="Cambria Math" panose="02040503050406030204" pitchFamily="18" charset="0"/>
                            </a:rPr>
                          </m:ctrlPr>
                        </m:funcPr>
                        <m:fName>
                          <m:r>
                            <m:rPr>
                              <m:sty m:val="p"/>
                            </m:rPr>
                            <a:rPr lang="en-US" i="0">
                              <a:latin typeface="Cambria Math" panose="02040503050406030204" pitchFamily="18" charset="0"/>
                            </a:rPr>
                            <m:t>sin</m:t>
                          </m:r>
                        </m:fName>
                        <m:e>
                          <m:r>
                            <a:rPr lang="en-US" i="1">
                              <a:latin typeface="Cambria Math" panose="02040503050406030204" pitchFamily="18" charset="0"/>
                            </a:rPr>
                            <m:t>𝛼</m:t>
                          </m:r>
                        </m:e>
                      </m:func>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5681458" y="5233993"/>
                <a:ext cx="2239716" cy="369332"/>
              </a:xfrm>
              <a:prstGeom prst="rect">
                <a:avLst/>
              </a:prstGeom>
              <a:blipFill rotWithShape="0">
                <a:blip r:embed="rId8"/>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410023" y="6448688"/>
                <a:ext cx="4723408" cy="3919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𝑎𝑢𝑥</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𝑐𝑙𝑖𝑚𝑎𝑡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𝑏𝑎𝑡𝑚𝑛𝑔𝑚</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𝑙𝑖𝑔h𝑡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𝑎𝑢𝑑𝑖𝑜</m:t>
                          </m:r>
                        </m:sub>
                      </m:sSub>
                    </m:oMath>
                  </m:oMathPara>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3410023" y="6448688"/>
                <a:ext cx="4723408" cy="391902"/>
              </a:xfrm>
              <a:prstGeom prst="rect">
                <a:avLst/>
              </a:prstGeom>
              <a:blipFill rotWithShape="0">
                <a:blip r:embed="rId9"/>
                <a:stretch>
                  <a:fillRect b="-10938"/>
                </a:stretch>
              </a:blipFill>
            </p:spPr>
            <p:txBody>
              <a:bodyPr/>
              <a:lstStyle/>
              <a:p>
                <a:r>
                  <a:rPr lang="en-US">
                    <a:noFill/>
                  </a:rPr>
                  <a:t> </a:t>
                </a:r>
              </a:p>
            </p:txBody>
          </p:sp>
        </mc:Fallback>
      </mc:AlternateContent>
    </p:spTree>
    <p:extLst>
      <p:ext uri="{BB962C8B-B14F-4D97-AF65-F5344CB8AC3E}">
        <p14:creationId xmlns:p14="http://schemas.microsoft.com/office/powerpoint/2010/main" val="3955071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Rolling resistance coefficient</a:t>
            </a:r>
          </a:p>
        </p:txBody>
      </p:sp>
      <p:pic>
        <p:nvPicPr>
          <p:cNvPr id="4" name="Picture 3"/>
          <p:cNvPicPr>
            <a:picLocks noChangeAspect="1"/>
          </p:cNvPicPr>
          <p:nvPr/>
        </p:nvPicPr>
        <p:blipFill>
          <a:blip r:embed="rId2"/>
          <a:stretch>
            <a:fillRect/>
          </a:stretch>
        </p:blipFill>
        <p:spPr>
          <a:xfrm>
            <a:off x="-1" y="1825871"/>
            <a:ext cx="6595259" cy="3885714"/>
          </a:xfrm>
          <a:prstGeom prst="rect">
            <a:avLst/>
          </a:prstGeom>
        </p:spPr>
      </p:pic>
      <p:pic>
        <p:nvPicPr>
          <p:cNvPr id="5" name="Picture 4"/>
          <p:cNvPicPr>
            <a:picLocks noChangeAspect="1"/>
          </p:cNvPicPr>
          <p:nvPr/>
        </p:nvPicPr>
        <p:blipFill>
          <a:blip r:embed="rId3"/>
          <a:stretch>
            <a:fillRect/>
          </a:stretch>
        </p:blipFill>
        <p:spPr>
          <a:xfrm>
            <a:off x="6344381" y="1825871"/>
            <a:ext cx="5847619" cy="3885714"/>
          </a:xfrm>
          <a:prstGeom prst="rect">
            <a:avLst/>
          </a:prstGeom>
        </p:spPr>
      </p:pic>
    </p:spTree>
    <p:extLst>
      <p:ext uri="{BB962C8B-B14F-4D97-AF65-F5344CB8AC3E}">
        <p14:creationId xmlns:p14="http://schemas.microsoft.com/office/powerpoint/2010/main" val="2732501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a:lum bright="-42000" contrast="58000"/>
            <a:extLst>
              <a:ext uri="{28A0092B-C50C-407E-A947-70E740481C1C}">
                <a14:useLocalDpi xmlns:a14="http://schemas.microsoft.com/office/drawing/2010/main" val="0"/>
              </a:ext>
            </a:extLst>
          </a:blip>
          <a:srcRect/>
          <a:stretch>
            <a:fillRect/>
          </a:stretch>
        </p:blipFill>
        <p:spPr bwMode="auto">
          <a:xfrm>
            <a:off x="1120000" y="365125"/>
            <a:ext cx="10146300" cy="63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726B792-F761-479D-AD84-701FE9C04CF6}"/>
                  </a:ext>
                </a:extLst>
              </p:cNvPr>
              <p:cNvSpPr/>
              <p:nvPr/>
            </p:nvSpPr>
            <p:spPr>
              <a:xfrm>
                <a:off x="2908745" y="1385220"/>
                <a:ext cx="3328155"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𝑂</m:t>
                          </m:r>
                        </m:e>
                        <m:sub>
                          <m:r>
                            <a:rPr lang="en-US" i="1">
                              <a:solidFill>
                                <a:schemeClr val="bg1"/>
                              </a:solidFill>
                              <a:latin typeface="Cambria Math" panose="02040503050406030204" pitchFamily="18" charset="0"/>
                            </a:rPr>
                            <m:t>𝑣</m:t>
                          </m:r>
                        </m:sub>
                      </m:sSub>
                      <m:r>
                        <a:rPr lang="en-US">
                          <a:solidFill>
                            <a:schemeClr val="bg1"/>
                          </a:solidFill>
                          <a:latin typeface="Cambria Math" panose="02040503050406030204" pitchFamily="18" charset="0"/>
                        </a:rPr>
                        <m:t>=</m:t>
                      </m:r>
                      <m:f>
                        <m:fPr>
                          <m:ctrlPr>
                            <a:rPr lang="en-US" i="1">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m:t>
                          </m:r>
                        </m:num>
                        <m:den>
                          <m:r>
                            <a:rPr lang="en-US">
                              <a:solidFill>
                                <a:schemeClr val="bg1"/>
                              </a:solidFill>
                              <a:latin typeface="Cambria Math" panose="02040503050406030204" pitchFamily="18" charset="0"/>
                            </a:rPr>
                            <m:t>2</m:t>
                          </m:r>
                        </m:den>
                      </m:f>
                      <m:r>
                        <a:rPr lang="en-US">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𝜌</m:t>
                      </m:r>
                      <m:r>
                        <a:rPr lang="en-US">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𝑐</m:t>
                          </m:r>
                        </m:e>
                        <m:sub>
                          <m:r>
                            <a:rPr lang="en-US" i="1">
                              <a:solidFill>
                                <a:schemeClr val="bg1"/>
                              </a:solidFill>
                              <a:latin typeface="Cambria Math" panose="02040503050406030204" pitchFamily="18" charset="0"/>
                            </a:rPr>
                            <m:t>𝑥</m:t>
                          </m:r>
                        </m:sub>
                      </m:sSub>
                      <m:r>
                        <a:rPr lang="en-US">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𝑆</m:t>
                          </m:r>
                        </m:e>
                        <m:sub>
                          <m:r>
                            <a:rPr lang="en-US" i="1">
                              <a:solidFill>
                                <a:schemeClr val="bg1"/>
                              </a:solidFill>
                              <a:latin typeface="Cambria Math" panose="02040503050406030204" pitchFamily="18" charset="0"/>
                            </a:rPr>
                            <m:t>𝑥</m:t>
                          </m:r>
                        </m:sub>
                      </m:sSub>
                      <m:r>
                        <a:rPr lang="en-US">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𝑣</m:t>
                              </m:r>
                              <m:r>
                                <a:rPr lang="en-US">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𝑣</m:t>
                                  </m:r>
                                </m:e>
                                <m:sub>
                                  <m:r>
                                    <a:rPr lang="en-US" i="1">
                                      <a:solidFill>
                                        <a:schemeClr val="bg1"/>
                                      </a:solidFill>
                                      <a:latin typeface="Cambria Math" panose="02040503050406030204" pitchFamily="18" charset="0"/>
                                    </a:rPr>
                                    <m:t>𝑤𝑖𝑛𝑑</m:t>
                                  </m:r>
                                </m:sub>
                              </m:sSub>
                            </m:e>
                          </m:d>
                        </m:e>
                        <m:sup>
                          <m:r>
                            <a:rPr lang="en-US">
                              <a:solidFill>
                                <a:schemeClr val="bg1"/>
                              </a:solidFill>
                              <a:latin typeface="Cambria Math" panose="02040503050406030204" pitchFamily="18" charset="0"/>
                            </a:rPr>
                            <m:t>2</m:t>
                          </m:r>
                        </m:sup>
                      </m:sSup>
                    </m:oMath>
                  </m:oMathPara>
                </a14:m>
                <a:endParaRPr lang="en-US" dirty="0">
                  <a:solidFill>
                    <a:schemeClr val="bg1"/>
                  </a:solidFill>
                </a:endParaRPr>
              </a:p>
            </p:txBody>
          </p:sp>
        </mc:Choice>
        <mc:Fallback xmlns="">
          <p:sp>
            <p:nvSpPr>
              <p:cNvPr id="5" name="Rectangle 4">
                <a:extLst>
                  <a:ext uri="{FF2B5EF4-FFF2-40B4-BE49-F238E27FC236}">
                    <a16:creationId xmlns:a16="http://schemas.microsoft.com/office/drawing/2014/main" id="{F726B792-F761-479D-AD84-701FE9C04CF6}"/>
                  </a:ext>
                </a:extLst>
              </p:cNvPr>
              <p:cNvSpPr>
                <a:spLocks noRot="1" noChangeAspect="1" noMove="1" noResize="1" noEditPoints="1" noAdjustHandles="1" noChangeArrowheads="1" noChangeShapeType="1" noTextEdit="1"/>
              </p:cNvSpPr>
              <p:nvPr/>
            </p:nvSpPr>
            <p:spPr>
              <a:xfrm>
                <a:off x="2908745" y="1385220"/>
                <a:ext cx="3328155" cy="61093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9CAEFD2-42B6-4A23-90ED-8ACF078D5E63}"/>
                  </a:ext>
                </a:extLst>
              </p:cNvPr>
              <p:cNvSpPr/>
              <p:nvPr/>
            </p:nvSpPr>
            <p:spPr>
              <a:xfrm>
                <a:off x="2908745" y="1996156"/>
                <a:ext cx="1352934" cy="3915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𝑂</m:t>
                          </m:r>
                        </m:e>
                        <m:sub>
                          <m:r>
                            <a:rPr lang="en-US" i="1">
                              <a:solidFill>
                                <a:schemeClr val="bg1"/>
                              </a:solidFill>
                              <a:latin typeface="Cambria Math" panose="02040503050406030204" pitchFamily="18" charset="0"/>
                            </a:rPr>
                            <m:t>𝑓</m:t>
                          </m:r>
                        </m:sub>
                      </m:sSub>
                      <m:r>
                        <a:rPr lang="en-US" i="0">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𝑚</m:t>
                      </m:r>
                      <m:r>
                        <a:rPr lang="en-US" i="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𝑓</m:t>
                          </m:r>
                        </m:e>
                        <m:sub>
                          <m:r>
                            <a:rPr lang="en-US" i="1">
                              <a:solidFill>
                                <a:schemeClr val="bg1"/>
                              </a:solidFill>
                              <a:latin typeface="Cambria Math" panose="02040503050406030204" pitchFamily="18" charset="0"/>
                            </a:rPr>
                            <m:t>𝑘</m:t>
                          </m:r>
                        </m:sub>
                      </m:sSub>
                    </m:oMath>
                  </m:oMathPara>
                </a14:m>
                <a:endParaRPr lang="en-US" dirty="0">
                  <a:solidFill>
                    <a:schemeClr val="bg1"/>
                  </a:solidFill>
                </a:endParaRPr>
              </a:p>
            </p:txBody>
          </p:sp>
        </mc:Choice>
        <mc:Fallback xmlns="">
          <p:sp>
            <p:nvSpPr>
              <p:cNvPr id="6" name="Rectangle 5">
                <a:extLst>
                  <a:ext uri="{FF2B5EF4-FFF2-40B4-BE49-F238E27FC236}">
                    <a16:creationId xmlns:a16="http://schemas.microsoft.com/office/drawing/2014/main" id="{59CAEFD2-42B6-4A23-90ED-8ACF078D5E63}"/>
                  </a:ext>
                </a:extLst>
              </p:cNvPr>
              <p:cNvSpPr>
                <a:spLocks noRot="1" noChangeAspect="1" noMove="1" noResize="1" noEditPoints="1" noAdjustHandles="1" noChangeArrowheads="1" noChangeShapeType="1" noTextEdit="1"/>
              </p:cNvSpPr>
              <p:nvPr/>
            </p:nvSpPr>
            <p:spPr>
              <a:xfrm>
                <a:off x="2908745" y="1996156"/>
                <a:ext cx="1352934" cy="391582"/>
              </a:xfrm>
              <a:prstGeom prst="rect">
                <a:avLst/>
              </a:prstGeom>
              <a:blipFill>
                <a:blip r:embed="rId4"/>
                <a:stretch>
                  <a:fillRect b="-9231"/>
                </a:stretch>
              </a:blipFill>
            </p:spPr>
            <p:txBody>
              <a:bodyPr/>
              <a:lstStyle/>
              <a:p>
                <a:r>
                  <a:rPr lang="en-GB">
                    <a:noFill/>
                  </a:rPr>
                  <a:t> </a:t>
                </a:r>
              </a:p>
            </p:txBody>
          </p:sp>
        </mc:Fallback>
      </mc:AlternateContent>
    </p:spTree>
    <p:extLst>
      <p:ext uri="{BB962C8B-B14F-4D97-AF65-F5344CB8AC3E}">
        <p14:creationId xmlns:p14="http://schemas.microsoft.com/office/powerpoint/2010/main" val="2194974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Combustion Engine</a:t>
            </a:r>
          </a:p>
        </p:txBody>
      </p:sp>
      <p:sp>
        <p:nvSpPr>
          <p:cNvPr id="3" name="Content Placeholder 2"/>
          <p:cNvSpPr>
            <a:spLocks noGrp="1"/>
          </p:cNvSpPr>
          <p:nvPr>
            <p:ph sz="half" idx="1"/>
          </p:nvPr>
        </p:nvSpPr>
        <p:spPr>
          <a:xfrm>
            <a:off x="1070784" y="3005839"/>
            <a:ext cx="5025216" cy="4351338"/>
          </a:xfrm>
        </p:spPr>
        <p:txBody>
          <a:bodyPr>
            <a:noAutofit/>
          </a:bodyPr>
          <a:lstStyle/>
          <a:p>
            <a:r>
              <a:rPr lang="en-US" sz="1800" dirty="0"/>
              <a:t>Based on the fuel used</a:t>
            </a:r>
          </a:p>
          <a:p>
            <a:pPr lvl="1"/>
            <a:r>
              <a:rPr lang="en-US" sz="1800" dirty="0"/>
              <a:t>Diesel Engine</a:t>
            </a:r>
          </a:p>
          <a:p>
            <a:pPr lvl="1"/>
            <a:r>
              <a:rPr lang="en-US" sz="1800" dirty="0"/>
              <a:t>Petrol Engine (or Gasoline Engine)</a:t>
            </a:r>
          </a:p>
          <a:p>
            <a:r>
              <a:rPr lang="en-US" sz="1800" dirty="0"/>
              <a:t>Based on the type of cycle</a:t>
            </a:r>
          </a:p>
          <a:p>
            <a:pPr lvl="1"/>
            <a:r>
              <a:rPr lang="en-US" sz="1800" dirty="0"/>
              <a:t>Otto Cycle Engine</a:t>
            </a:r>
          </a:p>
          <a:p>
            <a:pPr lvl="1"/>
            <a:r>
              <a:rPr lang="en-US" sz="1800" dirty="0"/>
              <a:t>Diesel Cycle Engine</a:t>
            </a:r>
          </a:p>
          <a:p>
            <a:pPr lvl="1"/>
            <a:r>
              <a:rPr lang="en-US" sz="1800" dirty="0"/>
              <a:t>Dual Cycle Engine</a:t>
            </a:r>
          </a:p>
          <a:p>
            <a:r>
              <a:rPr lang="en-US" sz="1800" dirty="0"/>
              <a:t>Based on the number of strokes per cycle</a:t>
            </a:r>
          </a:p>
          <a:p>
            <a:pPr lvl="1"/>
            <a:r>
              <a:rPr lang="en-US" sz="1800" dirty="0"/>
              <a:t>Two-stroke Engine</a:t>
            </a:r>
          </a:p>
          <a:p>
            <a:pPr lvl="1"/>
            <a:r>
              <a:rPr lang="en-US" sz="1800" dirty="0"/>
              <a:t>Four-stroke Engine</a:t>
            </a:r>
          </a:p>
        </p:txBody>
      </p:sp>
      <p:sp>
        <p:nvSpPr>
          <p:cNvPr id="6" name="Content Placeholder 5"/>
          <p:cNvSpPr>
            <a:spLocks noGrp="1"/>
          </p:cNvSpPr>
          <p:nvPr>
            <p:ph sz="half" idx="2"/>
          </p:nvPr>
        </p:nvSpPr>
        <p:spPr>
          <a:xfrm>
            <a:off x="6319840" y="3005839"/>
            <a:ext cx="5033960" cy="4351338"/>
          </a:xfrm>
        </p:spPr>
        <p:txBody>
          <a:bodyPr/>
          <a:lstStyle/>
          <a:p>
            <a:r>
              <a:rPr lang="en-US" sz="1600" dirty="0"/>
              <a:t>Based on the number of cylinders</a:t>
            </a:r>
          </a:p>
          <a:p>
            <a:pPr lvl="1"/>
            <a:r>
              <a:rPr lang="en-US" sz="1600" dirty="0"/>
              <a:t>Single Cylinder Engine</a:t>
            </a:r>
          </a:p>
          <a:p>
            <a:pPr lvl="1"/>
            <a:r>
              <a:rPr lang="en-US" sz="1600" dirty="0"/>
              <a:t>Multi cylinder Engine</a:t>
            </a:r>
          </a:p>
          <a:p>
            <a:pPr lvl="1"/>
            <a:r>
              <a:rPr lang="en-US" sz="1600" dirty="0"/>
              <a:t>Twin Cylinder Engine</a:t>
            </a:r>
          </a:p>
          <a:p>
            <a:pPr lvl="1"/>
            <a:r>
              <a:rPr lang="en-US" sz="1600" dirty="0"/>
              <a:t>…</a:t>
            </a:r>
          </a:p>
          <a:p>
            <a:r>
              <a:rPr lang="en-US" sz="1600" dirty="0"/>
              <a:t>Based on the type of ignition</a:t>
            </a:r>
          </a:p>
          <a:p>
            <a:pPr lvl="1"/>
            <a:r>
              <a:rPr lang="en-US" sz="1600" dirty="0"/>
              <a:t>Spark Ignition Engine (</a:t>
            </a:r>
            <a:r>
              <a:rPr lang="en-US" sz="1600" dirty="0" err="1"/>
              <a:t>S.I</a:t>
            </a:r>
            <a:r>
              <a:rPr lang="en-US" sz="1600" dirty="0"/>
              <a:t>. Engine)</a:t>
            </a:r>
          </a:p>
          <a:p>
            <a:pPr lvl="1"/>
            <a:r>
              <a:rPr lang="en-US" sz="1600" dirty="0"/>
              <a:t>Compression Ignition Engine (C.I. Engine)</a:t>
            </a:r>
          </a:p>
          <a:p>
            <a:r>
              <a:rPr lang="en-US" sz="1600" dirty="0"/>
              <a:t>Based on the cooling system used</a:t>
            </a:r>
          </a:p>
          <a:p>
            <a:pPr lvl="1"/>
            <a:r>
              <a:rPr lang="en-US" sz="1600" dirty="0"/>
              <a:t>Air-cooled Engine</a:t>
            </a:r>
          </a:p>
          <a:p>
            <a:pPr lvl="1"/>
            <a:r>
              <a:rPr lang="en-US" sz="1600" dirty="0"/>
              <a:t>Water-cooled Engine</a:t>
            </a:r>
          </a:p>
          <a:p>
            <a:endParaRPr lang="en-US" dirty="0"/>
          </a:p>
        </p:txBody>
      </p:sp>
      <p:sp>
        <p:nvSpPr>
          <p:cNvPr id="9" name="Rectangle 8"/>
          <p:cNvSpPr/>
          <p:nvPr/>
        </p:nvSpPr>
        <p:spPr>
          <a:xfrm>
            <a:off x="1011089" y="1701932"/>
            <a:ext cx="10705990" cy="707886"/>
          </a:xfrm>
          <a:prstGeom prst="rect">
            <a:avLst/>
          </a:prstGeom>
        </p:spPr>
        <p:txBody>
          <a:bodyPr wrap="square">
            <a:spAutoFit/>
          </a:bodyPr>
          <a:lstStyle/>
          <a:p>
            <a:r>
              <a:rPr lang="en-US" sz="2000" dirty="0"/>
              <a:t>It is an engine which converts chemical energy of fuel into mechanical energy by burning the fuel inside the engine cylinder.</a:t>
            </a:r>
          </a:p>
        </p:txBody>
      </p:sp>
    </p:spTree>
    <p:extLst>
      <p:ext uri="{BB962C8B-B14F-4D97-AF65-F5344CB8AC3E}">
        <p14:creationId xmlns:p14="http://schemas.microsoft.com/office/powerpoint/2010/main" val="1092612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Otto-Cycle</a:t>
            </a:r>
          </a:p>
        </p:txBody>
      </p:sp>
      <p:pic>
        <p:nvPicPr>
          <p:cNvPr id="7"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2718" y="1800794"/>
            <a:ext cx="2828894" cy="3771858"/>
          </a:xfrm>
          <a:prstGeom prst="rect">
            <a:avLst/>
          </a:prstGeom>
        </p:spPr>
      </p:pic>
      <p:pic>
        <p:nvPicPr>
          <p:cNvPr id="8" name="Picture 7"/>
          <p:cNvPicPr>
            <a:picLocks noChangeAspect="1"/>
          </p:cNvPicPr>
          <p:nvPr/>
        </p:nvPicPr>
        <p:blipFill>
          <a:blip r:embed="rId4"/>
          <a:stretch>
            <a:fillRect/>
          </a:stretch>
        </p:blipFill>
        <p:spPr>
          <a:xfrm>
            <a:off x="838200" y="1690687"/>
            <a:ext cx="7992649" cy="4977765"/>
          </a:xfrm>
          <a:prstGeom prst="rect">
            <a:avLst/>
          </a:prstGeom>
        </p:spPr>
      </p:pic>
    </p:spTree>
    <p:extLst>
      <p:ext uri="{BB962C8B-B14F-4D97-AF65-F5344CB8AC3E}">
        <p14:creationId xmlns:p14="http://schemas.microsoft.com/office/powerpoint/2010/main" val="2544603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2327A-3EEA-9779-6918-4A1FD69E94B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D63992F8-D92D-0623-6403-DCFFFF53F527}"/>
              </a:ext>
            </a:extLst>
          </p:cNvPr>
          <p:cNvPicPr>
            <a:picLocks noGrp="1" noChangeAspect="1"/>
          </p:cNvPicPr>
          <p:nvPr>
            <p:ph idx="1"/>
          </p:nvPr>
        </p:nvPicPr>
        <p:blipFill>
          <a:blip r:embed="rId2"/>
          <a:stretch>
            <a:fillRect/>
          </a:stretch>
        </p:blipFill>
        <p:spPr>
          <a:xfrm>
            <a:off x="3046924" y="-1636795"/>
            <a:ext cx="5016371" cy="8495547"/>
          </a:xfrm>
          <a:prstGeom prst="rect">
            <a:avLst/>
          </a:prstGeom>
        </p:spPr>
      </p:pic>
    </p:spTree>
    <p:extLst>
      <p:ext uri="{BB962C8B-B14F-4D97-AF65-F5344CB8AC3E}">
        <p14:creationId xmlns:p14="http://schemas.microsoft.com/office/powerpoint/2010/main" val="2623809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46130003-5222-4875-8738-1217755C7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blipFill>
            <a:blip r:embed="rId3"/>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CF9D67-F304-4BC4-8A8A-652D9E3E455B}"/>
              </a:ext>
            </a:extLst>
          </p:cNvPr>
          <p:cNvSpPr>
            <a:spLocks noGrp="1"/>
          </p:cNvSpPr>
          <p:nvPr>
            <p:ph type="title"/>
          </p:nvPr>
        </p:nvSpPr>
        <p:spPr>
          <a:xfrm>
            <a:off x="838200" y="365125"/>
            <a:ext cx="10515600" cy="1325563"/>
          </a:xfrm>
        </p:spPr>
        <p:txBody>
          <a:bodyPr>
            <a:normAutofit/>
          </a:bodyPr>
          <a:lstStyle/>
          <a:p>
            <a:r>
              <a:rPr lang="en-US">
                <a:gradFill flip="none" rotWithShape="1">
                  <a:gsLst>
                    <a:gs pos="28000">
                      <a:srgbClr val="EDEDED"/>
                    </a:gs>
                    <a:gs pos="0">
                      <a:srgbClr val="BFBFBF"/>
                    </a:gs>
                    <a:gs pos="100000">
                      <a:srgbClr val="FFFFFF"/>
                    </a:gs>
                  </a:gsLst>
                  <a:lin ang="4800000" scaled="0"/>
                  <a:tileRect/>
                </a:gradFill>
              </a:rPr>
              <a:t>Diesel-cycle</a:t>
            </a:r>
            <a:endParaRPr lang="en-GB" dirty="0">
              <a:gradFill flip="none" rotWithShape="1">
                <a:gsLst>
                  <a:gs pos="28000">
                    <a:srgbClr val="EDEDED"/>
                  </a:gs>
                  <a:gs pos="0">
                    <a:srgbClr val="BFBFBF"/>
                  </a:gs>
                  <a:gs pos="100000">
                    <a:srgbClr val="FFFFFF"/>
                  </a:gs>
                </a:gsLst>
                <a:lin ang="4800000" scaled="0"/>
                <a:tileRect/>
              </a:gradFill>
            </a:endParaRPr>
          </a:p>
        </p:txBody>
      </p:sp>
      <p:sp>
        <p:nvSpPr>
          <p:cNvPr id="77" name="Rounded Rectangle 17">
            <a:extLst>
              <a:ext uri="{FF2B5EF4-FFF2-40B4-BE49-F238E27FC236}">
                <a16:creationId xmlns:a16="http://schemas.microsoft.com/office/drawing/2014/main" id="{3E388DCC-9257-412E-811D-30F74D4CB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948070"/>
            <a:ext cx="4773166" cy="3896140"/>
          </a:xfrm>
          <a:prstGeom prst="roundRect">
            <a:avLst>
              <a:gd name="adj" fmla="val 2028"/>
            </a:avLst>
          </a:prstGeom>
          <a:solidFill>
            <a:schemeClr val="bg1"/>
          </a:solidFill>
          <a:ln>
            <a:noFill/>
          </a:ln>
          <a:effectLst>
            <a:innerShdw blurRad="127000" dist="12700">
              <a:prstClr val="black"/>
            </a:innerShdw>
            <a:reflection blurRad="6350" stA="52000" endA="300" endPos="2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7B663FB-2C0C-45E2-9139-68F488E94FB4}"/>
              </a:ext>
            </a:extLst>
          </p:cNvPr>
          <p:cNvSpPr>
            <a:spLocks noGrp="1"/>
          </p:cNvSpPr>
          <p:nvPr>
            <p:ph idx="1"/>
          </p:nvPr>
        </p:nvSpPr>
        <p:spPr>
          <a:xfrm>
            <a:off x="5728933" y="1690688"/>
            <a:ext cx="6381078" cy="1785936"/>
          </a:xfrm>
        </p:spPr>
        <p:txBody>
          <a:bodyPr vert="horz" lIns="91440" tIns="45720" rIns="91440" bIns="45720" rtlCol="0" anchor="t">
            <a:normAutofit fontScale="92500" lnSpcReduction="20000"/>
          </a:bodyPr>
          <a:lstStyle/>
          <a:p>
            <a:r>
              <a:rPr lang="en-US" sz="2400" dirty="0">
                <a:solidFill>
                  <a:schemeClr val="bg1"/>
                </a:solidFill>
              </a:rPr>
              <a:t>Can operate with a higher compression ratio , only air is compressed and there is no risk of auto-ignition of the fuel</a:t>
            </a:r>
          </a:p>
          <a:p>
            <a:r>
              <a:rPr lang="en-US" sz="2400" dirty="0">
                <a:solidFill>
                  <a:schemeClr val="bg1"/>
                </a:solidFill>
              </a:rPr>
              <a:t>Fuel is sprayed into the cylinder at $ P_</a:t>
            </a:r>
            <a:r>
              <a:rPr lang="en-US" dirty="0">
                <a:gradFill>
                  <a:gsLst>
                    <a:gs pos="0">
                      <a:prstClr val="white">
                        <a:lumMod val="25000"/>
                        <a:lumOff val="75000"/>
                      </a:prstClr>
                    </a:gs>
                    <a:gs pos="34000">
                      <a:prstClr val="black">
                        <a:lumMod val="93000"/>
                      </a:prstClr>
                    </a:gs>
                    <a:gs pos="100000">
                      <a:srgbClr val="455F51">
                        <a:lumMod val="0"/>
                        <a:lumOff val="100000"/>
                      </a:srgbClr>
                    </a:gs>
                  </a:gsLst>
                  <a:lin ang="4800000" scaled="0"/>
                </a:gradFill>
              </a:rPr>
              <a:t>2</a:t>
            </a:r>
            <a:r>
              <a:rPr lang="en-US" sz="2400" dirty="0">
                <a:solidFill>
                  <a:schemeClr val="bg1"/>
                </a:solidFill>
              </a:rPr>
              <a:t>$ (high pressure) when the compression is complete, and there is ignition without a spark.</a:t>
            </a:r>
            <a:endParaRPr lang="en-GB" sz="2400" dirty="0">
              <a:solidFill>
                <a:schemeClr val="bg1"/>
              </a:solidFill>
            </a:endParaRPr>
          </a:p>
        </p:txBody>
      </p:sp>
      <p:sp>
        <p:nvSpPr>
          <p:cNvPr id="9" name="Content Placeholder 2">
            <a:extLst>
              <a:ext uri="{FF2B5EF4-FFF2-40B4-BE49-F238E27FC236}">
                <a16:creationId xmlns:a16="http://schemas.microsoft.com/office/drawing/2014/main" id="{3AA9B6BD-3246-4770-8B95-A4DB30167179}"/>
              </a:ext>
            </a:extLst>
          </p:cNvPr>
          <p:cNvSpPr txBox="1">
            <a:spLocks/>
          </p:cNvSpPr>
          <p:nvPr/>
        </p:nvSpPr>
        <p:spPr>
          <a:xfrm>
            <a:off x="6095999" y="3671116"/>
            <a:ext cx="5257799" cy="29923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dirty="0">
                <a:solidFill>
                  <a:srgbClr val="E8E6E3"/>
                </a:solidFill>
                <a:latin typeface="Poppins"/>
                <a:cs typeface="Poppins"/>
              </a:rPr>
              <a:t>1-2 In this process suction takes place</a:t>
            </a:r>
            <a:endParaRPr lang="en-US" dirty="0">
              <a:gradFill>
                <a:gsLst>
                  <a:gs pos="0">
                    <a:prstClr val="white">
                      <a:lumMod val="25000"/>
                      <a:lumOff val="75000"/>
                    </a:prstClr>
                  </a:gs>
                  <a:gs pos="34000">
                    <a:prstClr val="black">
                      <a:lumMod val="93000"/>
                    </a:prstClr>
                  </a:gs>
                  <a:gs pos="100000">
                    <a:srgbClr val="455F51">
                      <a:lumMod val="0"/>
                      <a:lumOff val="100000"/>
                    </a:srgbClr>
                  </a:gs>
                </a:gsLst>
                <a:lin ang="4800000" scaled="0"/>
              </a:gradFill>
            </a:endParaRPr>
          </a:p>
          <a:p>
            <a:r>
              <a:rPr lang="en-GB" sz="1200" dirty="0">
                <a:solidFill>
                  <a:srgbClr val="E8E6E3"/>
                </a:solidFill>
                <a:latin typeface="Poppins"/>
                <a:cs typeface="Poppins"/>
              </a:rPr>
              <a:t>2-3 (Adiabatic process) In this process compression takes place. Both the inlet and </a:t>
            </a:r>
            <a:r>
              <a:rPr lang="en-GB" sz="1200" dirty="0">
                <a:solidFill>
                  <a:srgbClr val="3FC5FF"/>
                </a:solidFill>
                <a:latin typeface="Poppins"/>
                <a:cs typeface="Poppins"/>
                <a:hlinkClick r:id="rId4"/>
              </a:rPr>
              <a:t>exhaust valves</a:t>
            </a:r>
            <a:r>
              <a:rPr lang="en-GB" sz="1200" dirty="0">
                <a:solidFill>
                  <a:srgbClr val="E8E6E3"/>
                </a:solidFill>
                <a:latin typeface="Poppins"/>
                <a:cs typeface="Poppins"/>
              </a:rPr>
              <a:t> are closed and the compression takes place which is much higher than that of an otto cycle. This increases the pressure and temperature.</a:t>
            </a:r>
            <a:endParaRPr lang="en-GB" dirty="0">
              <a:gradFill>
                <a:gsLst>
                  <a:gs pos="0">
                    <a:prstClr val="white">
                      <a:lumMod val="25000"/>
                      <a:lumOff val="75000"/>
                    </a:prstClr>
                  </a:gs>
                  <a:gs pos="34000">
                    <a:prstClr val="black">
                      <a:lumMod val="93000"/>
                    </a:prstClr>
                  </a:gs>
                  <a:gs pos="100000">
                    <a:srgbClr val="455F51">
                      <a:lumMod val="0"/>
                      <a:lumOff val="100000"/>
                    </a:srgbClr>
                  </a:gs>
                </a:gsLst>
                <a:lin ang="4800000" scaled="0"/>
              </a:gradFill>
            </a:endParaRPr>
          </a:p>
          <a:p>
            <a:r>
              <a:rPr lang="en-GB" sz="1200" dirty="0">
                <a:solidFill>
                  <a:srgbClr val="E8E6E3"/>
                </a:solidFill>
                <a:latin typeface="Poppins"/>
                <a:cs typeface="Poppins"/>
              </a:rPr>
              <a:t>3-4 (Isobaric process) In this process, fuel is added, and combustion occurs due to high temperature, while maintaining a constant pressure because the volume is also increasing.</a:t>
            </a:r>
            <a:endParaRPr lang="en-GB" dirty="0">
              <a:gradFill>
                <a:gsLst>
                  <a:gs pos="0">
                    <a:prstClr val="white">
                      <a:lumMod val="25000"/>
                      <a:lumOff val="75000"/>
                    </a:prstClr>
                  </a:gs>
                  <a:gs pos="34000">
                    <a:prstClr val="black">
                      <a:lumMod val="93000"/>
                    </a:prstClr>
                  </a:gs>
                  <a:gs pos="100000">
                    <a:srgbClr val="455F51">
                      <a:lumMod val="0"/>
                      <a:lumOff val="100000"/>
                    </a:srgbClr>
                  </a:gs>
                </a:gsLst>
                <a:lin ang="4800000" scaled="0"/>
              </a:gradFill>
            </a:endParaRPr>
          </a:p>
          <a:p>
            <a:r>
              <a:rPr lang="en-GB" sz="1200" dirty="0">
                <a:solidFill>
                  <a:srgbClr val="E8E6E3"/>
                </a:solidFill>
                <a:latin typeface="Poppins"/>
                <a:cs typeface="Poppins"/>
              </a:rPr>
              <a:t>4-5 (</a:t>
            </a:r>
            <a:r>
              <a:rPr lang="en-GB" sz="1200" dirty="0">
                <a:solidFill>
                  <a:srgbClr val="3FC5FF"/>
                </a:solidFill>
                <a:latin typeface="Poppins"/>
                <a:cs typeface="Poppins"/>
                <a:hlinkClick r:id="rId5"/>
              </a:rPr>
              <a:t>Adiabatic process</a:t>
            </a:r>
            <a:r>
              <a:rPr lang="en-GB" sz="1200" dirty="0">
                <a:solidFill>
                  <a:srgbClr val="E8E6E3"/>
                </a:solidFill>
                <a:latin typeface="Poppins"/>
                <a:cs typeface="Poppins"/>
              </a:rPr>
              <a:t>) In this process expansion takes place, due to combustion the piston moves from TDC to BDC and power is generated.</a:t>
            </a:r>
            <a:endParaRPr lang="en-GB" dirty="0">
              <a:gradFill>
                <a:gsLst>
                  <a:gs pos="0">
                    <a:prstClr val="white">
                      <a:lumMod val="25000"/>
                      <a:lumOff val="75000"/>
                    </a:prstClr>
                  </a:gs>
                  <a:gs pos="34000">
                    <a:prstClr val="black">
                      <a:lumMod val="93000"/>
                    </a:prstClr>
                  </a:gs>
                  <a:gs pos="100000">
                    <a:srgbClr val="455F51">
                      <a:lumMod val="0"/>
                      <a:lumOff val="100000"/>
                    </a:srgbClr>
                  </a:gs>
                </a:gsLst>
                <a:lin ang="4800000" scaled="0"/>
              </a:gradFill>
            </a:endParaRPr>
          </a:p>
          <a:p>
            <a:r>
              <a:rPr lang="en-GB" sz="1200" dirty="0">
                <a:solidFill>
                  <a:srgbClr val="E8E6E3"/>
                </a:solidFill>
                <a:latin typeface="Poppins"/>
                <a:cs typeface="Poppins"/>
              </a:rPr>
              <a:t>5-2 (Isochoric process) In this process, heat rejection is taking place at constant volume.</a:t>
            </a:r>
            <a:endParaRPr lang="en-GB" dirty="0">
              <a:gradFill>
                <a:gsLst>
                  <a:gs pos="0">
                    <a:prstClr val="white">
                      <a:lumMod val="25000"/>
                      <a:lumOff val="75000"/>
                    </a:prstClr>
                  </a:gs>
                  <a:gs pos="34000">
                    <a:prstClr val="black">
                      <a:lumMod val="93000"/>
                    </a:prstClr>
                  </a:gs>
                  <a:gs pos="100000">
                    <a:srgbClr val="455F51">
                      <a:lumMod val="0"/>
                      <a:lumOff val="100000"/>
                    </a:srgbClr>
                  </a:gs>
                </a:gsLst>
                <a:lin ang="4800000" scaled="0"/>
              </a:gradFill>
            </a:endParaRPr>
          </a:p>
          <a:p>
            <a:endParaRPr lang="en-GB" sz="2400" dirty="0">
              <a:solidFill>
                <a:schemeClr val="bg1"/>
              </a:solidFill>
            </a:endParaRPr>
          </a:p>
          <a:p>
            <a:endParaRPr lang="en-GB" sz="2400" dirty="0">
              <a:gradFill>
                <a:gsLst>
                  <a:gs pos="0">
                    <a:srgbClr val="BFBFBF"/>
                  </a:gs>
                  <a:gs pos="34000">
                    <a:srgbClr val="EDEDED"/>
                  </a:gs>
                  <a:gs pos="100000">
                    <a:srgbClr val="FFFFFF"/>
                  </a:gs>
                </a:gsLst>
                <a:lin ang="4800000" scaled="0"/>
              </a:gradFill>
            </a:endParaRPr>
          </a:p>
        </p:txBody>
      </p:sp>
      <p:pic>
        <p:nvPicPr>
          <p:cNvPr id="4" name="Picture 3" descr="Diagram of a diesel cycle diagram&#10;&#10;AI-generated content may be incorrect.">
            <a:extLst>
              <a:ext uri="{FF2B5EF4-FFF2-40B4-BE49-F238E27FC236}">
                <a16:creationId xmlns:a16="http://schemas.microsoft.com/office/drawing/2014/main" id="{DC34A5A0-8BD2-9467-7C3E-AA5DE8C85BB1}"/>
              </a:ext>
            </a:extLst>
          </p:cNvPr>
          <p:cNvPicPr>
            <a:picLocks noChangeAspect="1"/>
          </p:cNvPicPr>
          <p:nvPr/>
        </p:nvPicPr>
        <p:blipFill>
          <a:blip r:embed="rId6"/>
          <a:stretch>
            <a:fillRect/>
          </a:stretch>
        </p:blipFill>
        <p:spPr>
          <a:xfrm>
            <a:off x="1047750" y="2047418"/>
            <a:ext cx="4000500" cy="3514725"/>
          </a:xfrm>
          <a:prstGeom prst="rect">
            <a:avLst/>
          </a:prstGeom>
        </p:spPr>
      </p:pic>
    </p:spTree>
    <p:extLst>
      <p:ext uri="{BB962C8B-B14F-4D97-AF65-F5344CB8AC3E}">
        <p14:creationId xmlns:p14="http://schemas.microsoft.com/office/powerpoint/2010/main" val="1630309500"/>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2743"/>
          </a:xfrm>
        </p:spPr>
        <p:txBody>
          <a:bodyPr/>
          <a:lstStyle/>
          <a:p>
            <a:r>
              <a:rPr lang="en-US" dirty="0"/>
              <a:t>ICE</a:t>
            </a:r>
          </a:p>
        </p:txBody>
      </p:sp>
      <p:sp>
        <p:nvSpPr>
          <p:cNvPr id="3" name="Content Placeholder 2"/>
          <p:cNvSpPr>
            <a:spLocks noGrp="1"/>
          </p:cNvSpPr>
          <p:nvPr>
            <p:ph idx="1"/>
          </p:nvPr>
        </p:nvSpPr>
        <p:spPr>
          <a:xfrm>
            <a:off x="276592" y="1248356"/>
            <a:ext cx="7352117" cy="5438692"/>
          </a:xfrm>
        </p:spPr>
        <p:txBody>
          <a:bodyPr vert="horz" lIns="91440" tIns="45720" rIns="91440" bIns="45720" rtlCol="0" anchor="t">
            <a:normAutofit fontScale="92500" lnSpcReduction="10000"/>
          </a:bodyPr>
          <a:lstStyle/>
          <a:p>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Principles:</a:t>
            </a:r>
          </a:p>
          <a:p>
            <a:pPr lvl="1"/>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Law of conservation of Energy</a:t>
            </a:r>
          </a:p>
          <a:p>
            <a:pPr lvl="2"/>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It states: that the total energy of an isolated system cannot change—it is said to be conserved over time. Energy can be neither created nor destroyed, but can change one type to another.</a:t>
            </a:r>
          </a:p>
          <a:p>
            <a:pPr lvl="1"/>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 Chemical energy of  Fuel/Air Mixture is converted to kinetic energy in the explosion</a:t>
            </a:r>
            <a:endParaRPr lang="ru-RU"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pPr lvl="1"/>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A lot of loss due to these transformations 37 % efficiency </a:t>
            </a:r>
          </a:p>
          <a:p>
            <a:pPr lvl="1"/>
            <a:endPar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r>
              <a:rPr lang="en-US" b="1" dirty="0">
                <a:solidFill>
                  <a:schemeClr val="tx1"/>
                </a:solidFill>
              </a:rPr>
              <a:t>Stoichiometric Fuel/Air Mixture</a:t>
            </a:r>
          </a:p>
          <a:p>
            <a:pPr lvl="1"/>
            <a:r>
              <a:rPr lang="en-US" dirty="0">
                <a:solidFill>
                  <a:schemeClr val="tx1"/>
                </a:solidFill>
              </a:rPr>
              <a:t>An "ideal" fuel/air mixture in which both the fuel and the oxygen in the air are completely consumed (14.6) Used only for “idle run”</a:t>
            </a:r>
          </a:p>
          <a:p>
            <a:pPr lvl="1"/>
            <a:r>
              <a:rPr lang="en-US" dirty="0">
                <a:solidFill>
                  <a:schemeClr val="tx1"/>
                </a:solidFill>
              </a:rPr>
              <a:t>To increase power we need to make FA mixture “Rich”</a:t>
            </a:r>
          </a:p>
          <a:p>
            <a:pPr lvl="1"/>
            <a:r>
              <a:rPr lang="en-US" dirty="0">
                <a:solidFill>
                  <a:schemeClr val="tx1"/>
                </a:solidFill>
              </a:rPr>
              <a:t>When we don’t need power to save fuel, “Chip” FA mixture is used</a:t>
            </a:r>
          </a:p>
        </p:txBody>
      </p:sp>
      <p:pic>
        <p:nvPicPr>
          <p:cNvPr id="4" name="Picture 3"/>
          <p:cNvPicPr>
            <a:picLocks noChangeAspect="1"/>
          </p:cNvPicPr>
          <p:nvPr/>
        </p:nvPicPr>
        <p:blipFill>
          <a:blip r:embed="rId3"/>
          <a:stretch>
            <a:fillRect/>
          </a:stretch>
        </p:blipFill>
        <p:spPr>
          <a:xfrm>
            <a:off x="7834950" y="3967702"/>
            <a:ext cx="4357050" cy="2783885"/>
          </a:xfrm>
          <a:prstGeom prst="rect">
            <a:avLst/>
          </a:prstGeom>
        </p:spPr>
      </p:pic>
      <p:pic>
        <p:nvPicPr>
          <p:cNvPr id="5" name="Picture 4"/>
          <p:cNvPicPr>
            <a:picLocks noChangeAspect="1"/>
          </p:cNvPicPr>
          <p:nvPr/>
        </p:nvPicPr>
        <p:blipFill>
          <a:blip r:embed="rId4"/>
          <a:stretch>
            <a:fillRect/>
          </a:stretch>
        </p:blipFill>
        <p:spPr>
          <a:xfrm>
            <a:off x="8190317" y="365125"/>
            <a:ext cx="3069899" cy="3300821"/>
          </a:xfrm>
          <a:prstGeom prst="rect">
            <a:avLst/>
          </a:prstGeom>
        </p:spPr>
      </p:pic>
    </p:spTree>
    <p:extLst>
      <p:ext uri="{BB962C8B-B14F-4D97-AF65-F5344CB8AC3E}">
        <p14:creationId xmlns:p14="http://schemas.microsoft.com/office/powerpoint/2010/main" val="980535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731" y="423913"/>
            <a:ext cx="10515600" cy="1325563"/>
          </a:xfrm>
        </p:spPr>
        <p:txBody>
          <a:bodyPr/>
          <a:lstStyle/>
          <a:p>
            <a:r>
              <a:rPr lang="en-US" b="1" i="1" dirty="0"/>
              <a:t>Engine Control System</a:t>
            </a:r>
          </a:p>
        </p:txBody>
      </p:sp>
      <p:sp>
        <p:nvSpPr>
          <p:cNvPr id="4" name="Line 722"/>
          <p:cNvSpPr>
            <a:spLocks noChangeShapeType="1"/>
          </p:cNvSpPr>
          <p:nvPr/>
        </p:nvSpPr>
        <p:spPr bwMode="auto">
          <a:xfrm flipH="1">
            <a:off x="7650213" y="2595613"/>
            <a:ext cx="7620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5" name="Line 723"/>
          <p:cNvSpPr>
            <a:spLocks noChangeShapeType="1"/>
          </p:cNvSpPr>
          <p:nvPr/>
        </p:nvSpPr>
        <p:spPr bwMode="auto">
          <a:xfrm flipH="1">
            <a:off x="7637513" y="3433813"/>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6" name="Line 724"/>
          <p:cNvSpPr>
            <a:spLocks noChangeShapeType="1"/>
          </p:cNvSpPr>
          <p:nvPr/>
        </p:nvSpPr>
        <p:spPr bwMode="auto">
          <a:xfrm flipH="1">
            <a:off x="7408913" y="3764013"/>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7" name="Line 725"/>
          <p:cNvSpPr>
            <a:spLocks noChangeShapeType="1"/>
          </p:cNvSpPr>
          <p:nvPr/>
        </p:nvSpPr>
        <p:spPr bwMode="auto">
          <a:xfrm flipH="1">
            <a:off x="7256513" y="4068813"/>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8" name="Line 726"/>
          <p:cNvSpPr>
            <a:spLocks noChangeShapeType="1"/>
          </p:cNvSpPr>
          <p:nvPr/>
        </p:nvSpPr>
        <p:spPr bwMode="auto">
          <a:xfrm flipH="1">
            <a:off x="7408913" y="2367013"/>
            <a:ext cx="9906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9" name="Line 727"/>
          <p:cNvSpPr>
            <a:spLocks noChangeShapeType="1"/>
          </p:cNvSpPr>
          <p:nvPr/>
        </p:nvSpPr>
        <p:spPr bwMode="auto">
          <a:xfrm flipH="1">
            <a:off x="7256513" y="2214613"/>
            <a:ext cx="11430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0" name="Line 728"/>
          <p:cNvSpPr>
            <a:spLocks noChangeShapeType="1"/>
          </p:cNvSpPr>
          <p:nvPr/>
        </p:nvSpPr>
        <p:spPr bwMode="auto">
          <a:xfrm>
            <a:off x="7637513" y="2595613"/>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1" name="Line 729"/>
          <p:cNvSpPr>
            <a:spLocks noChangeShapeType="1"/>
          </p:cNvSpPr>
          <p:nvPr/>
        </p:nvSpPr>
        <p:spPr bwMode="auto">
          <a:xfrm>
            <a:off x="7408913" y="2379713"/>
            <a:ext cx="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2" name="Line 730"/>
          <p:cNvSpPr>
            <a:spLocks noChangeShapeType="1"/>
          </p:cNvSpPr>
          <p:nvPr/>
        </p:nvSpPr>
        <p:spPr bwMode="auto">
          <a:xfrm>
            <a:off x="7256513" y="2227313"/>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3" name="Rectangle 12"/>
          <p:cNvSpPr>
            <a:spLocks noChangeAspect="1" noChangeArrowheads="1"/>
          </p:cNvSpPr>
          <p:nvPr/>
        </p:nvSpPr>
        <p:spPr bwMode="auto">
          <a:xfrm rot="5400000">
            <a:off x="8523338" y="2052688"/>
            <a:ext cx="609600" cy="781050"/>
          </a:xfrm>
          <a:prstGeom prst="rect">
            <a:avLst/>
          </a:prstGeom>
          <a:gradFill rotWithShape="0">
            <a:gsLst>
              <a:gs pos="0">
                <a:srgbClr val="CCFFFF">
                  <a:gamma/>
                  <a:shade val="76078"/>
                  <a:invGamma/>
                </a:srgbClr>
              </a:gs>
              <a:gs pos="50000">
                <a:srgbClr val="CCFFFF"/>
              </a:gs>
              <a:gs pos="100000">
                <a:srgbClr val="CCFFFF">
                  <a:gamma/>
                  <a:shade val="76078"/>
                  <a:invGamma/>
                </a:srgbClr>
              </a:gs>
            </a:gsLst>
            <a:lin ang="2700000" scaled="1"/>
          </a:gradFill>
          <a:ln w="19050">
            <a:solidFill>
              <a:schemeClr val="tx1"/>
            </a:solidFill>
            <a:miter lim="800000"/>
            <a:headEnd/>
            <a:tailEnd/>
          </a:ln>
          <a:effectLst>
            <a:outerShdw dist="35921" dir="2700000" algn="ctr" rotWithShape="0">
              <a:schemeClr val="bg2"/>
            </a:outerShdw>
          </a:effectLst>
        </p:spPr>
        <p:txBody>
          <a:bodyPr lIns="95591" tIns="47796" rIns="95591" bIns="47796" anchor="ctr">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en-US">
              <a:latin typeface="Arial" charset="0"/>
            </a:endParaRPr>
          </a:p>
        </p:txBody>
      </p:sp>
      <p:sp>
        <p:nvSpPr>
          <p:cNvPr id="14" name="Text Box 715"/>
          <p:cNvSpPr txBox="1">
            <a:spLocks noChangeArrowheads="1"/>
          </p:cNvSpPr>
          <p:nvPr/>
        </p:nvSpPr>
        <p:spPr bwMode="auto">
          <a:xfrm>
            <a:off x="8399513" y="2227313"/>
            <a:ext cx="914400" cy="457200"/>
          </a:xfrm>
          <a:prstGeom prst="rect">
            <a:avLst/>
          </a:prstGeom>
          <a:noFill/>
          <a:ln w="9525">
            <a:noFill/>
            <a:miter lim="800000"/>
            <a:headEnd/>
            <a:tailEnd/>
          </a:ln>
          <a:effectLst/>
        </p:spPr>
        <p:txBody>
          <a:bodyPr>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50000"/>
              </a:spcBef>
              <a:defRPr/>
            </a:pPr>
            <a:r>
              <a:rPr lang="it-IT" b="1">
                <a:effectLst>
                  <a:outerShdw blurRad="38100" dist="38100" dir="2700000" algn="tl">
                    <a:srgbClr val="C0C0C0"/>
                  </a:outerShdw>
                </a:effectLst>
                <a:latin typeface="Arial" charset="0"/>
              </a:rPr>
              <a:t>ECU</a:t>
            </a:r>
          </a:p>
        </p:txBody>
      </p:sp>
      <p:sp>
        <p:nvSpPr>
          <p:cNvPr id="16" name="Line 717"/>
          <p:cNvSpPr>
            <a:spLocks noChangeShapeType="1"/>
          </p:cNvSpPr>
          <p:nvPr/>
        </p:nvSpPr>
        <p:spPr bwMode="auto">
          <a:xfrm>
            <a:off x="8856713" y="1605013"/>
            <a:ext cx="0" cy="5334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pic>
        <p:nvPicPr>
          <p:cNvPr id="17" name="Picture 16"/>
          <p:cNvPicPr>
            <a:picLocks noChangeAspect="1" noChangeArrowheads="1"/>
          </p:cNvPicPr>
          <p:nvPr/>
        </p:nvPicPr>
        <p:blipFill>
          <a:blip r:embed="rId3">
            <a:extLst>
              <a:ext uri="{28A0092B-C50C-407E-A947-70E740481C1C}">
                <a14:useLocalDpi xmlns:a14="http://schemas.microsoft.com/office/drawing/2010/main" val="0"/>
              </a:ext>
            </a:extLst>
          </a:blip>
          <a:srcRect l="4984" t="10741" r="31645" b="21951"/>
          <a:stretch>
            <a:fillRect/>
          </a:stretch>
        </p:blipFill>
        <p:spPr bwMode="auto">
          <a:xfrm>
            <a:off x="8018513" y="3048050"/>
            <a:ext cx="1687513" cy="1452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 name="Rectangle 17"/>
          <p:cNvSpPr>
            <a:spLocks noChangeArrowheads="1"/>
          </p:cNvSpPr>
          <p:nvPr/>
        </p:nvSpPr>
        <p:spPr bwMode="auto">
          <a:xfrm>
            <a:off x="6113513" y="2792463"/>
            <a:ext cx="1219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just" eaLnBrk="1" hangingPunct="1"/>
            <a:r>
              <a:rPr lang="it-IT" sz="1600" b="1">
                <a:cs typeface="Times New Roman" panose="02020603050405020304" pitchFamily="18" charset="0"/>
              </a:rPr>
              <a:t>SENSORS</a:t>
            </a:r>
          </a:p>
        </p:txBody>
      </p:sp>
      <p:sp>
        <p:nvSpPr>
          <p:cNvPr id="19" name="Line 734"/>
          <p:cNvSpPr>
            <a:spLocks noChangeShapeType="1"/>
          </p:cNvSpPr>
          <p:nvPr/>
        </p:nvSpPr>
        <p:spPr bwMode="auto">
          <a:xfrm flipV="1">
            <a:off x="9390113" y="3433813"/>
            <a:ext cx="9144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0" name="Line 735"/>
          <p:cNvSpPr>
            <a:spLocks noChangeShapeType="1"/>
          </p:cNvSpPr>
          <p:nvPr/>
        </p:nvSpPr>
        <p:spPr bwMode="auto">
          <a:xfrm flipV="1">
            <a:off x="9237713" y="2595613"/>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1" name="Line 738"/>
          <p:cNvSpPr>
            <a:spLocks noChangeShapeType="1"/>
          </p:cNvSpPr>
          <p:nvPr/>
        </p:nvSpPr>
        <p:spPr bwMode="auto">
          <a:xfrm flipV="1">
            <a:off x="9466313" y="3662413"/>
            <a:ext cx="9906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2" name="Line 739"/>
          <p:cNvSpPr>
            <a:spLocks noChangeShapeType="1"/>
          </p:cNvSpPr>
          <p:nvPr/>
        </p:nvSpPr>
        <p:spPr bwMode="auto">
          <a:xfrm flipV="1">
            <a:off x="9555213" y="3979913"/>
            <a:ext cx="9779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3" name="Line 742"/>
          <p:cNvSpPr>
            <a:spLocks noChangeShapeType="1"/>
          </p:cNvSpPr>
          <p:nvPr/>
        </p:nvSpPr>
        <p:spPr bwMode="auto">
          <a:xfrm flipH="1" flipV="1">
            <a:off x="10533113" y="2290813"/>
            <a:ext cx="0" cy="167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4" name="Line 743"/>
          <p:cNvSpPr>
            <a:spLocks noChangeShapeType="1"/>
          </p:cNvSpPr>
          <p:nvPr/>
        </p:nvSpPr>
        <p:spPr bwMode="auto">
          <a:xfrm>
            <a:off x="9237713" y="2290813"/>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5" name="Line 744"/>
          <p:cNvSpPr>
            <a:spLocks noChangeShapeType="1"/>
          </p:cNvSpPr>
          <p:nvPr/>
        </p:nvSpPr>
        <p:spPr bwMode="auto">
          <a:xfrm>
            <a:off x="9237713" y="2443213"/>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6" name="Line 745"/>
          <p:cNvSpPr>
            <a:spLocks noChangeShapeType="1"/>
          </p:cNvSpPr>
          <p:nvPr/>
        </p:nvSpPr>
        <p:spPr bwMode="auto">
          <a:xfrm>
            <a:off x="10456913" y="2443213"/>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7" name="Line 746"/>
          <p:cNvSpPr>
            <a:spLocks noChangeShapeType="1"/>
          </p:cNvSpPr>
          <p:nvPr/>
        </p:nvSpPr>
        <p:spPr bwMode="auto">
          <a:xfrm>
            <a:off x="10304513" y="2595613"/>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8" name="Rectangle 27"/>
          <p:cNvSpPr>
            <a:spLocks noChangeArrowheads="1"/>
          </p:cNvSpPr>
          <p:nvPr/>
        </p:nvSpPr>
        <p:spPr bwMode="auto">
          <a:xfrm>
            <a:off x="10533113" y="2748013"/>
            <a:ext cx="1676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just" eaLnBrk="1" hangingPunct="1"/>
            <a:r>
              <a:rPr lang="it-IT" sz="1600" b="1">
                <a:cs typeface="Times New Roman" panose="02020603050405020304" pitchFamily="18" charset="0"/>
              </a:rPr>
              <a:t>ACTUATORS</a:t>
            </a:r>
          </a:p>
        </p:txBody>
      </p:sp>
      <p:sp>
        <p:nvSpPr>
          <p:cNvPr id="29" name="Rectangle 28"/>
          <p:cNvSpPr>
            <a:spLocks noChangeArrowheads="1"/>
          </p:cNvSpPr>
          <p:nvPr/>
        </p:nvSpPr>
        <p:spPr bwMode="auto">
          <a:xfrm>
            <a:off x="9003861" y="1661411"/>
            <a:ext cx="5500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just" eaLnBrk="1" hangingPunct="1"/>
            <a:r>
              <a:rPr lang="it-IT" sz="1400" b="1" i="1" dirty="0">
                <a:cs typeface="Times New Roman" panose="02020603050405020304" pitchFamily="18" charset="0"/>
              </a:rPr>
              <a:t>Other vehicle system’s control</a:t>
            </a:r>
          </a:p>
        </p:txBody>
      </p:sp>
      <p:sp>
        <p:nvSpPr>
          <p:cNvPr id="30" name="CasellaDiTesto 29"/>
          <p:cNvSpPr txBox="1">
            <a:spLocks noChangeArrowheads="1"/>
          </p:cNvSpPr>
          <p:nvPr/>
        </p:nvSpPr>
        <p:spPr bwMode="auto">
          <a:xfrm>
            <a:off x="171552" y="1965106"/>
            <a:ext cx="5941961"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marL="285750" indent="-285750">
              <a:buFont typeface="Arial" panose="020B0604020202020204" pitchFamily="34" charset="0"/>
              <a:buChar char="•"/>
            </a:pPr>
            <a:r>
              <a:rPr lang="en-US" sz="2000" dirty="0"/>
              <a:t>A </a:t>
            </a:r>
            <a:r>
              <a:rPr lang="en-US" sz="2000" b="1" dirty="0"/>
              <a:t>control system</a:t>
            </a:r>
            <a:r>
              <a:rPr lang="en-US" sz="2000" dirty="0"/>
              <a:t> is a device, or set of devices, that manages, commands, directs or regulates the behavior of other device(s) or system(s)</a:t>
            </a:r>
            <a:endParaRPr lang="en-US" sz="2000" dirty="0">
              <a:latin typeface="+mn-lt"/>
            </a:endParaRPr>
          </a:p>
          <a:p>
            <a:pPr marL="285750" indent="-285750" eaLnBrk="1" hangingPunct="1">
              <a:buFont typeface="Arial" panose="020B0604020202020204" pitchFamily="34" charset="0"/>
              <a:buChar char="•"/>
            </a:pPr>
            <a:r>
              <a:rPr lang="en-US" sz="2000" dirty="0">
                <a:latin typeface="+mn-lt"/>
              </a:rPr>
              <a:t>The engine control system includes:</a:t>
            </a:r>
          </a:p>
          <a:p>
            <a:pPr marL="742950" lvl="1" indent="-285750">
              <a:buFont typeface="Arial" panose="020B0604020202020204" pitchFamily="34" charset="0"/>
              <a:buChar char="•"/>
            </a:pPr>
            <a:r>
              <a:rPr lang="en-US" sz="2000" b="1" i="1" dirty="0">
                <a:latin typeface="+mn-lt"/>
              </a:rPr>
              <a:t>sensors</a:t>
            </a:r>
            <a:r>
              <a:rPr lang="en-US" sz="2000" dirty="0">
                <a:latin typeface="+mn-lt"/>
              </a:rPr>
              <a:t> for the detection of the engine operating modes</a:t>
            </a:r>
          </a:p>
          <a:p>
            <a:pPr marL="742950" lvl="1" indent="-285750">
              <a:buFont typeface="Arial" panose="020B0604020202020204" pitchFamily="34" charset="0"/>
              <a:buChar char="•"/>
            </a:pPr>
            <a:r>
              <a:rPr lang="en-US" sz="2000" b="1" i="1" dirty="0">
                <a:latin typeface="+mn-lt"/>
              </a:rPr>
              <a:t>electronic control unit </a:t>
            </a:r>
            <a:r>
              <a:rPr lang="en-US" sz="2000" dirty="0">
                <a:latin typeface="+mn-lt"/>
              </a:rPr>
              <a:t>(ECU) which elaborates the signal values supplied by the sensor, according to defined control strategies and algorithms, and defines the actions to be delivered to the actuators</a:t>
            </a:r>
          </a:p>
          <a:p>
            <a:pPr marL="742950" lvl="1" indent="-285750">
              <a:buFont typeface="Arial" panose="020B0604020202020204" pitchFamily="34" charset="0"/>
              <a:buChar char="•"/>
            </a:pPr>
            <a:r>
              <a:rPr lang="en-US" sz="2000" b="1" i="1" dirty="0">
                <a:latin typeface="+mn-lt"/>
              </a:rPr>
              <a:t>actuators</a:t>
            </a:r>
            <a:r>
              <a:rPr lang="en-US" sz="2000" dirty="0">
                <a:latin typeface="+mn-lt"/>
              </a:rPr>
              <a:t> which have the task to actuate the defined commands  </a:t>
            </a:r>
          </a:p>
        </p:txBody>
      </p:sp>
      <p:pic>
        <p:nvPicPr>
          <p:cNvPr id="32"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7438" y="681088"/>
            <a:ext cx="12573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Box 32"/>
          <p:cNvSpPr txBox="1"/>
          <p:nvPr/>
        </p:nvSpPr>
        <p:spPr>
          <a:xfrm>
            <a:off x="8666212" y="6322979"/>
            <a:ext cx="2019300" cy="369332"/>
          </a:xfrm>
          <a:prstGeom prst="rect">
            <a:avLst/>
          </a:prstGeom>
          <a:noFill/>
        </p:spPr>
        <p:txBody>
          <a:bodyPr wrap="square" rtlCol="0">
            <a:spAutoFit/>
          </a:bodyPr>
          <a:lstStyle/>
          <a:p>
            <a:endParaRPr lang="en-US" dirty="0"/>
          </a:p>
        </p:txBody>
      </p:sp>
      <p:pic>
        <p:nvPicPr>
          <p:cNvPr id="34" name="Picture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16075" y="4714632"/>
            <a:ext cx="2931317" cy="1930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1699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Engine Control system functions</a:t>
            </a:r>
          </a:p>
        </p:txBody>
      </p:sp>
      <p:sp>
        <p:nvSpPr>
          <p:cNvPr id="3" name="Content Placeholder 2"/>
          <p:cNvSpPr>
            <a:spLocks noGrp="1"/>
          </p:cNvSpPr>
          <p:nvPr>
            <p:ph idx="1"/>
          </p:nvPr>
        </p:nvSpPr>
        <p:spPr/>
        <p:txBody>
          <a:bodyPr/>
          <a:lstStyle/>
          <a:p>
            <a:r>
              <a:rPr lang="en-GB" altLang="en-US" dirty="0">
                <a:cs typeface="Times New Roman" panose="02020603050405020304" pitchFamily="18" charset="0"/>
              </a:rPr>
              <a:t>Ensures that the driver request is implemented (Desired torque)</a:t>
            </a:r>
          </a:p>
          <a:p>
            <a:pPr lvl="1"/>
            <a:r>
              <a:rPr lang="en-GB" altLang="en-US" i="1" dirty="0">
                <a:cs typeface="Times New Roman" panose="02020603050405020304" pitchFamily="18" charset="0"/>
              </a:rPr>
              <a:t>minim</a:t>
            </a:r>
            <a:r>
              <a:rPr lang="en-GB" altLang="en-US" dirty="0">
                <a:cs typeface="Times New Roman" panose="02020603050405020304" pitchFamily="18" charset="0"/>
              </a:rPr>
              <a:t>ise </a:t>
            </a:r>
            <a:r>
              <a:rPr lang="en-GB" altLang="en-US" b="1" i="1" dirty="0">
                <a:cs typeface="Times New Roman" panose="02020603050405020304" pitchFamily="18" charset="0"/>
              </a:rPr>
              <a:t>exhaust emissions and fuel consumption</a:t>
            </a:r>
          </a:p>
          <a:p>
            <a:pPr lvl="1"/>
            <a:r>
              <a:rPr lang="en-GB" altLang="en-US" b="1" i="1" dirty="0">
                <a:cs typeface="Times New Roman" panose="02020603050405020304" pitchFamily="18" charset="0"/>
              </a:rPr>
              <a:t>optimal driveability </a:t>
            </a:r>
            <a:r>
              <a:rPr lang="en-GB" altLang="en-US" dirty="0">
                <a:cs typeface="Times New Roman" panose="02020603050405020304" pitchFamily="18" charset="0"/>
              </a:rPr>
              <a:t>for all operating condition</a:t>
            </a:r>
          </a:p>
          <a:p>
            <a:pPr lvl="2"/>
            <a:r>
              <a:rPr lang="en-GB" altLang="en-US" dirty="0">
                <a:solidFill>
                  <a:schemeClr val="tx2"/>
                </a:solidFill>
                <a:cs typeface="Arial" panose="020B0604020202020204" pitchFamily="34" charset="0"/>
              </a:rPr>
              <a:t>No stalls, hesitations or other objectionable roughness should occur under vehicle operation.</a:t>
            </a:r>
          </a:p>
          <a:p>
            <a:pPr lvl="1"/>
            <a:r>
              <a:rPr lang="en-US" altLang="en-US" dirty="0">
                <a:cs typeface="Times New Roman" panose="02020603050405020304" pitchFamily="18" charset="0"/>
              </a:rPr>
              <a:t>the idle speed control, </a:t>
            </a:r>
          </a:p>
          <a:p>
            <a:pPr lvl="1"/>
            <a:r>
              <a:rPr lang="en-GB" altLang="en-US" b="1" i="1" dirty="0">
                <a:cs typeface="Times New Roman" panose="02020603050405020304" pitchFamily="18" charset="0"/>
              </a:rPr>
              <a:t>minimise evaporative emission</a:t>
            </a:r>
          </a:p>
          <a:p>
            <a:pPr lvl="2"/>
            <a:r>
              <a:rPr lang="en-US" altLang="en-US" dirty="0">
                <a:cs typeface="Times New Roman" panose="02020603050405020304" pitchFamily="18" charset="0"/>
              </a:rPr>
              <a:t>EGR (Exhaust gas recirculation) control and </a:t>
            </a:r>
          </a:p>
          <a:p>
            <a:pPr lvl="2"/>
            <a:r>
              <a:rPr lang="en-US" altLang="en-US" dirty="0">
                <a:cs typeface="Times New Roman" panose="02020603050405020304" pitchFamily="18" charset="0"/>
              </a:rPr>
              <a:t>evaporative emissions control. </a:t>
            </a:r>
            <a:endParaRPr lang="en-GB" altLang="en-US" b="1" i="1" dirty="0">
              <a:cs typeface="Times New Roman" panose="02020603050405020304" pitchFamily="18" charset="0"/>
            </a:endParaRPr>
          </a:p>
          <a:p>
            <a:pPr lvl="1"/>
            <a:r>
              <a:rPr lang="en-GB" altLang="en-US" dirty="0">
                <a:cs typeface="Times New Roman" panose="02020603050405020304" pitchFamily="18" charset="0"/>
              </a:rPr>
              <a:t>provide </a:t>
            </a:r>
            <a:r>
              <a:rPr lang="en-GB" altLang="en-US" b="1" i="1" dirty="0">
                <a:cs typeface="Times New Roman" panose="02020603050405020304" pitchFamily="18" charset="0"/>
              </a:rPr>
              <a:t>system diagnosis </a:t>
            </a:r>
            <a:r>
              <a:rPr lang="en-GB" altLang="en-US" dirty="0">
                <a:cs typeface="Times New Roman" panose="02020603050405020304" pitchFamily="18" charset="0"/>
              </a:rPr>
              <a:t>when malfunctions occur</a:t>
            </a:r>
            <a:endParaRPr lang="en-US" dirty="0"/>
          </a:p>
        </p:txBody>
      </p:sp>
    </p:spTree>
    <p:extLst>
      <p:ext uri="{BB962C8B-B14F-4D97-AF65-F5344CB8AC3E}">
        <p14:creationId xmlns:p14="http://schemas.microsoft.com/office/powerpoint/2010/main" val="4169830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these is achieved </a:t>
            </a:r>
          </a:p>
        </p:txBody>
      </p:sp>
      <p:sp>
        <p:nvSpPr>
          <p:cNvPr id="3" name="Content Placeholder 2"/>
          <p:cNvSpPr>
            <a:spLocks noGrp="1"/>
          </p:cNvSpPr>
          <p:nvPr>
            <p:ph idx="1"/>
          </p:nvPr>
        </p:nvSpPr>
        <p:spPr/>
        <p:txBody>
          <a:bodyPr/>
          <a:lstStyle/>
          <a:p>
            <a:r>
              <a:rPr lang="en-US" altLang="en-US" dirty="0">
                <a:latin typeface="Arial" panose="020B0604020202020204" pitchFamily="34" charset="0"/>
              </a:rPr>
              <a:t>Determines precisely how much fuel needs to be delivered by the injector by monitoring the engine sensors. </a:t>
            </a:r>
          </a:p>
          <a:p>
            <a:r>
              <a:rPr lang="en-US" altLang="en-US" dirty="0">
                <a:latin typeface="Arial" panose="020B0604020202020204" pitchFamily="34" charset="0"/>
              </a:rPr>
              <a:t>Turns the injectors on for a precise amount of time and at precise time interval to deliver fuel so that the proper air/fuel ratio is delivered to the engine</a:t>
            </a:r>
          </a:p>
          <a:p>
            <a:r>
              <a:rPr lang="en-US" altLang="en-US" dirty="0">
                <a:latin typeface="Arial" panose="020B0604020202020204" pitchFamily="34" charset="0"/>
              </a:rPr>
              <a:t>Regulates spark advance angle by monitoring engine operating conditions, calculating the optimum spark timing, and firing the spark plug at the appropriate time. </a:t>
            </a:r>
          </a:p>
          <a:p>
            <a:r>
              <a:rPr lang="en-US" altLang="en-US" dirty="0">
                <a:latin typeface="Arial" panose="020B0604020202020204" pitchFamily="34" charset="0"/>
              </a:rPr>
              <a:t>Modern vehicles also regulate when and how to open intake and exhaust valves as well</a:t>
            </a:r>
          </a:p>
          <a:p>
            <a:pPr marL="0" indent="0">
              <a:buNone/>
            </a:pPr>
            <a:endParaRPr lang="en-US" dirty="0"/>
          </a:p>
        </p:txBody>
      </p:sp>
    </p:spTree>
    <p:extLst>
      <p:ext uri="{BB962C8B-B14F-4D97-AF65-F5344CB8AC3E}">
        <p14:creationId xmlns:p14="http://schemas.microsoft.com/office/powerpoint/2010/main" val="451199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Subsystems</a:t>
            </a:r>
          </a:p>
        </p:txBody>
      </p:sp>
      <p:sp>
        <p:nvSpPr>
          <p:cNvPr id="3" name="Content Placeholder 2"/>
          <p:cNvSpPr>
            <a:spLocks noGrp="1"/>
          </p:cNvSpPr>
          <p:nvPr>
            <p:ph idx="1"/>
          </p:nvPr>
        </p:nvSpPr>
        <p:spPr>
          <a:xfrm>
            <a:off x="1120000" y="1449976"/>
            <a:ext cx="10233800" cy="5107577"/>
          </a:xfrm>
        </p:spPr>
        <p:txBody>
          <a:bodyPr>
            <a:normAutofit fontScale="85000" lnSpcReduction="20000"/>
          </a:bodyPr>
          <a:lstStyle/>
          <a:p>
            <a:r>
              <a:rPr lang="en-US" dirty="0"/>
              <a:t>Starting systems</a:t>
            </a:r>
          </a:p>
          <a:p>
            <a:pPr lvl="1"/>
            <a:r>
              <a:rPr lang="en-US" dirty="0"/>
              <a:t>Accelerate an engine to some speed, so that it sucks fuel and air into the cylinders, and compresses it</a:t>
            </a:r>
          </a:p>
          <a:p>
            <a:r>
              <a:rPr lang="en-US" dirty="0"/>
              <a:t>Cooling Systems</a:t>
            </a:r>
          </a:p>
          <a:p>
            <a:pPr lvl="1"/>
            <a:r>
              <a:rPr lang="en-US" dirty="0"/>
              <a:t>Heat up as soon as possible and keep a constant working engine temperature</a:t>
            </a:r>
          </a:p>
          <a:p>
            <a:r>
              <a:rPr lang="en-US" dirty="0"/>
              <a:t>Ignition system</a:t>
            </a:r>
          </a:p>
          <a:p>
            <a:pPr lvl="1"/>
            <a:r>
              <a:rPr lang="en-US" dirty="0"/>
              <a:t> Generate a very high voltage from the car's 12 volt battery, and to send this to each sparkplug in turn, igniting the fuel-air mixture in the engine's combustion chambers.</a:t>
            </a:r>
          </a:p>
          <a:p>
            <a:r>
              <a:rPr lang="en-US" dirty="0"/>
              <a:t>Fuel injection  system </a:t>
            </a:r>
          </a:p>
          <a:p>
            <a:pPr lvl="1"/>
            <a:r>
              <a:rPr lang="en-US" dirty="0"/>
              <a:t>Delivered a proper amount of fuel from fuel tank to the pistons</a:t>
            </a:r>
          </a:p>
          <a:p>
            <a:r>
              <a:rPr lang="en-US" dirty="0"/>
              <a:t>Evaporation and exhaust systems </a:t>
            </a:r>
          </a:p>
          <a:p>
            <a:r>
              <a:rPr lang="en-US" dirty="0"/>
              <a:t>Charging system</a:t>
            </a:r>
          </a:p>
          <a:p>
            <a:pPr lvl="1"/>
            <a:r>
              <a:rPr lang="en-US" dirty="0"/>
              <a:t>Produce a constant Voltage to power vehicle equipment and charge the battery</a:t>
            </a:r>
          </a:p>
          <a:p>
            <a:r>
              <a:rPr lang="en-US" dirty="0"/>
              <a:t>Diagnostic systems</a:t>
            </a:r>
          </a:p>
          <a:p>
            <a:pPr lvl="1"/>
            <a:r>
              <a:rPr lang="en-US" dirty="0"/>
              <a:t>Control a status and state of all subsystems and their components</a:t>
            </a:r>
          </a:p>
          <a:p>
            <a:pPr lvl="1"/>
            <a:r>
              <a:rPr lang="en-US" dirty="0"/>
              <a:t>Provide visual warnings for drivers if there is a failure in the system </a:t>
            </a:r>
          </a:p>
        </p:txBody>
      </p:sp>
    </p:spTree>
    <p:extLst>
      <p:ext uri="{BB962C8B-B14F-4D97-AF65-F5344CB8AC3E}">
        <p14:creationId xmlns:p14="http://schemas.microsoft.com/office/powerpoint/2010/main" val="2816525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0169"/>
            <a:ext cx="10515600" cy="1325563"/>
          </a:xfrm>
        </p:spPr>
        <p:txBody>
          <a:bodyPr/>
          <a:lstStyle/>
          <a:p>
            <a:r>
              <a:rPr lang="en-US" dirty="0"/>
              <a:t>Control strategy.</a:t>
            </a:r>
          </a:p>
        </p:txBody>
      </p:sp>
      <p:sp>
        <p:nvSpPr>
          <p:cNvPr id="3" name="Content Placeholder 2"/>
          <p:cNvSpPr>
            <a:spLocks noGrp="1"/>
          </p:cNvSpPr>
          <p:nvPr>
            <p:ph idx="1"/>
          </p:nvPr>
        </p:nvSpPr>
        <p:spPr>
          <a:xfrm>
            <a:off x="155643" y="1006862"/>
            <a:ext cx="11198157" cy="5627401"/>
          </a:xfrm>
        </p:spPr>
        <p:txBody>
          <a:bodyPr>
            <a:normAutofit fontScale="70000" lnSpcReduction="20000"/>
          </a:bodyPr>
          <a:lstStyle/>
          <a:p>
            <a:r>
              <a:rPr lang="en-GB" b="1" dirty="0"/>
              <a:t>Cranking</a:t>
            </a:r>
          </a:p>
          <a:p>
            <a:pPr lvl="1" algn="just"/>
            <a:r>
              <a:rPr lang="it-IT" dirty="0"/>
              <a:t>To get the engine started with the minimal amount or delay </a:t>
            </a:r>
          </a:p>
          <a:p>
            <a:pPr lvl="1" algn="just"/>
            <a:r>
              <a:rPr lang="it-IT" dirty="0"/>
              <a:t>To minimize the exhaust emissions (during crank the catalyst is cold and its efficiency is very low).</a:t>
            </a:r>
          </a:p>
          <a:p>
            <a:r>
              <a:rPr lang="en-GB" b="1" dirty="0"/>
              <a:t>Warm-Up</a:t>
            </a:r>
          </a:p>
          <a:p>
            <a:pPr lvl="1" algn="just"/>
            <a:r>
              <a:rPr lang="en-GB" dirty="0"/>
              <a:t>Keep the engine operating smoothly (i.e. no stalls or driveability problems), </a:t>
            </a:r>
          </a:p>
          <a:p>
            <a:pPr lvl="1" algn="just"/>
            <a:r>
              <a:rPr lang="en-GB" dirty="0"/>
              <a:t>Increase exhaust temperature to quickly achieve operational temperature for catalyst (light-off) and lambda sensor so that close-loop control can begin operating, </a:t>
            </a:r>
          </a:p>
          <a:p>
            <a:pPr lvl="1" algn="just"/>
            <a:r>
              <a:rPr lang="en-GB" dirty="0"/>
              <a:t>Keep exhaust emissions and fuel consumption to a minimum</a:t>
            </a:r>
          </a:p>
          <a:p>
            <a:pPr algn="just"/>
            <a:r>
              <a:rPr lang="en-GB" b="1" dirty="0"/>
              <a:t>Cut-off </a:t>
            </a:r>
            <a:endParaRPr lang="it-IT" b="1" dirty="0"/>
          </a:p>
          <a:p>
            <a:pPr lvl="1" algn="just"/>
            <a:r>
              <a:rPr lang="en-GB" dirty="0"/>
              <a:t>During deceleration, such as coasting or braking</a:t>
            </a:r>
          </a:p>
          <a:p>
            <a:pPr algn="just"/>
            <a:r>
              <a:rPr lang="en-GB" b="1" dirty="0"/>
              <a:t>Idling</a:t>
            </a:r>
          </a:p>
          <a:p>
            <a:pPr lvl="1" algn="just"/>
            <a:r>
              <a:rPr lang="en-GB" dirty="0"/>
              <a:t>Achieving a consistent idle speed even with various load changes due to accessories</a:t>
            </a:r>
          </a:p>
          <a:p>
            <a:pPr lvl="1" algn="just"/>
            <a:r>
              <a:rPr lang="en-GB" dirty="0"/>
              <a:t>Provide the lowest idle speed that allows smooth running to achieve the lowest exhaust emissions and fuel consumption</a:t>
            </a:r>
          </a:p>
          <a:p>
            <a:pPr algn="just"/>
            <a:r>
              <a:rPr lang="en-GB" b="1" dirty="0"/>
              <a:t>Normal</a:t>
            </a:r>
          </a:p>
          <a:p>
            <a:pPr lvl="1" algn="just"/>
            <a:r>
              <a:rPr lang="en-GB" b="1" dirty="0"/>
              <a:t> E</a:t>
            </a:r>
            <a:r>
              <a:rPr lang="en-GB" dirty="0"/>
              <a:t>ngine work in </a:t>
            </a:r>
            <a:r>
              <a:rPr lang="en-GB" b="1" i="1" dirty="0"/>
              <a:t>steady state condition </a:t>
            </a:r>
            <a:r>
              <a:rPr lang="en-GB" dirty="0"/>
              <a:t>(i.e. without sensible variation of load and speed) </a:t>
            </a:r>
            <a:endParaRPr lang="en-GB" b="1" dirty="0"/>
          </a:p>
          <a:p>
            <a:pPr lvl="2" algn="just"/>
            <a:r>
              <a:rPr lang="en-GB" b="1" i="1" dirty="0"/>
              <a:t>Acceleration Enrichment (</a:t>
            </a:r>
            <a:r>
              <a:rPr lang="en-GB" dirty="0"/>
              <a:t>fuel mixture richness is required</a:t>
            </a:r>
            <a:r>
              <a:rPr lang="en-GB" b="1" i="1" dirty="0"/>
              <a:t>)</a:t>
            </a:r>
          </a:p>
          <a:p>
            <a:pPr lvl="2" algn="just"/>
            <a:r>
              <a:rPr lang="en-GB" b="1" i="1" dirty="0"/>
              <a:t>Deceleration </a:t>
            </a:r>
            <a:r>
              <a:rPr lang="en-GB" b="1" i="1" dirty="0" err="1"/>
              <a:t>Enleanment</a:t>
            </a:r>
            <a:r>
              <a:rPr lang="en-GB" b="1" i="1" dirty="0"/>
              <a:t> (</a:t>
            </a:r>
            <a:r>
              <a:rPr lang="en-GB" dirty="0"/>
              <a:t>inverse than in acceleration</a:t>
            </a:r>
            <a:r>
              <a:rPr lang="en-GB" b="1" i="1" dirty="0"/>
              <a:t>)</a:t>
            </a:r>
          </a:p>
          <a:p>
            <a:pPr algn="just"/>
            <a:r>
              <a:rPr lang="en-GB" b="1" dirty="0"/>
              <a:t>Engine and vehicle speed limitation</a:t>
            </a:r>
            <a:r>
              <a:rPr lang="it-IT" b="1" dirty="0"/>
              <a:t> </a:t>
            </a:r>
          </a:p>
          <a:p>
            <a:pPr lvl="1" algn="just"/>
            <a:r>
              <a:rPr lang="it-IT" dirty="0"/>
              <a:t>limiting RMP and speed variables with fuel cut-off</a:t>
            </a:r>
            <a:endParaRPr lang="it-IT" b="1" dirty="0"/>
          </a:p>
          <a:p>
            <a:pPr marL="457200" lvl="1" indent="0" algn="just">
              <a:buNone/>
            </a:pPr>
            <a:endParaRPr lang="en-GB" b="1" dirty="0"/>
          </a:p>
          <a:p>
            <a:pPr lvl="1" algn="just"/>
            <a:endParaRPr lang="en-GB" dirty="0"/>
          </a:p>
          <a:p>
            <a:pPr lvl="2" algn="just"/>
            <a:endParaRPr lang="en-GB" b="1" dirty="0"/>
          </a:p>
          <a:p>
            <a:endParaRPr lang="en-GB" b="1" dirty="0"/>
          </a:p>
          <a:p>
            <a:pPr algn="just">
              <a:buFont typeface="Wingdings" panose="05000000000000000000" pitchFamily="2" charset="2"/>
              <a:buChar char="ü"/>
            </a:pPr>
            <a:endParaRPr lang="it-IT" sz="1400" dirty="0"/>
          </a:p>
          <a:p>
            <a:pPr lvl="1"/>
            <a:endParaRPr lang="en-US" dirty="0"/>
          </a:p>
        </p:txBody>
      </p:sp>
    </p:spTree>
    <p:extLst>
      <p:ext uri="{BB962C8B-B14F-4D97-AF65-F5344CB8AC3E}">
        <p14:creationId xmlns:p14="http://schemas.microsoft.com/office/powerpoint/2010/main" val="3485424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4AAFD-3F21-4057-B8FA-403BC0BB006D}"/>
              </a:ext>
            </a:extLst>
          </p:cNvPr>
          <p:cNvSpPr>
            <a:spLocks noGrp="1"/>
          </p:cNvSpPr>
          <p:nvPr>
            <p:ph type="title"/>
          </p:nvPr>
        </p:nvSpPr>
        <p:spPr/>
        <p:txBody>
          <a:bodyPr>
            <a:normAutofit fontScale="90000"/>
          </a:bodyPr>
          <a:lstStyle/>
          <a:p>
            <a:r>
              <a:rPr lang="en-US" dirty="0"/>
              <a:t>Models of Electrical and Electronic architecture</a:t>
            </a:r>
            <a:endParaRPr lang="en-GB" dirty="0"/>
          </a:p>
        </p:txBody>
      </p:sp>
      <p:sp>
        <p:nvSpPr>
          <p:cNvPr id="3" name="Content Placeholder 2">
            <a:extLst>
              <a:ext uri="{FF2B5EF4-FFF2-40B4-BE49-F238E27FC236}">
                <a16:creationId xmlns:a16="http://schemas.microsoft.com/office/drawing/2014/main" id="{F899A568-306D-4999-BE7A-18FE0D36B081}"/>
              </a:ext>
            </a:extLst>
          </p:cNvPr>
          <p:cNvSpPr>
            <a:spLocks noGrp="1"/>
          </p:cNvSpPr>
          <p:nvPr>
            <p:ph idx="1"/>
          </p:nvPr>
        </p:nvSpPr>
        <p:spPr>
          <a:xfrm>
            <a:off x="1120000" y="1825625"/>
            <a:ext cx="7464602" cy="4351338"/>
          </a:xfrm>
        </p:spPr>
        <p:txBody>
          <a:bodyPr>
            <a:normAutofit lnSpcReduction="10000"/>
          </a:bodyPr>
          <a:lstStyle/>
          <a:p>
            <a:r>
              <a:rPr lang="en-US" dirty="0"/>
              <a:t>Functional – preliminary stage, signal flow diagram</a:t>
            </a:r>
          </a:p>
          <a:p>
            <a:r>
              <a:rPr lang="en-US" dirty="0"/>
              <a:t>Component network</a:t>
            </a:r>
          </a:p>
          <a:p>
            <a:pPr lvl="1"/>
            <a:r>
              <a:rPr lang="en-US" dirty="0"/>
              <a:t>Technology model</a:t>
            </a:r>
          </a:p>
          <a:p>
            <a:pPr lvl="1"/>
            <a:r>
              <a:rPr lang="en-US" dirty="0"/>
              <a:t>Node model</a:t>
            </a:r>
          </a:p>
          <a:p>
            <a:pPr lvl="1"/>
            <a:r>
              <a:rPr lang="en-US" dirty="0"/>
              <a:t>ECU hardware model</a:t>
            </a:r>
          </a:p>
          <a:p>
            <a:pPr lvl="1"/>
            <a:r>
              <a:rPr lang="en-US" dirty="0"/>
              <a:t>ECU software module</a:t>
            </a:r>
          </a:p>
          <a:p>
            <a:pPr lvl="1"/>
            <a:r>
              <a:rPr lang="en-US" dirty="0"/>
              <a:t>Network model and communication</a:t>
            </a:r>
          </a:p>
          <a:p>
            <a:r>
              <a:rPr lang="en-US" dirty="0"/>
              <a:t>Circuit diagram</a:t>
            </a:r>
          </a:p>
          <a:p>
            <a:r>
              <a:rPr lang="en-US" dirty="0"/>
              <a:t>Wiring harness and space</a:t>
            </a:r>
            <a:endParaRPr lang="en-GB" dirty="0"/>
          </a:p>
        </p:txBody>
      </p:sp>
      <p:pic>
        <p:nvPicPr>
          <p:cNvPr id="4" name="Picture 3">
            <a:extLst>
              <a:ext uri="{FF2B5EF4-FFF2-40B4-BE49-F238E27FC236}">
                <a16:creationId xmlns:a16="http://schemas.microsoft.com/office/drawing/2014/main" id="{7583816D-CE77-41EE-A903-58D7D90D9861}"/>
              </a:ext>
            </a:extLst>
          </p:cNvPr>
          <p:cNvPicPr>
            <a:picLocks noChangeAspect="1"/>
          </p:cNvPicPr>
          <p:nvPr/>
        </p:nvPicPr>
        <p:blipFill>
          <a:blip r:embed="rId2"/>
          <a:stretch>
            <a:fillRect/>
          </a:stretch>
        </p:blipFill>
        <p:spPr>
          <a:xfrm>
            <a:off x="8121047" y="1513770"/>
            <a:ext cx="3232753" cy="4979105"/>
          </a:xfrm>
          <a:prstGeom prst="rect">
            <a:avLst/>
          </a:prstGeom>
        </p:spPr>
      </p:pic>
    </p:spTree>
    <p:extLst>
      <p:ext uri="{BB962C8B-B14F-4D97-AF65-F5344CB8AC3E}">
        <p14:creationId xmlns:p14="http://schemas.microsoft.com/office/powerpoint/2010/main" val="1348898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0A2A5-E2E8-42B1-996E-83557A7CCC10}"/>
              </a:ext>
            </a:extLst>
          </p:cNvPr>
          <p:cNvSpPr>
            <a:spLocks noGrp="1"/>
          </p:cNvSpPr>
          <p:nvPr>
            <p:ph type="title"/>
          </p:nvPr>
        </p:nvSpPr>
        <p:spPr/>
        <p:txBody>
          <a:bodyPr/>
          <a:lstStyle/>
          <a:p>
            <a:r>
              <a:rPr lang="en-US" dirty="0"/>
              <a:t>Automotive sensors</a:t>
            </a:r>
            <a:endParaRPr lang="en-GB" dirty="0"/>
          </a:p>
        </p:txBody>
      </p:sp>
      <p:sp>
        <p:nvSpPr>
          <p:cNvPr id="3" name="Content Placeholder 2">
            <a:extLst>
              <a:ext uri="{FF2B5EF4-FFF2-40B4-BE49-F238E27FC236}">
                <a16:creationId xmlns:a16="http://schemas.microsoft.com/office/drawing/2014/main" id="{B0F7D3D5-585A-464F-BD46-7D42A5C74E9F}"/>
              </a:ext>
            </a:extLst>
          </p:cNvPr>
          <p:cNvSpPr>
            <a:spLocks noGrp="1"/>
          </p:cNvSpPr>
          <p:nvPr>
            <p:ph idx="1"/>
          </p:nvPr>
        </p:nvSpPr>
        <p:spPr>
          <a:xfrm>
            <a:off x="838200" y="1596838"/>
            <a:ext cx="8863096" cy="4660135"/>
          </a:xfrm>
        </p:spPr>
        <p:txBody>
          <a:bodyPr>
            <a:normAutofit fontScale="92500" lnSpcReduction="20000"/>
          </a:bodyPr>
          <a:lstStyle/>
          <a:p>
            <a:r>
              <a:rPr lang="en-US" dirty="0"/>
              <a:t>Sensor converts a physical or chemical (usually nonelectric) quantities F into electric quantity E.</a:t>
            </a:r>
          </a:p>
          <a:p>
            <a:r>
              <a:rPr lang="en-US" dirty="0"/>
              <a:t>Sensors classification</a:t>
            </a:r>
          </a:p>
          <a:p>
            <a:pPr lvl="1"/>
            <a:r>
              <a:rPr lang="en-US" dirty="0"/>
              <a:t>Assignment and application</a:t>
            </a:r>
          </a:p>
          <a:p>
            <a:pPr lvl="2"/>
            <a:r>
              <a:rPr lang="en-US" dirty="0"/>
              <a:t>Functional</a:t>
            </a:r>
          </a:p>
          <a:p>
            <a:pPr lvl="2"/>
            <a:r>
              <a:rPr lang="en-US" dirty="0"/>
              <a:t>Safety</a:t>
            </a:r>
          </a:p>
          <a:p>
            <a:pPr lvl="2"/>
            <a:r>
              <a:rPr lang="en-US" dirty="0"/>
              <a:t>Monitoring</a:t>
            </a:r>
          </a:p>
          <a:p>
            <a:pPr lvl="1"/>
            <a:r>
              <a:rPr lang="en-US" dirty="0"/>
              <a:t>Type of characteristic curve</a:t>
            </a:r>
          </a:p>
          <a:p>
            <a:pPr lvl="2"/>
            <a:r>
              <a:rPr lang="en-US" dirty="0"/>
              <a:t>Continuous linear</a:t>
            </a:r>
          </a:p>
          <a:p>
            <a:pPr lvl="2"/>
            <a:r>
              <a:rPr lang="en-US" dirty="0"/>
              <a:t>Continuous non-linear</a:t>
            </a:r>
          </a:p>
          <a:p>
            <a:pPr lvl="2"/>
            <a:r>
              <a:rPr lang="en-US" dirty="0"/>
              <a:t>Discontinuous</a:t>
            </a:r>
          </a:p>
          <a:p>
            <a:pPr lvl="1"/>
            <a:r>
              <a:rPr lang="en-US" dirty="0"/>
              <a:t>Type of output signal</a:t>
            </a:r>
          </a:p>
          <a:p>
            <a:pPr lvl="2"/>
            <a:r>
              <a:rPr lang="en-US" dirty="0"/>
              <a:t>Current, voltage, amplitude</a:t>
            </a:r>
          </a:p>
          <a:p>
            <a:pPr lvl="2"/>
            <a:r>
              <a:rPr lang="en-US" dirty="0"/>
              <a:t>Frequency</a:t>
            </a:r>
          </a:p>
          <a:p>
            <a:pPr lvl="2"/>
            <a:r>
              <a:rPr lang="en-US" dirty="0"/>
              <a:t>Pulse duration</a:t>
            </a:r>
          </a:p>
          <a:p>
            <a:pPr lvl="1"/>
            <a:endParaRPr lang="en-GB" dirty="0"/>
          </a:p>
        </p:txBody>
      </p:sp>
      <p:pic>
        <p:nvPicPr>
          <p:cNvPr id="4" name="Picture 3">
            <a:extLst>
              <a:ext uri="{FF2B5EF4-FFF2-40B4-BE49-F238E27FC236}">
                <a16:creationId xmlns:a16="http://schemas.microsoft.com/office/drawing/2014/main" id="{B9751767-2BCE-4E6E-B743-0A72E281CDEA}"/>
              </a:ext>
            </a:extLst>
          </p:cNvPr>
          <p:cNvPicPr>
            <a:picLocks noChangeAspect="1"/>
          </p:cNvPicPr>
          <p:nvPr/>
        </p:nvPicPr>
        <p:blipFill>
          <a:blip r:embed="rId3"/>
          <a:stretch>
            <a:fillRect/>
          </a:stretch>
        </p:blipFill>
        <p:spPr>
          <a:xfrm>
            <a:off x="9631880" y="778911"/>
            <a:ext cx="2371477" cy="5773131"/>
          </a:xfrm>
          <a:prstGeom prst="rect">
            <a:avLst/>
          </a:prstGeom>
        </p:spPr>
      </p:pic>
      <p:pic>
        <p:nvPicPr>
          <p:cNvPr id="5" name="Picture 4">
            <a:extLst>
              <a:ext uri="{FF2B5EF4-FFF2-40B4-BE49-F238E27FC236}">
                <a16:creationId xmlns:a16="http://schemas.microsoft.com/office/drawing/2014/main" id="{E055B231-20C9-473B-991F-2FBA0ED979CF}"/>
              </a:ext>
            </a:extLst>
          </p:cNvPr>
          <p:cNvPicPr>
            <a:picLocks noChangeAspect="1"/>
          </p:cNvPicPr>
          <p:nvPr/>
        </p:nvPicPr>
        <p:blipFill>
          <a:blip r:embed="rId4"/>
          <a:stretch>
            <a:fillRect/>
          </a:stretch>
        </p:blipFill>
        <p:spPr>
          <a:xfrm>
            <a:off x="6458929" y="2412122"/>
            <a:ext cx="2798726" cy="3992386"/>
          </a:xfrm>
          <a:prstGeom prst="rect">
            <a:avLst/>
          </a:prstGeom>
        </p:spPr>
      </p:pic>
    </p:spTree>
    <p:extLst>
      <p:ext uri="{BB962C8B-B14F-4D97-AF65-F5344CB8AC3E}">
        <p14:creationId xmlns:p14="http://schemas.microsoft.com/office/powerpoint/2010/main" val="3100053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C57E4-8B91-4521-B1FD-5D19F5C350A6}"/>
              </a:ext>
            </a:extLst>
          </p:cNvPr>
          <p:cNvSpPr>
            <a:spLocks noGrp="1"/>
          </p:cNvSpPr>
          <p:nvPr>
            <p:ph type="title"/>
          </p:nvPr>
        </p:nvSpPr>
        <p:spPr/>
        <p:txBody>
          <a:bodyPr/>
          <a:lstStyle/>
          <a:p>
            <a:r>
              <a:rPr lang="en-US" dirty="0"/>
              <a:t>Sensor requirements </a:t>
            </a:r>
            <a:endParaRPr lang="en-GB" dirty="0"/>
          </a:p>
        </p:txBody>
      </p:sp>
      <p:sp>
        <p:nvSpPr>
          <p:cNvPr id="3" name="Content Placeholder 2">
            <a:extLst>
              <a:ext uri="{FF2B5EF4-FFF2-40B4-BE49-F238E27FC236}">
                <a16:creationId xmlns:a16="http://schemas.microsoft.com/office/drawing/2014/main" id="{5436C695-5050-4B9E-B9C4-E14060986EB3}"/>
              </a:ext>
            </a:extLst>
          </p:cNvPr>
          <p:cNvSpPr>
            <a:spLocks noGrp="1"/>
          </p:cNvSpPr>
          <p:nvPr>
            <p:ph idx="1"/>
          </p:nvPr>
        </p:nvSpPr>
        <p:spPr/>
        <p:txBody>
          <a:bodyPr vert="horz" lIns="91440" tIns="45720" rIns="91440" bIns="45720" rtlCol="0" anchor="t">
            <a:normAutofit fontScale="92500" lnSpcReduction="20000"/>
          </a:bodyPr>
          <a:lstStyle/>
          <a:p>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Operation conditions(Mechanical Climatic Chemical, Electromagnetic)</a:t>
            </a:r>
          </a:p>
          <a:p>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Reliability classes</a:t>
            </a:r>
          </a:p>
          <a:p>
            <a:pPr lvl="1"/>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Steering, brakes, passenger protection</a:t>
            </a:r>
          </a:p>
          <a:p>
            <a:pPr lvl="1"/>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Engine, driveline suspension, tires</a:t>
            </a:r>
          </a:p>
          <a:p>
            <a:pPr lvl="1"/>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Comfort and convenience, information, diagnostic, theft detection</a:t>
            </a:r>
          </a:p>
          <a:p>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Size, miniaturization concepts</a:t>
            </a:r>
          </a:p>
          <a:p>
            <a:pPr lvl="1"/>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Semiconductor technology (Hall effect)</a:t>
            </a:r>
          </a:p>
          <a:p>
            <a:pPr lvl="1"/>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Surface and bulk micromechanics (acceleration and yaw sensor)</a:t>
            </a:r>
          </a:p>
          <a:p>
            <a:pPr lvl="1"/>
            <a:r>
              <a:rPr lang="en-US" dirty="0">
                <a:gradFill>
                  <a:gsLst>
                    <a:gs pos="0">
                      <a:srgbClr val="000000"/>
                    </a:gs>
                    <a:gs pos="34000">
                      <a:srgbClr val="FFFFFF"/>
                    </a:gs>
                    <a:gs pos="100000">
                      <a:srgbClr val="94D7E4">
                        <a:lumMod val="0"/>
                        <a:lumOff val="100000"/>
                      </a:srgbClr>
                    </a:gs>
                  </a:gsLst>
                  <a:lin ang="4800000" scaled="0"/>
                </a:gradFill>
              </a:rPr>
              <a:t>Microsystem technology (micromechanical or </a:t>
            </a:r>
            <a:r>
              <a:rPr lang="en-US" dirty="0" err="1">
                <a:gradFill>
                  <a:gsLst>
                    <a:gs pos="0">
                      <a:srgbClr val="000000"/>
                    </a:gs>
                    <a:gs pos="34000">
                      <a:srgbClr val="FFFFFF"/>
                    </a:gs>
                    <a:gs pos="100000">
                      <a:srgbClr val="94D7E4">
                        <a:lumMod val="0"/>
                        <a:lumOff val="100000"/>
                      </a:srgbClr>
                    </a:gs>
                  </a:gsLst>
                  <a:lin ang="4800000" scaled="0"/>
                </a:gradFill>
              </a:rPr>
              <a:t>microoptical</a:t>
            </a:r>
            <a:r>
              <a:rPr lang="en-US" dirty="0">
                <a:gradFill>
                  <a:gsLst>
                    <a:gs pos="0">
                      <a:srgbClr val="000000"/>
                    </a:gs>
                    <a:gs pos="34000">
                      <a:srgbClr val="FFFFFF"/>
                    </a:gs>
                    <a:gs pos="100000">
                      <a:srgbClr val="94D7E4">
                        <a:lumMod val="0"/>
                        <a:lumOff val="100000"/>
                      </a:srgbClr>
                    </a:gs>
                  </a:gsLst>
                  <a:lin ang="4800000" scaled="0"/>
                </a:gradFill>
              </a:rPr>
              <a:t> system )</a:t>
            </a:r>
          </a:p>
          <a:p>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Manufacturing cost</a:t>
            </a:r>
          </a:p>
          <a:p>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Accuracy requirements</a:t>
            </a:r>
          </a:p>
          <a:p>
            <a:r>
              <a:rPr lang="en-US"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Integration level</a:t>
            </a:r>
          </a:p>
          <a:p>
            <a:endParaRPr lang="en-GB"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p:txBody>
      </p:sp>
    </p:spTree>
    <p:extLst>
      <p:ext uri="{BB962C8B-B14F-4D97-AF65-F5344CB8AC3E}">
        <p14:creationId xmlns:p14="http://schemas.microsoft.com/office/powerpoint/2010/main" val="644342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69651" y="928494"/>
            <a:ext cx="8431449" cy="575440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838200" y="0"/>
            <a:ext cx="10515600" cy="1325563"/>
          </a:xfrm>
        </p:spPr>
        <p:txBody>
          <a:bodyPr/>
          <a:lstStyle/>
          <a:p>
            <a:r>
              <a:rPr lang="en-US" dirty="0"/>
              <a:t>Basic CE control system</a:t>
            </a:r>
          </a:p>
        </p:txBody>
      </p:sp>
      <p:sp>
        <p:nvSpPr>
          <p:cNvPr id="3" name="Content Placeholder 2"/>
          <p:cNvSpPr>
            <a:spLocks noGrp="1"/>
          </p:cNvSpPr>
          <p:nvPr>
            <p:ph idx="1"/>
          </p:nvPr>
        </p:nvSpPr>
        <p:spPr>
          <a:xfrm>
            <a:off x="8920263" y="459641"/>
            <a:ext cx="3506739" cy="6223261"/>
          </a:xfrm>
        </p:spPr>
        <p:txBody>
          <a:bodyPr vert="horz" lIns="91440" tIns="45720" rIns="91440" bIns="45720" rtlCol="0" anchor="t">
            <a:normAutofit fontScale="92500" lnSpcReduction="20000"/>
          </a:bodyPr>
          <a:lstStyle/>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Engine control unit</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Diagnostic harness</a:t>
            </a:r>
          </a:p>
          <a:p>
            <a:pPr marL="342900" indent="-342900">
              <a:buFont typeface="+mj-lt"/>
              <a:buAutoNum type="arabicPeriod"/>
            </a:pPr>
            <a:r>
              <a:rPr lang="en-US" sz="1600" dirty="0">
                <a:gradFill>
                  <a:gsLst>
                    <a:gs pos="0">
                      <a:srgbClr val="000000"/>
                    </a:gs>
                    <a:gs pos="34000">
                      <a:srgbClr val="FFFFFF"/>
                    </a:gs>
                    <a:gs pos="100000">
                      <a:srgbClr val="94D7E4">
                        <a:lumMod val="0"/>
                        <a:lumOff val="100000"/>
                      </a:srgbClr>
                    </a:gs>
                  </a:gsLst>
                  <a:lin ang="4800000" scaled="0"/>
                </a:gradFill>
              </a:rPr>
              <a:t>Check engine light</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Throttle position sensor</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Mass Air flow sensor</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Idle run regulation </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Fuel pressure valve </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Injectors</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Sparking plug</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Phase sensor</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Detonation sensor</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Engine temp sensor</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Ignition Module(coil)</a:t>
            </a:r>
          </a:p>
          <a:p>
            <a:pPr marL="342900" indent="-342900">
              <a:buFont typeface="+mj-lt"/>
              <a:buAutoNum type="arabicPeriod"/>
            </a:pPr>
            <a:r>
              <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The crankshaft position sensor</a:t>
            </a:r>
          </a:p>
          <a:p>
            <a:pPr marL="342900" indent="-342900">
              <a:buFont typeface="+mj-lt"/>
              <a:buAutoNum type="arabicPeriod"/>
            </a:pPr>
            <a:r>
              <a:rPr lang="en-US" altLang="de-DE"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Oxygen Sensors</a:t>
            </a:r>
          </a:p>
          <a:p>
            <a:pPr marL="342900" indent="-342900">
              <a:buFont typeface="+mj-lt"/>
              <a:buAutoNum type="arabicPeriod"/>
            </a:pPr>
            <a:r>
              <a:rPr lang="en-US" altLang="de-DE"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Second Oxygen Sensors</a:t>
            </a:r>
          </a:p>
          <a:p>
            <a:pPr marL="342900" indent="-342900">
              <a:buFont typeface="+mj-lt"/>
              <a:buAutoNum type="arabicPeriod"/>
            </a:pPr>
            <a:r>
              <a:rPr lang="en-US" altLang="de-DE"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Regeneration(Vapor) valve</a:t>
            </a:r>
          </a:p>
          <a:p>
            <a:pPr marL="342900" indent="-342900">
              <a:buFont typeface="+mj-lt"/>
              <a:buAutoNum type="arabicPeriod"/>
            </a:pPr>
            <a:r>
              <a:rPr lang="en-US" altLang="de-DE"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Charcoal absorber</a:t>
            </a:r>
          </a:p>
          <a:p>
            <a:pPr marL="342900" indent="-342900">
              <a:buFont typeface="+mj-lt"/>
              <a:buAutoNum type="arabicPeriod"/>
            </a:pPr>
            <a:r>
              <a:rPr lang="en-US" altLang="de-DE"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Fuel filter</a:t>
            </a:r>
          </a:p>
          <a:p>
            <a:pPr marL="342900" indent="-342900">
              <a:buFont typeface="+mj-lt"/>
              <a:buAutoNum type="arabicPeriod"/>
            </a:pPr>
            <a:r>
              <a:rPr lang="en-US" altLang="de-DE"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Fuel pump/fuel level sensor</a:t>
            </a:r>
          </a:p>
          <a:p>
            <a:pPr marL="342900" indent="-342900">
              <a:buFont typeface="+mj-lt"/>
              <a:buAutoNum type="arabicPeriod"/>
            </a:pPr>
            <a:r>
              <a:rPr lang="en-US" altLang="de-DE"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rPr>
              <a:t>catalytic converter</a:t>
            </a:r>
          </a:p>
          <a:p>
            <a:pPr marL="342900" indent="-342900">
              <a:buFont typeface="+mj-lt"/>
              <a:buAutoNum type="arabicPeriod"/>
            </a:pPr>
            <a:endParaRPr lang="en-US" altLang="de-DE"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pPr marL="342900" indent="-342900">
              <a:buFont typeface="+mj-lt"/>
              <a:buAutoNum type="arabicPeriod"/>
            </a:pPr>
            <a:endPar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pPr marL="342900" indent="-342900">
              <a:buFont typeface="+mj-lt"/>
              <a:buAutoNum type="arabicPeriod"/>
            </a:pPr>
            <a:endPar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endPar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a:p>
            <a:endParaRPr lang="en-US" sz="1600" dirty="0">
              <a:gradFill>
                <a:gsLst>
                  <a:gs pos="0">
                    <a:prstClr val="black">
                      <a:lumMod val="25000"/>
                      <a:lumOff val="75000"/>
                    </a:prstClr>
                  </a:gs>
                  <a:gs pos="34000">
                    <a:prstClr val="white">
                      <a:lumMod val="93000"/>
                    </a:prstClr>
                  </a:gs>
                  <a:gs pos="100000">
                    <a:srgbClr val="94D7E4">
                      <a:lumMod val="0"/>
                      <a:lumOff val="100000"/>
                    </a:srgbClr>
                  </a:gs>
                </a:gsLst>
                <a:lin ang="4800000" scaled="0"/>
              </a:gradFill>
            </a:endParaRPr>
          </a:p>
        </p:txBody>
      </p:sp>
      <p:sp>
        <p:nvSpPr>
          <p:cNvPr id="8" name="Rectangle 2"/>
          <p:cNvSpPr>
            <a:spLocks noChangeArrowheads="1"/>
          </p:cNvSpPr>
          <p:nvPr/>
        </p:nvSpPr>
        <p:spPr bwMode="auto">
          <a:xfrm>
            <a:off x="0" y="671208"/>
            <a:ext cx="1678391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Object 8"/>
          <p:cNvGraphicFramePr>
            <a:graphicFrameLocks noChangeAspect="1"/>
          </p:cNvGraphicFramePr>
          <p:nvPr>
            <p:extLst>
              <p:ext uri="{D42A27DB-BD31-4B8C-83A1-F6EECF244321}">
                <p14:modId xmlns:p14="http://schemas.microsoft.com/office/powerpoint/2010/main" val="3826305302"/>
              </p:ext>
            </p:extLst>
          </p:nvPr>
        </p:nvGraphicFramePr>
        <p:xfrm>
          <a:off x="0" y="671208"/>
          <a:ext cx="9037968" cy="6342434"/>
        </p:xfrm>
        <a:graphic>
          <a:graphicData uri="http://schemas.openxmlformats.org/presentationml/2006/ole">
            <mc:AlternateContent xmlns:mc="http://schemas.openxmlformats.org/markup-compatibility/2006">
              <mc:Choice xmlns:v="urn:schemas-microsoft-com:vml" Requires="v">
                <p:oleObj name="AutoCAD Drawing" r:id="rId2" imgW="6515100" imgH="4572000" progId="AutoCAD.Drawing.18">
                  <p:embed/>
                </p:oleObj>
              </mc:Choice>
              <mc:Fallback>
                <p:oleObj name="AutoCAD Drawing" r:id="rId2" imgW="6515100" imgH="4572000" progId="AutoCAD.Drawing.18">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71208"/>
                        <a:ext cx="9037968" cy="6342434"/>
                      </a:xfrm>
                      <a:prstGeom prst="rect">
                        <a:avLst/>
                      </a:prstGeom>
                      <a:noFill/>
                    </p:spPr>
                  </p:pic>
                </p:oleObj>
              </mc:Fallback>
            </mc:AlternateContent>
          </a:graphicData>
        </a:graphic>
      </p:graphicFrame>
    </p:spTree>
    <p:extLst>
      <p:ext uri="{BB962C8B-B14F-4D97-AF65-F5344CB8AC3E}">
        <p14:creationId xmlns:p14="http://schemas.microsoft.com/office/powerpoint/2010/main" val="2598868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F7D74-0918-4513-B962-33E6289A2D01}"/>
              </a:ext>
            </a:extLst>
          </p:cNvPr>
          <p:cNvSpPr>
            <a:spLocks noGrp="1"/>
          </p:cNvSpPr>
          <p:nvPr>
            <p:ph type="title"/>
          </p:nvPr>
        </p:nvSpPr>
        <p:spPr/>
        <p:txBody>
          <a:bodyPr>
            <a:normAutofit fontScale="90000"/>
          </a:bodyPr>
          <a:lstStyle/>
          <a:p>
            <a:r>
              <a:rPr lang="en-US" dirty="0"/>
              <a:t>Position and angular position sensors</a:t>
            </a:r>
            <a:endParaRPr lang="en-GB" dirty="0"/>
          </a:p>
        </p:txBody>
      </p:sp>
      <p:sp>
        <p:nvSpPr>
          <p:cNvPr id="3" name="Content Placeholder 2">
            <a:extLst>
              <a:ext uri="{FF2B5EF4-FFF2-40B4-BE49-F238E27FC236}">
                <a16:creationId xmlns:a16="http://schemas.microsoft.com/office/drawing/2014/main" id="{68F1106C-2EFD-4234-AFAC-3A09A88860EA}"/>
              </a:ext>
            </a:extLst>
          </p:cNvPr>
          <p:cNvSpPr>
            <a:spLocks noGrp="1"/>
          </p:cNvSpPr>
          <p:nvPr>
            <p:ph idx="1"/>
          </p:nvPr>
        </p:nvSpPr>
        <p:spPr/>
        <p:txBody>
          <a:bodyPr>
            <a:normAutofit lnSpcReduction="10000"/>
          </a:bodyPr>
          <a:lstStyle/>
          <a:p>
            <a:r>
              <a:rPr lang="en-US" dirty="0"/>
              <a:t>Measure one or multidimensional displacement and angle positions</a:t>
            </a:r>
          </a:p>
          <a:p>
            <a:pPr lvl="1"/>
            <a:r>
              <a:rPr lang="en-US" dirty="0"/>
              <a:t>Accelerator / break -pedal position sensor</a:t>
            </a:r>
          </a:p>
          <a:p>
            <a:pPr lvl="1"/>
            <a:r>
              <a:rPr lang="en-US" dirty="0"/>
              <a:t>Throttle valve position sensor</a:t>
            </a:r>
          </a:p>
          <a:p>
            <a:pPr lvl="1"/>
            <a:r>
              <a:rPr lang="en-US" dirty="0"/>
              <a:t>Fuel tank level</a:t>
            </a:r>
          </a:p>
          <a:p>
            <a:pPr lvl="1"/>
            <a:r>
              <a:rPr lang="en-US" dirty="0"/>
              <a:t>Steering wheel angle	</a:t>
            </a:r>
          </a:p>
          <a:p>
            <a:r>
              <a:rPr lang="en-US" dirty="0"/>
              <a:t>Mechanical</a:t>
            </a:r>
          </a:p>
          <a:p>
            <a:pPr lvl="1"/>
            <a:r>
              <a:rPr lang="en-US" dirty="0"/>
              <a:t>Proportional relationship between the length of a wire or conductive film resistor</a:t>
            </a:r>
          </a:p>
          <a:p>
            <a:r>
              <a:rPr lang="en-US" dirty="0"/>
              <a:t>Trend to move to wear-free sensors (contactless, proximity sensors)</a:t>
            </a:r>
            <a:endParaRPr lang="en-GB" dirty="0"/>
          </a:p>
        </p:txBody>
      </p:sp>
    </p:spTree>
    <p:extLst>
      <p:ext uri="{BB962C8B-B14F-4D97-AF65-F5344CB8AC3E}">
        <p14:creationId xmlns:p14="http://schemas.microsoft.com/office/powerpoint/2010/main" val="107236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Throttle Position Sensor (</a:t>
            </a:r>
            <a:r>
              <a:rPr lang="en-US" b="1" u="sng" dirty="0" err="1"/>
              <a:t>TPS</a:t>
            </a:r>
            <a:r>
              <a:rPr lang="en-US" b="1" u="sng" dirty="0"/>
              <a:t>)</a:t>
            </a:r>
            <a:endParaRPr lang="en-US" dirty="0"/>
          </a:p>
        </p:txBody>
      </p:sp>
      <p:sp>
        <p:nvSpPr>
          <p:cNvPr id="3" name="Content Placeholder 2"/>
          <p:cNvSpPr>
            <a:spLocks noGrp="1"/>
          </p:cNvSpPr>
          <p:nvPr>
            <p:ph idx="1"/>
          </p:nvPr>
        </p:nvSpPr>
        <p:spPr>
          <a:xfrm>
            <a:off x="1120000" y="1516829"/>
            <a:ext cx="7703388" cy="1912171"/>
          </a:xfrm>
        </p:spPr>
        <p:txBody>
          <a:bodyPr>
            <a:normAutofit fontScale="70000" lnSpcReduction="20000"/>
          </a:bodyPr>
          <a:lstStyle/>
          <a:p>
            <a:pPr>
              <a:buFontTx/>
              <a:buChar char="•"/>
            </a:pPr>
            <a:r>
              <a:rPr lang="en-US" dirty="0"/>
              <a:t>Variable resister connected to the  throttle plate</a:t>
            </a:r>
          </a:p>
          <a:p>
            <a:pPr lvl="1">
              <a:buFontTx/>
              <a:buChar char="•"/>
            </a:pPr>
            <a:r>
              <a:rPr lang="en-US" dirty="0"/>
              <a:t>Today used electronic throttles</a:t>
            </a:r>
          </a:p>
          <a:p>
            <a:pPr lvl="1">
              <a:buFontTx/>
              <a:buChar char="•"/>
            </a:pPr>
            <a:r>
              <a:rPr lang="en-US" dirty="0"/>
              <a:t>Only Acceleration pedal has a sensor and throttle plate controlled be DC step motor (used in electronic throttle control (</a:t>
            </a:r>
            <a:r>
              <a:rPr lang="en-US" dirty="0" err="1"/>
              <a:t>ETC</a:t>
            </a:r>
            <a:r>
              <a:rPr lang="en-US" dirty="0"/>
              <a:t>) or "drive by wire" systems)</a:t>
            </a:r>
          </a:p>
          <a:p>
            <a:pPr>
              <a:buFontTx/>
              <a:buChar char="•"/>
            </a:pPr>
            <a:r>
              <a:rPr lang="en-US" dirty="0"/>
              <a:t>Variable resister connected to the  throttle plate</a:t>
            </a:r>
          </a:p>
          <a:p>
            <a:pPr>
              <a:buFontTx/>
              <a:buChar char="•"/>
            </a:pPr>
            <a:r>
              <a:rPr lang="en-US" dirty="0"/>
              <a:t>Today is redundant, only for diagnostic purposes</a:t>
            </a:r>
          </a:p>
          <a:p>
            <a:pPr>
              <a:buFontTx/>
              <a:buChar char="•"/>
            </a:pPr>
            <a:endParaRPr lang="en-US" dirty="0"/>
          </a:p>
        </p:txBody>
      </p:sp>
      <p:pic>
        <p:nvPicPr>
          <p:cNvPr id="4" name="Picture 3" descr="6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000" y="3247342"/>
            <a:ext cx="3554626" cy="307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DAA68D72-FF38-46E8-A4C0-9B1E77745A88}"/>
              </a:ext>
            </a:extLst>
          </p:cNvPr>
          <p:cNvPicPr>
            <a:picLocks noChangeAspect="1"/>
          </p:cNvPicPr>
          <p:nvPr/>
        </p:nvPicPr>
        <p:blipFill>
          <a:blip r:embed="rId3"/>
          <a:stretch>
            <a:fillRect/>
          </a:stretch>
        </p:blipFill>
        <p:spPr>
          <a:xfrm rot="16200000">
            <a:off x="4770900" y="3599267"/>
            <a:ext cx="3098401" cy="2394549"/>
          </a:xfrm>
          <a:prstGeom prst="rect">
            <a:avLst/>
          </a:prstGeom>
        </p:spPr>
      </p:pic>
      <p:pic>
        <p:nvPicPr>
          <p:cNvPr id="7" name="Picture 6">
            <a:extLst>
              <a:ext uri="{FF2B5EF4-FFF2-40B4-BE49-F238E27FC236}">
                <a16:creationId xmlns:a16="http://schemas.microsoft.com/office/drawing/2014/main" id="{AD155A91-9FB1-4FAE-B1D9-BF6D10267075}"/>
              </a:ext>
            </a:extLst>
          </p:cNvPr>
          <p:cNvPicPr>
            <a:picLocks noChangeAspect="1"/>
          </p:cNvPicPr>
          <p:nvPr/>
        </p:nvPicPr>
        <p:blipFill rotWithShape="1">
          <a:blip r:embed="rId4"/>
          <a:srcRect l="4985" t="3159" r="5629" b="3981"/>
          <a:stretch/>
        </p:blipFill>
        <p:spPr>
          <a:xfrm rot="16200000">
            <a:off x="8177447" y="2448234"/>
            <a:ext cx="4688600" cy="3173508"/>
          </a:xfrm>
          <a:prstGeom prst="rect">
            <a:avLst/>
          </a:prstGeom>
        </p:spPr>
      </p:pic>
    </p:spTree>
    <p:extLst>
      <p:ext uri="{BB962C8B-B14F-4D97-AF65-F5344CB8AC3E}">
        <p14:creationId xmlns:p14="http://schemas.microsoft.com/office/powerpoint/2010/main" val="1950842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04E17-A96C-47BC-87B6-6234835BF1E9}"/>
              </a:ext>
            </a:extLst>
          </p:cNvPr>
          <p:cNvSpPr>
            <a:spLocks noGrp="1"/>
          </p:cNvSpPr>
          <p:nvPr>
            <p:ph type="title"/>
          </p:nvPr>
        </p:nvSpPr>
        <p:spPr/>
        <p:txBody>
          <a:bodyPr/>
          <a:lstStyle/>
          <a:p>
            <a:r>
              <a:rPr lang="en-US" dirty="0"/>
              <a:t>Wear less sensors</a:t>
            </a:r>
            <a:endParaRPr lang="en-GB" dirty="0"/>
          </a:p>
        </p:txBody>
      </p:sp>
      <p:sp>
        <p:nvSpPr>
          <p:cNvPr id="3" name="Content Placeholder 2">
            <a:extLst>
              <a:ext uri="{FF2B5EF4-FFF2-40B4-BE49-F238E27FC236}">
                <a16:creationId xmlns:a16="http://schemas.microsoft.com/office/drawing/2014/main" id="{5F48CBB4-F2A5-4BA1-8D75-B2758664086C}"/>
              </a:ext>
            </a:extLst>
          </p:cNvPr>
          <p:cNvSpPr>
            <a:spLocks noGrp="1"/>
          </p:cNvSpPr>
          <p:nvPr>
            <p:ph idx="1"/>
          </p:nvPr>
        </p:nvSpPr>
        <p:spPr/>
        <p:txBody>
          <a:bodyPr>
            <a:normAutofit fontScale="92500" lnSpcReduction="10000"/>
          </a:bodyPr>
          <a:lstStyle/>
          <a:p>
            <a:r>
              <a:rPr lang="en-US" dirty="0"/>
              <a:t>Magnetic inductive sensors -Non contacting position/rotation measurement (AC current)</a:t>
            </a:r>
          </a:p>
          <a:p>
            <a:pPr lvl="1"/>
            <a:r>
              <a:rPr lang="en-US" dirty="0"/>
              <a:t>Short circuit ring</a:t>
            </a:r>
          </a:p>
          <a:p>
            <a:pPr lvl="1"/>
            <a:r>
              <a:rPr lang="en-US" dirty="0"/>
              <a:t>Eddy current –when an electric conducting disk approaches a coil supplied with high frequency alternating current , eddy currents are created in disks a function of the distance</a:t>
            </a:r>
          </a:p>
          <a:p>
            <a:pPr lvl="1"/>
            <a:r>
              <a:rPr lang="en-US" dirty="0"/>
              <a:t>Rotating alternating field</a:t>
            </a:r>
          </a:p>
          <a:p>
            <a:r>
              <a:rPr lang="en-US" dirty="0"/>
              <a:t>Magnetostatics measures DC magnetic field</a:t>
            </a:r>
          </a:p>
          <a:p>
            <a:pPr lvl="1"/>
            <a:r>
              <a:rPr lang="en-US" dirty="0"/>
              <a:t>Hall effect</a:t>
            </a:r>
          </a:p>
          <a:p>
            <a:pPr lvl="2"/>
            <a:r>
              <a:rPr lang="en-US" dirty="0"/>
              <a:t>Switches</a:t>
            </a:r>
          </a:p>
          <a:p>
            <a:pPr lvl="2"/>
            <a:r>
              <a:rPr lang="en-US" dirty="0"/>
              <a:t>Speed</a:t>
            </a:r>
          </a:p>
          <a:p>
            <a:pPr lvl="2"/>
            <a:r>
              <a:rPr lang="en-US" dirty="0"/>
              <a:t>Position</a:t>
            </a:r>
          </a:p>
          <a:p>
            <a:pPr lvl="1"/>
            <a:r>
              <a:rPr lang="en-US" dirty="0"/>
              <a:t>Gaussian effect </a:t>
            </a:r>
          </a:p>
          <a:p>
            <a:pPr lvl="1"/>
            <a:endParaRPr lang="en-GB" dirty="0"/>
          </a:p>
        </p:txBody>
      </p:sp>
    </p:spTree>
    <p:extLst>
      <p:ext uri="{BB962C8B-B14F-4D97-AF65-F5344CB8AC3E}">
        <p14:creationId xmlns:p14="http://schemas.microsoft.com/office/powerpoint/2010/main" val="79141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0948" y="741156"/>
            <a:ext cx="7470529" cy="941711"/>
          </a:xfrm>
        </p:spPr>
        <p:txBody>
          <a:bodyPr>
            <a:normAutofit fontScale="90000"/>
          </a:bodyPr>
          <a:lstStyle/>
          <a:p>
            <a:r>
              <a:rPr lang="en-US" b="1" u="sng" dirty="0"/>
              <a:t>Temperature Sensors</a:t>
            </a:r>
            <a:br>
              <a:rPr lang="en-US" b="1" u="sng" dirty="0"/>
            </a:br>
            <a:endParaRPr lang="en-US" dirty="0"/>
          </a:p>
        </p:txBody>
      </p:sp>
      <p:sp>
        <p:nvSpPr>
          <p:cNvPr id="3" name="Content Placeholder 2"/>
          <p:cNvSpPr>
            <a:spLocks noGrp="1"/>
          </p:cNvSpPr>
          <p:nvPr>
            <p:ph idx="1"/>
          </p:nvPr>
        </p:nvSpPr>
        <p:spPr>
          <a:xfrm>
            <a:off x="293149" y="1820093"/>
            <a:ext cx="10233800" cy="4351338"/>
          </a:xfrm>
        </p:spPr>
        <p:txBody>
          <a:bodyPr/>
          <a:lstStyle/>
          <a:p>
            <a:r>
              <a:rPr lang="en-US" dirty="0"/>
              <a:t>Inlet air temperature sensor</a:t>
            </a:r>
          </a:p>
          <a:p>
            <a:pPr lvl="1"/>
            <a:r>
              <a:rPr lang="en-US" dirty="0"/>
              <a:t>Measures the temperature of air entering the engine.</a:t>
            </a:r>
          </a:p>
          <a:p>
            <a:pPr lvl="1"/>
            <a:r>
              <a:rPr lang="en-US" dirty="0"/>
              <a:t>Cold air (</a:t>
            </a:r>
            <a:r>
              <a:rPr lang="en-US" i="1" dirty="0"/>
              <a:t>more dense</a:t>
            </a:r>
            <a:r>
              <a:rPr lang="en-US" dirty="0"/>
              <a:t>) </a:t>
            </a:r>
            <a:r>
              <a:rPr lang="en-US" dirty="0">
                <a:solidFill>
                  <a:srgbClr val="FF0000"/>
                </a:solidFill>
              </a:rPr>
              <a:t>= More fuel for proper AF ratio.</a:t>
            </a:r>
          </a:p>
          <a:p>
            <a:r>
              <a:rPr lang="en-US" dirty="0"/>
              <a:t>Engine Temperature Sensor</a:t>
            </a:r>
          </a:p>
          <a:p>
            <a:pPr lvl="1"/>
            <a:r>
              <a:rPr lang="en-US" dirty="0"/>
              <a:t>Monitors the operating temperature of the engine.</a:t>
            </a:r>
          </a:p>
          <a:p>
            <a:pPr lvl="1"/>
            <a:r>
              <a:rPr lang="en-US" dirty="0"/>
              <a:t>Engine cold = </a:t>
            </a:r>
            <a:r>
              <a:rPr lang="en-US" dirty="0">
                <a:solidFill>
                  <a:srgbClr val="FF0000"/>
                </a:solidFill>
              </a:rPr>
              <a:t>Low Resistance = </a:t>
            </a:r>
            <a:r>
              <a:rPr lang="en-US" dirty="0"/>
              <a:t>Rich Mixture</a:t>
            </a:r>
          </a:p>
          <a:p>
            <a:pPr lvl="1"/>
            <a:endParaRPr lang="en-US" dirty="0"/>
          </a:p>
          <a:p>
            <a:pPr lvl="1"/>
            <a:endParaRPr lang="en-US" dirty="0"/>
          </a:p>
          <a:p>
            <a:pPr lvl="1"/>
            <a:endParaRPr lang="en-US" dirty="0"/>
          </a:p>
        </p:txBody>
      </p:sp>
      <p:pic>
        <p:nvPicPr>
          <p:cNvPr id="8" name="Picture 7"/>
          <p:cNvPicPr>
            <a:picLocks noChangeAspect="1"/>
          </p:cNvPicPr>
          <p:nvPr/>
        </p:nvPicPr>
        <p:blipFill>
          <a:blip r:embed="rId2"/>
          <a:stretch>
            <a:fillRect/>
          </a:stretch>
        </p:blipFill>
        <p:spPr>
          <a:xfrm>
            <a:off x="8964458" y="282565"/>
            <a:ext cx="2884566" cy="3075056"/>
          </a:xfrm>
          <a:prstGeom prst="rect">
            <a:avLst/>
          </a:prstGeom>
        </p:spPr>
      </p:pic>
      <p:pic>
        <p:nvPicPr>
          <p:cNvPr id="9" name="Picture 8"/>
          <p:cNvPicPr>
            <a:picLocks noChangeAspect="1"/>
          </p:cNvPicPr>
          <p:nvPr/>
        </p:nvPicPr>
        <p:blipFill>
          <a:blip r:embed="rId3"/>
          <a:stretch>
            <a:fillRect/>
          </a:stretch>
        </p:blipFill>
        <p:spPr>
          <a:xfrm>
            <a:off x="9668560" y="3872568"/>
            <a:ext cx="2180464" cy="2645588"/>
          </a:xfrm>
          <a:prstGeom prst="rect">
            <a:avLst/>
          </a:prstGeom>
        </p:spPr>
      </p:pic>
      <p:pic>
        <p:nvPicPr>
          <p:cNvPr id="17" name="Picture 16" descr="coolant_temp"/>
          <p:cNvPicPr>
            <a:picLocks noChangeAspect="1" noChangeArrowheads="1"/>
          </p:cNvPicPr>
          <p:nvPr/>
        </p:nvPicPr>
        <p:blipFill rotWithShape="1">
          <a:blip r:embed="rId4">
            <a:extLst>
              <a:ext uri="{28A0092B-C50C-407E-A947-70E740481C1C}">
                <a14:useLocalDpi xmlns:a14="http://schemas.microsoft.com/office/drawing/2010/main" val="0"/>
              </a:ext>
            </a:extLst>
          </a:blip>
          <a:srcRect l="26858" r="20612"/>
          <a:stretch/>
        </p:blipFill>
        <p:spPr bwMode="auto">
          <a:xfrm>
            <a:off x="8229601" y="3887308"/>
            <a:ext cx="1380316" cy="2627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6117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Load sensor </a:t>
            </a:r>
            <a:r>
              <a:rPr lang="en-US" dirty="0"/>
              <a:t>(Mass </a:t>
            </a:r>
            <a:r>
              <a:rPr lang="en-US" dirty="0" err="1"/>
              <a:t>Flowmeters</a:t>
            </a:r>
            <a:r>
              <a:rPr lang="en-US" dirty="0"/>
              <a:t>) </a:t>
            </a:r>
          </a:p>
        </p:txBody>
      </p:sp>
      <p:sp>
        <p:nvSpPr>
          <p:cNvPr id="3" name="Content Placeholder 2"/>
          <p:cNvSpPr>
            <a:spLocks noGrp="1"/>
          </p:cNvSpPr>
          <p:nvPr>
            <p:ph idx="1"/>
          </p:nvPr>
        </p:nvSpPr>
        <p:spPr>
          <a:xfrm>
            <a:off x="225056" y="1639483"/>
            <a:ext cx="10233800" cy="4351338"/>
          </a:xfrm>
        </p:spPr>
        <p:txBody>
          <a:bodyPr/>
          <a:lstStyle/>
          <a:p>
            <a:r>
              <a:rPr lang="en-US" dirty="0"/>
              <a:t>Mass flowmeters operate according to the hot-wire or hot-film principle without any moving mechanical part inside the unit</a:t>
            </a:r>
          </a:p>
          <a:p>
            <a:pPr lvl="1"/>
            <a:r>
              <a:rPr lang="en-US" dirty="0"/>
              <a:t>Can monitor flow variations in the millisecond range.</a:t>
            </a:r>
          </a:p>
          <a:p>
            <a:r>
              <a:rPr lang="en-US" dirty="0"/>
              <a:t>Measures the amount of outside air entering the engine</a:t>
            </a:r>
          </a:p>
          <a:p>
            <a:pPr lvl="1"/>
            <a:r>
              <a:rPr lang="en-US" dirty="0"/>
              <a:t>As air flows across it, it cools down The heated wire or film is a positive temperature coefficient (</a:t>
            </a:r>
            <a:r>
              <a:rPr lang="en-US" dirty="0" err="1"/>
              <a:t>ptc</a:t>
            </a:r>
            <a:r>
              <a:rPr lang="en-US" dirty="0"/>
              <a:t>) resistor.</a:t>
            </a:r>
          </a:p>
          <a:p>
            <a:pPr lvl="1"/>
            <a:r>
              <a:rPr lang="en-US" dirty="0"/>
              <a:t>Adjustments for air temperature and humidity they also affect the temperature of the heated wire or film.</a:t>
            </a:r>
          </a:p>
          <a:p>
            <a:r>
              <a:rPr lang="en-US" dirty="0"/>
              <a:t>Helps computer to determine how much fuel is needed</a:t>
            </a:r>
          </a:p>
        </p:txBody>
      </p:sp>
      <p:pic>
        <p:nvPicPr>
          <p:cNvPr id="6" name="Picture 5"/>
          <p:cNvPicPr>
            <a:picLocks noChangeAspect="1"/>
          </p:cNvPicPr>
          <p:nvPr/>
        </p:nvPicPr>
        <p:blipFill>
          <a:blip r:embed="rId3"/>
          <a:stretch>
            <a:fillRect/>
          </a:stretch>
        </p:blipFill>
        <p:spPr>
          <a:xfrm>
            <a:off x="9178483" y="3815152"/>
            <a:ext cx="3090214" cy="3225600"/>
          </a:xfrm>
          <a:prstGeom prst="rect">
            <a:avLst/>
          </a:prstGeom>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6967" y="1357009"/>
            <a:ext cx="2418723" cy="207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0795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Fuel Injection system </a:t>
            </a:r>
          </a:p>
        </p:txBody>
      </p:sp>
      <p:sp>
        <p:nvSpPr>
          <p:cNvPr id="3" name="Content Placeholder 2"/>
          <p:cNvSpPr>
            <a:spLocks noGrp="1"/>
          </p:cNvSpPr>
          <p:nvPr>
            <p:ph idx="1"/>
          </p:nvPr>
        </p:nvSpPr>
        <p:spPr>
          <a:xfrm>
            <a:off x="459600" y="1690688"/>
            <a:ext cx="10233800" cy="4351338"/>
          </a:xfrm>
        </p:spPr>
        <p:txBody>
          <a:bodyPr>
            <a:normAutofit fontScale="92500" lnSpcReduction="20000"/>
          </a:bodyPr>
          <a:lstStyle/>
          <a:p>
            <a:r>
              <a:rPr lang="en-US" dirty="0"/>
              <a:t>Function :</a:t>
            </a:r>
          </a:p>
          <a:p>
            <a:pPr lvl="1"/>
            <a:r>
              <a:rPr lang="en-US" dirty="0"/>
              <a:t>Provide a proper amount of fuel for a particular state.</a:t>
            </a:r>
          </a:p>
          <a:p>
            <a:r>
              <a:rPr lang="en-US" dirty="0"/>
              <a:t>Main Components:</a:t>
            </a:r>
          </a:p>
          <a:p>
            <a:pPr lvl="1"/>
            <a:r>
              <a:rPr lang="en-US" dirty="0"/>
              <a:t>Fuel tank</a:t>
            </a:r>
          </a:p>
          <a:p>
            <a:pPr lvl="1"/>
            <a:r>
              <a:rPr lang="en-US" dirty="0"/>
              <a:t>Fuel pump</a:t>
            </a:r>
          </a:p>
          <a:p>
            <a:pPr lvl="1"/>
            <a:r>
              <a:rPr lang="en-US" dirty="0"/>
              <a:t>Injectors</a:t>
            </a:r>
          </a:p>
          <a:p>
            <a:pPr lvl="1"/>
            <a:r>
              <a:rPr lang="en-US" dirty="0"/>
              <a:t>Pressure regulator</a:t>
            </a:r>
          </a:p>
          <a:p>
            <a:r>
              <a:rPr lang="en-US" dirty="0"/>
              <a:t>Single Point Injection systems</a:t>
            </a:r>
          </a:p>
          <a:p>
            <a:pPr lvl="1"/>
            <a:r>
              <a:rPr lang="en-US" b="1" dirty="0"/>
              <a:t>Mono-</a:t>
            </a:r>
            <a:r>
              <a:rPr lang="en-US" b="1" dirty="0" err="1"/>
              <a:t>Jetronic</a:t>
            </a:r>
            <a:endParaRPr lang="en-US" dirty="0"/>
          </a:p>
          <a:p>
            <a:r>
              <a:rPr lang="en-US" dirty="0"/>
              <a:t>Multipoint injection systems</a:t>
            </a:r>
          </a:p>
          <a:p>
            <a:pPr lvl="1"/>
            <a:r>
              <a:rPr lang="en-US" b="1" dirty="0"/>
              <a:t>K-</a:t>
            </a:r>
            <a:r>
              <a:rPr lang="en-US" b="1" dirty="0" err="1"/>
              <a:t>Jetronic</a:t>
            </a:r>
            <a:r>
              <a:rPr lang="en-US" b="1" dirty="0"/>
              <a:t> (KE-</a:t>
            </a:r>
            <a:r>
              <a:rPr lang="en-US" b="1" dirty="0" err="1"/>
              <a:t>Jetronic</a:t>
            </a:r>
            <a:r>
              <a:rPr lang="en-US" b="1" dirty="0"/>
              <a:t>) -</a:t>
            </a:r>
            <a:r>
              <a:rPr lang="en-US" dirty="0"/>
              <a:t>mechanical system which does not require an engine-driven injection pump, pressure injectors</a:t>
            </a:r>
          </a:p>
          <a:p>
            <a:pPr lvl="1"/>
            <a:r>
              <a:rPr lang="en-US" b="1" dirty="0"/>
              <a:t>L-</a:t>
            </a:r>
            <a:r>
              <a:rPr lang="en-US" b="1" dirty="0" err="1"/>
              <a:t>Jetronic</a:t>
            </a:r>
            <a:r>
              <a:rPr lang="en-US" b="1" dirty="0"/>
              <a:t> (LH-</a:t>
            </a:r>
            <a:r>
              <a:rPr lang="en-US" b="1" dirty="0" err="1"/>
              <a:t>Jetronic</a:t>
            </a:r>
            <a:r>
              <a:rPr lang="en-US" b="1" dirty="0"/>
              <a:t>) </a:t>
            </a:r>
            <a:r>
              <a:rPr lang="en-US" dirty="0"/>
              <a:t>Main controlled variables: air flow and engine speed,</a:t>
            </a:r>
          </a:p>
          <a:p>
            <a:pPr lvl="1"/>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8117" y="1690688"/>
            <a:ext cx="3806508" cy="3048239"/>
          </a:xfrm>
          <a:prstGeom prst="rect">
            <a:avLst/>
          </a:prstGeom>
        </p:spPr>
      </p:pic>
    </p:spTree>
    <p:extLst>
      <p:ext uri="{BB962C8B-B14F-4D97-AF65-F5344CB8AC3E}">
        <p14:creationId xmlns:p14="http://schemas.microsoft.com/office/powerpoint/2010/main" val="10620125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Mechanical systems</a:t>
            </a:r>
          </a:p>
        </p:txBody>
      </p:sp>
      <p:pic>
        <p:nvPicPr>
          <p:cNvPr id="5" name="Content Placeholder 4" descr="Diagram of a car engine&#10;&#10;Description automatically generated">
            <a:extLst>
              <a:ext uri="{FF2B5EF4-FFF2-40B4-BE49-F238E27FC236}">
                <a16:creationId xmlns:a16="http://schemas.microsoft.com/office/drawing/2014/main" id="{3A34C707-BD63-C404-9203-4D1B38B539A6}"/>
              </a:ext>
            </a:extLst>
          </p:cNvPr>
          <p:cNvPicPr>
            <a:picLocks noGrp="1" noChangeAspect="1"/>
          </p:cNvPicPr>
          <p:nvPr>
            <p:ph idx="1"/>
          </p:nvPr>
        </p:nvPicPr>
        <p:blipFill>
          <a:blip r:embed="rId2"/>
          <a:stretch>
            <a:fillRect/>
          </a:stretch>
        </p:blipFill>
        <p:spPr>
          <a:xfrm>
            <a:off x="998856" y="1481795"/>
            <a:ext cx="6183641" cy="4881021"/>
          </a:xfrm>
        </p:spPr>
      </p:pic>
      <p:pic>
        <p:nvPicPr>
          <p:cNvPr id="6" name="Picture 5" descr="Diagram of a car engine&#10;&#10;Description automatically generated">
            <a:extLst>
              <a:ext uri="{FF2B5EF4-FFF2-40B4-BE49-F238E27FC236}">
                <a16:creationId xmlns:a16="http://schemas.microsoft.com/office/drawing/2014/main" id="{165FC510-F4C5-8B2F-5E4F-F78F40AD70A4}"/>
              </a:ext>
            </a:extLst>
          </p:cNvPr>
          <p:cNvPicPr>
            <a:picLocks noChangeAspect="1"/>
          </p:cNvPicPr>
          <p:nvPr/>
        </p:nvPicPr>
        <p:blipFill>
          <a:blip r:embed="rId3"/>
          <a:stretch>
            <a:fillRect/>
          </a:stretch>
        </p:blipFill>
        <p:spPr>
          <a:xfrm>
            <a:off x="7595839" y="1977524"/>
            <a:ext cx="4118517" cy="2791440"/>
          </a:xfrm>
          <a:prstGeom prst="rect">
            <a:avLst/>
          </a:prstGeom>
        </p:spPr>
      </p:pic>
    </p:spTree>
    <p:extLst>
      <p:ext uri="{BB962C8B-B14F-4D97-AF65-F5344CB8AC3E}">
        <p14:creationId xmlns:p14="http://schemas.microsoft.com/office/powerpoint/2010/main" val="221175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point injection system</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31222" y="1321015"/>
            <a:ext cx="9655139" cy="5360558"/>
          </a:xfrm>
          <a:prstGeom prst="rect">
            <a:avLst/>
          </a:prstGeom>
        </p:spPr>
      </p:pic>
      <p:pic>
        <p:nvPicPr>
          <p:cNvPr id="7" name="Content Placeholder 4">
            <a:extLst>
              <a:ext uri="{FF2B5EF4-FFF2-40B4-BE49-F238E27FC236}">
                <a16:creationId xmlns:a16="http://schemas.microsoft.com/office/drawing/2014/main" id="{BF0D498D-A4BD-2D78-8C3B-400013A8CAFC}"/>
              </a:ext>
            </a:extLst>
          </p:cNvPr>
          <p:cNvPicPr>
            <a:picLocks noChangeAspect="1"/>
          </p:cNvPicPr>
          <p:nvPr/>
        </p:nvPicPr>
        <p:blipFill>
          <a:blip r:embed="rId3"/>
          <a:stretch>
            <a:fillRect/>
          </a:stretch>
        </p:blipFill>
        <p:spPr>
          <a:xfrm>
            <a:off x="1680472" y="3330476"/>
            <a:ext cx="850722" cy="202915"/>
          </a:xfrm>
          <a:prstGeom prst="rect">
            <a:avLst/>
          </a:prstGeom>
        </p:spPr>
      </p:pic>
    </p:spTree>
    <p:extLst>
      <p:ext uri="{BB962C8B-B14F-4D97-AF65-F5344CB8AC3E}">
        <p14:creationId xmlns:p14="http://schemas.microsoft.com/office/powerpoint/2010/main" val="646785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t="4490"/>
          <a:stretch/>
        </p:blipFill>
        <p:spPr>
          <a:xfrm>
            <a:off x="641279" y="1257307"/>
            <a:ext cx="10233800" cy="5479051"/>
          </a:xfrm>
          <a:prstGeom prst="rect">
            <a:avLst/>
          </a:prstGeom>
        </p:spPr>
      </p:pic>
      <p:sp>
        <p:nvSpPr>
          <p:cNvPr id="2" name="Title 1"/>
          <p:cNvSpPr>
            <a:spLocks noGrp="1"/>
          </p:cNvSpPr>
          <p:nvPr>
            <p:ph type="title"/>
          </p:nvPr>
        </p:nvSpPr>
        <p:spPr/>
        <p:txBody>
          <a:bodyPr/>
          <a:lstStyle/>
          <a:p>
            <a:r>
              <a:rPr lang="en-US" dirty="0"/>
              <a:t>Multipoint Injection System</a:t>
            </a:r>
          </a:p>
        </p:txBody>
      </p:sp>
      <p:pic>
        <p:nvPicPr>
          <p:cNvPr id="5" name="Content Placeholder 4">
            <a:extLst>
              <a:ext uri="{FF2B5EF4-FFF2-40B4-BE49-F238E27FC236}">
                <a16:creationId xmlns:a16="http://schemas.microsoft.com/office/drawing/2014/main" id="{1CB55DA3-1D0E-3C04-5045-78668D0220A7}"/>
              </a:ext>
            </a:extLst>
          </p:cNvPr>
          <p:cNvPicPr>
            <a:picLocks noGrp="1" noChangeAspect="1"/>
          </p:cNvPicPr>
          <p:nvPr>
            <p:ph idx="1"/>
          </p:nvPr>
        </p:nvPicPr>
        <p:blipFill>
          <a:blip r:embed="rId4"/>
          <a:stretch>
            <a:fillRect/>
          </a:stretch>
        </p:blipFill>
        <p:spPr>
          <a:xfrm>
            <a:off x="1466427" y="3005128"/>
            <a:ext cx="850722" cy="202915"/>
          </a:xfrm>
          <a:prstGeom prst="rect">
            <a:avLst/>
          </a:prstGeom>
        </p:spPr>
      </p:pic>
    </p:spTree>
    <p:extLst>
      <p:ext uri="{BB962C8B-B14F-4D97-AF65-F5344CB8AC3E}">
        <p14:creationId xmlns:p14="http://schemas.microsoft.com/office/powerpoint/2010/main" val="311442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Injection</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3"/>
          <a:srcRect t="2988"/>
          <a:stretch/>
        </p:blipFill>
        <p:spPr>
          <a:xfrm>
            <a:off x="1120000" y="1392748"/>
            <a:ext cx="9389242" cy="5465251"/>
          </a:xfrm>
          <a:prstGeom prst="rect">
            <a:avLst/>
          </a:prstGeom>
        </p:spPr>
      </p:pic>
    </p:spTree>
    <p:extLst>
      <p:ext uri="{BB962C8B-B14F-4D97-AF65-F5344CB8AC3E}">
        <p14:creationId xmlns:p14="http://schemas.microsoft.com/office/powerpoint/2010/main" val="41464974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Fuel Injector</a:t>
            </a:r>
          </a:p>
        </p:txBody>
      </p:sp>
      <p:sp>
        <p:nvSpPr>
          <p:cNvPr id="3" name="Content Placeholder 2"/>
          <p:cNvSpPr>
            <a:spLocks noGrp="1"/>
          </p:cNvSpPr>
          <p:nvPr>
            <p:ph idx="1"/>
          </p:nvPr>
        </p:nvSpPr>
        <p:spPr>
          <a:xfrm>
            <a:off x="1120000" y="1825625"/>
            <a:ext cx="6225680" cy="4351338"/>
          </a:xfrm>
        </p:spPr>
        <p:txBody>
          <a:bodyPr>
            <a:normAutofit fontScale="92500"/>
          </a:bodyPr>
          <a:lstStyle/>
          <a:p>
            <a:r>
              <a:rPr lang="en-US" dirty="0"/>
              <a:t>Functions:</a:t>
            </a:r>
          </a:p>
          <a:p>
            <a:pPr lvl="1"/>
            <a:r>
              <a:rPr lang="en-US" dirty="0"/>
              <a:t>Regulate fuel quantity </a:t>
            </a:r>
          </a:p>
          <a:p>
            <a:pPr lvl="1"/>
            <a:r>
              <a:rPr lang="en-US" dirty="0"/>
              <a:t>Formation of the spray</a:t>
            </a:r>
          </a:p>
          <a:p>
            <a:r>
              <a:rPr lang="en-US" dirty="0"/>
              <a:t>Fuel injectors serve to meter and atomize the fuel. When the solenoid winding is energized, the nozzle needle is lifted a mere 0.05 mm off its seat.</a:t>
            </a:r>
          </a:p>
          <a:p>
            <a:r>
              <a:rPr lang="en-US" dirty="0"/>
              <a:t>The injected fuel quantity per unit of time is essentially determined by the system pressure and the free cross-section of the spray orifices in the spray-orifice disk</a:t>
            </a:r>
          </a:p>
        </p:txBody>
      </p:sp>
      <p:pic>
        <p:nvPicPr>
          <p:cNvPr id="4" name="Picture 3"/>
          <p:cNvPicPr>
            <a:picLocks noChangeAspect="1"/>
          </p:cNvPicPr>
          <p:nvPr/>
        </p:nvPicPr>
        <p:blipFill>
          <a:blip r:embed="rId2"/>
          <a:stretch>
            <a:fillRect/>
          </a:stretch>
        </p:blipFill>
        <p:spPr>
          <a:xfrm>
            <a:off x="7840380" y="2940588"/>
            <a:ext cx="3833460" cy="2121412"/>
          </a:xfrm>
          <a:prstGeom prst="rect">
            <a:avLst/>
          </a:prstGeom>
        </p:spPr>
      </p:pic>
      <p:sp>
        <p:nvSpPr>
          <p:cNvPr id="5" name="Rectangle 4"/>
          <p:cNvSpPr/>
          <p:nvPr/>
        </p:nvSpPr>
        <p:spPr>
          <a:xfrm>
            <a:off x="7840380" y="5187718"/>
            <a:ext cx="4182410" cy="1200329"/>
          </a:xfrm>
          <a:prstGeom prst="rect">
            <a:avLst/>
          </a:prstGeom>
        </p:spPr>
        <p:txBody>
          <a:bodyPr wrap="square">
            <a:spAutoFit/>
          </a:bodyPr>
          <a:lstStyle/>
          <a:p>
            <a:r>
              <a:rPr lang="en-US" b="1" dirty="0">
                <a:solidFill>
                  <a:srgbClr val="FF0000"/>
                </a:solidFill>
                <a:latin typeface="TimesNewRomanPSMT"/>
              </a:rPr>
              <a:t>Injector</a:t>
            </a:r>
          </a:p>
          <a:p>
            <a:r>
              <a:rPr lang="en-US" b="1" dirty="0">
                <a:solidFill>
                  <a:srgbClr val="FF0000"/>
                </a:solidFill>
                <a:latin typeface="TimesNewRomanPSMT"/>
              </a:rPr>
              <a:t>1 </a:t>
            </a:r>
            <a:r>
              <a:rPr lang="en-US" b="1" dirty="0" err="1">
                <a:solidFill>
                  <a:srgbClr val="FF0000"/>
                </a:solidFill>
                <a:latin typeface="TimesNewRomanPSMT"/>
              </a:rPr>
              <a:t>Pintle</a:t>
            </a:r>
            <a:r>
              <a:rPr lang="en-US" b="1" dirty="0">
                <a:solidFill>
                  <a:srgbClr val="FF0000"/>
                </a:solidFill>
                <a:latin typeface="TimesNewRomanPSMT"/>
              </a:rPr>
              <a:t>, 2 Needle, 3 Armature, 4 Spring, 5 Solenoid winding, 6 Electrical terminals, 7 Fuel strainer.</a:t>
            </a:r>
            <a:endParaRPr lang="en-US" b="1" dirty="0">
              <a:solidFill>
                <a:srgbClr val="FF0000"/>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8660" y="479878"/>
            <a:ext cx="3113323" cy="2334992"/>
          </a:xfrm>
          <a:prstGeom prst="rect">
            <a:avLst/>
          </a:prstGeom>
        </p:spPr>
      </p:pic>
    </p:spTree>
    <p:extLst>
      <p:ext uri="{BB962C8B-B14F-4D97-AF65-F5344CB8AC3E}">
        <p14:creationId xmlns:p14="http://schemas.microsoft.com/office/powerpoint/2010/main" val="1718192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Fuel Injection system Basic principals </a:t>
            </a:r>
          </a:p>
        </p:txBody>
      </p:sp>
      <p:sp>
        <p:nvSpPr>
          <p:cNvPr id="3" name="Content Placeholder 2"/>
          <p:cNvSpPr>
            <a:spLocks noGrp="1"/>
          </p:cNvSpPr>
          <p:nvPr>
            <p:ph idx="1"/>
          </p:nvPr>
        </p:nvSpPr>
        <p:spPr>
          <a:xfrm>
            <a:off x="309929" y="1903112"/>
            <a:ext cx="7993962" cy="4351338"/>
          </a:xfrm>
        </p:spPr>
        <p:txBody>
          <a:bodyPr>
            <a:normAutofit fontScale="92500" lnSpcReduction="20000"/>
          </a:bodyPr>
          <a:lstStyle/>
          <a:p>
            <a:r>
              <a:rPr lang="en-US" dirty="0"/>
              <a:t>The engine control unit uses a formula and a large number of lookup tables to determine the pulse width for given operating conditions. The equation will be a series of many factors multiplied by each other.</a:t>
            </a:r>
          </a:p>
          <a:p>
            <a:r>
              <a:rPr lang="en-US" b="1" dirty="0"/>
              <a:t>Pulse width = (Base pulse width) x (Factor A) x (Factor B)</a:t>
            </a:r>
          </a:p>
          <a:p>
            <a:r>
              <a:rPr lang="en-US" dirty="0"/>
              <a:t>May have more than 100 parameters, each with its own lookup table.	</a:t>
            </a:r>
          </a:p>
          <a:p>
            <a:r>
              <a:rPr lang="en-US" dirty="0"/>
              <a:t> Some of the parameters even change over time in order to compensate for changes in the performance of engine components.</a:t>
            </a:r>
          </a:p>
          <a:p>
            <a:r>
              <a:rPr lang="en-US"/>
              <a:t>https://www.youtube.com/watch?v=4FfcjERUtUw</a:t>
            </a:r>
            <a:endParaRPr lang="en-US" dirty="0"/>
          </a:p>
        </p:txBody>
      </p:sp>
      <p:pic>
        <p:nvPicPr>
          <p:cNvPr id="4" name="Picture 3" descr="A chart of a engine load&#10;&#10;AI-generated content may be incorrect.">
            <a:extLst>
              <a:ext uri="{FF2B5EF4-FFF2-40B4-BE49-F238E27FC236}">
                <a16:creationId xmlns:a16="http://schemas.microsoft.com/office/drawing/2014/main" id="{2E7A7914-67ED-E3FF-3552-DE97C0EE17EE}"/>
              </a:ext>
            </a:extLst>
          </p:cNvPr>
          <p:cNvPicPr>
            <a:picLocks noChangeAspect="1"/>
          </p:cNvPicPr>
          <p:nvPr/>
        </p:nvPicPr>
        <p:blipFill>
          <a:blip r:embed="rId2"/>
          <a:stretch>
            <a:fillRect/>
          </a:stretch>
        </p:blipFill>
        <p:spPr>
          <a:xfrm>
            <a:off x="8186003" y="2451031"/>
            <a:ext cx="3779994" cy="1635798"/>
          </a:xfrm>
          <a:prstGeom prst="rect">
            <a:avLst/>
          </a:prstGeom>
        </p:spPr>
      </p:pic>
    </p:spTree>
    <p:extLst>
      <p:ext uri="{BB962C8B-B14F-4D97-AF65-F5344CB8AC3E}">
        <p14:creationId xmlns:p14="http://schemas.microsoft.com/office/powerpoint/2010/main" val="3921650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5D4B5-6438-40D5-BDF1-FFD84A8B234D}"/>
              </a:ext>
            </a:extLst>
          </p:cNvPr>
          <p:cNvSpPr>
            <a:spLocks noGrp="1"/>
          </p:cNvSpPr>
          <p:nvPr>
            <p:ph type="title"/>
          </p:nvPr>
        </p:nvSpPr>
        <p:spPr/>
        <p:txBody>
          <a:bodyPr>
            <a:normAutofit/>
          </a:bodyPr>
          <a:lstStyle/>
          <a:p>
            <a:r>
              <a:rPr lang="en-US" dirty="0"/>
              <a:t>Activation of fuel</a:t>
            </a:r>
            <a:endParaRPr lang="en-GB" dirty="0"/>
          </a:p>
        </p:txBody>
      </p:sp>
      <p:sp>
        <p:nvSpPr>
          <p:cNvPr id="3" name="Content Placeholder 2">
            <a:extLst>
              <a:ext uri="{FF2B5EF4-FFF2-40B4-BE49-F238E27FC236}">
                <a16:creationId xmlns:a16="http://schemas.microsoft.com/office/drawing/2014/main" id="{E9CB5A08-5673-4ED9-BFAA-3DADA11E4CE2}"/>
              </a:ext>
            </a:extLst>
          </p:cNvPr>
          <p:cNvSpPr>
            <a:spLocks noGrp="1"/>
          </p:cNvSpPr>
          <p:nvPr>
            <p:ph idx="1"/>
          </p:nvPr>
        </p:nvSpPr>
        <p:spPr>
          <a:xfrm>
            <a:off x="1120000" y="1825625"/>
            <a:ext cx="6812420" cy="4351338"/>
          </a:xfrm>
        </p:spPr>
        <p:txBody>
          <a:bodyPr/>
          <a:lstStyle/>
          <a:p>
            <a:r>
              <a:rPr lang="en-US" dirty="0"/>
              <a:t>Activates with the switch signal</a:t>
            </a:r>
          </a:p>
          <a:p>
            <a:r>
              <a:rPr lang="en-US" dirty="0" err="1"/>
              <a:t>Rissen</a:t>
            </a:r>
            <a:r>
              <a:rPr lang="en-US" dirty="0"/>
              <a:t> current cause the needle to lift</a:t>
            </a:r>
          </a:p>
          <a:p>
            <a:r>
              <a:rPr lang="en-US" dirty="0"/>
              <a:t>Maximum displacement achieved when pickup time is reached</a:t>
            </a:r>
          </a:p>
          <a:p>
            <a:pPr lvl="1"/>
            <a:r>
              <a:rPr lang="en-US" dirty="0"/>
              <a:t>Needle stops at the </a:t>
            </a:r>
            <a:r>
              <a:rPr lang="en-US" dirty="0" err="1"/>
              <a:t>solinoid</a:t>
            </a:r>
            <a:r>
              <a:rPr lang="en-US" dirty="0"/>
              <a:t> armature stop</a:t>
            </a:r>
          </a:p>
          <a:p>
            <a:r>
              <a:rPr lang="en-GB" dirty="0"/>
              <a:t>Current continues to rice (magnetic field not yet t saturation)</a:t>
            </a:r>
          </a:p>
          <a:p>
            <a:r>
              <a:rPr lang="en-GB" dirty="0"/>
              <a:t>Magnetic field is not decreased abruptly </a:t>
            </a:r>
          </a:p>
        </p:txBody>
      </p:sp>
      <p:pic>
        <p:nvPicPr>
          <p:cNvPr id="6" name="Picture 5">
            <a:extLst>
              <a:ext uri="{FF2B5EF4-FFF2-40B4-BE49-F238E27FC236}">
                <a16:creationId xmlns:a16="http://schemas.microsoft.com/office/drawing/2014/main" id="{7D2B86EF-87D6-4D92-B4CC-8406D6C7A1E4}"/>
              </a:ext>
            </a:extLst>
          </p:cNvPr>
          <p:cNvPicPr>
            <a:picLocks noChangeAspect="1"/>
          </p:cNvPicPr>
          <p:nvPr/>
        </p:nvPicPr>
        <p:blipFill>
          <a:blip r:embed="rId2"/>
          <a:stretch>
            <a:fillRect/>
          </a:stretch>
        </p:blipFill>
        <p:spPr>
          <a:xfrm>
            <a:off x="8031480" y="210457"/>
            <a:ext cx="3619500" cy="6282418"/>
          </a:xfrm>
          <a:prstGeom prst="rect">
            <a:avLst/>
          </a:prstGeom>
        </p:spPr>
      </p:pic>
    </p:spTree>
    <p:extLst>
      <p:ext uri="{BB962C8B-B14F-4D97-AF65-F5344CB8AC3E}">
        <p14:creationId xmlns:p14="http://schemas.microsoft.com/office/powerpoint/2010/main" val="36437119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8B9DD-9BCD-4AAA-9A21-39494656A4A5}"/>
              </a:ext>
            </a:extLst>
          </p:cNvPr>
          <p:cNvSpPr>
            <a:spLocks noGrp="1"/>
          </p:cNvSpPr>
          <p:nvPr>
            <p:ph type="title"/>
          </p:nvPr>
        </p:nvSpPr>
        <p:spPr/>
        <p:txBody>
          <a:bodyPr/>
          <a:lstStyle/>
          <a:p>
            <a:r>
              <a:rPr lang="en-US" dirty="0"/>
              <a:t>Injection spray geometry</a:t>
            </a:r>
            <a:endParaRPr lang="en-GB" dirty="0"/>
          </a:p>
        </p:txBody>
      </p:sp>
      <p:sp>
        <p:nvSpPr>
          <p:cNvPr id="3" name="Content Placeholder 2">
            <a:extLst>
              <a:ext uri="{FF2B5EF4-FFF2-40B4-BE49-F238E27FC236}">
                <a16:creationId xmlns:a16="http://schemas.microsoft.com/office/drawing/2014/main" id="{30FA4340-9D83-464E-9005-F52B8CCEBA3B}"/>
              </a:ext>
            </a:extLst>
          </p:cNvPr>
          <p:cNvSpPr>
            <a:spLocks noGrp="1"/>
          </p:cNvSpPr>
          <p:nvPr>
            <p:ph idx="1"/>
          </p:nvPr>
        </p:nvSpPr>
        <p:spPr/>
        <p:txBody>
          <a:bodyPr/>
          <a:lstStyle/>
          <a:p>
            <a:r>
              <a:rPr lang="en-US" dirty="0" err="1"/>
              <a:t>Teraped</a:t>
            </a:r>
            <a:r>
              <a:rPr lang="en-US" dirty="0"/>
              <a:t> sprays (for engine with only one intake valve)</a:t>
            </a:r>
          </a:p>
          <a:p>
            <a:r>
              <a:rPr lang="en-US" dirty="0"/>
              <a:t>Dual spray (two intake valves per cylinder)</a:t>
            </a:r>
          </a:p>
          <a:p>
            <a:r>
              <a:rPr lang="en-US" dirty="0"/>
              <a:t>Gamma angle (difficult installation conditions, requires spray target)</a:t>
            </a:r>
            <a:endParaRPr lang="en-GB" dirty="0"/>
          </a:p>
        </p:txBody>
      </p:sp>
      <p:pic>
        <p:nvPicPr>
          <p:cNvPr id="4" name="Picture 3">
            <a:extLst>
              <a:ext uri="{FF2B5EF4-FFF2-40B4-BE49-F238E27FC236}">
                <a16:creationId xmlns:a16="http://schemas.microsoft.com/office/drawing/2014/main" id="{0318072F-431E-4A18-8F00-2CD95E40F4BC}"/>
              </a:ext>
            </a:extLst>
          </p:cNvPr>
          <p:cNvPicPr>
            <a:picLocks noChangeAspect="1"/>
          </p:cNvPicPr>
          <p:nvPr/>
        </p:nvPicPr>
        <p:blipFill>
          <a:blip r:embed="rId2"/>
          <a:stretch>
            <a:fillRect/>
          </a:stretch>
        </p:blipFill>
        <p:spPr>
          <a:xfrm>
            <a:off x="3455600" y="3429000"/>
            <a:ext cx="5562600" cy="3286125"/>
          </a:xfrm>
          <a:prstGeom prst="rect">
            <a:avLst/>
          </a:prstGeom>
        </p:spPr>
      </p:pic>
    </p:spTree>
    <p:extLst>
      <p:ext uri="{BB962C8B-B14F-4D97-AF65-F5344CB8AC3E}">
        <p14:creationId xmlns:p14="http://schemas.microsoft.com/office/powerpoint/2010/main" val="40928852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Ignition Timing</a:t>
            </a:r>
          </a:p>
        </p:txBody>
      </p:sp>
      <p:sp>
        <p:nvSpPr>
          <p:cNvPr id="3" name="Content Placeholder 2"/>
          <p:cNvSpPr>
            <a:spLocks noGrp="1"/>
          </p:cNvSpPr>
          <p:nvPr>
            <p:ph idx="1"/>
          </p:nvPr>
        </p:nvSpPr>
        <p:spPr>
          <a:xfrm>
            <a:off x="838200" y="1690688"/>
            <a:ext cx="10515600" cy="4486275"/>
          </a:xfrm>
        </p:spPr>
        <p:txBody>
          <a:bodyPr>
            <a:normAutofit fontScale="85000" lnSpcReduction="20000"/>
          </a:bodyPr>
          <a:lstStyle/>
          <a:p>
            <a:r>
              <a:rPr lang="en-US" dirty="0"/>
              <a:t>Ignition timing – is a measurement in degrees of crankshaft rotation ,of the point at which the spark is fired in each</a:t>
            </a:r>
          </a:p>
          <a:p>
            <a:r>
              <a:rPr lang="en-US" dirty="0"/>
              <a:t>Advanced Ignition – ignition before the cylinder reaches Top Dead Center (TDC)</a:t>
            </a:r>
          </a:p>
          <a:p>
            <a:r>
              <a:rPr lang="en-US" dirty="0"/>
              <a:t>Normal operation -5 deg. BTDC, with increased Engine speed we increase an AI timing</a:t>
            </a:r>
          </a:p>
          <a:p>
            <a:r>
              <a:rPr lang="en-US" dirty="0"/>
              <a:t>Why to bother:</a:t>
            </a:r>
          </a:p>
          <a:p>
            <a:pPr lvl="1"/>
            <a:r>
              <a:rPr lang="en-US" dirty="0"/>
              <a:t>fuel does not completely burn the instant the spark fires</a:t>
            </a:r>
          </a:p>
          <a:p>
            <a:pPr lvl="1"/>
            <a:r>
              <a:rPr lang="en-US" dirty="0"/>
              <a:t>the combustion gasses take a period of time to expand</a:t>
            </a:r>
          </a:p>
          <a:p>
            <a:pPr lvl="1"/>
            <a:r>
              <a:rPr lang="en-US" dirty="0"/>
              <a:t>time frame for burning and expansion depends on engine speed</a:t>
            </a:r>
          </a:p>
          <a:p>
            <a:r>
              <a:rPr lang="en-US" dirty="0"/>
              <a:t>Ignition timing affects :</a:t>
            </a:r>
          </a:p>
          <a:p>
            <a:pPr lvl="1"/>
            <a:r>
              <a:rPr lang="en-US" dirty="0"/>
              <a:t>Engine lifetime</a:t>
            </a:r>
          </a:p>
          <a:p>
            <a:pPr lvl="1"/>
            <a:r>
              <a:rPr lang="en-US" dirty="0"/>
              <a:t>Fuel economy</a:t>
            </a:r>
          </a:p>
          <a:p>
            <a:pPr lvl="1"/>
            <a:r>
              <a:rPr lang="en-US" dirty="0"/>
              <a:t>Engine power</a:t>
            </a:r>
          </a:p>
          <a:p>
            <a:pPr marL="457200" lvl="1" indent="0">
              <a:buNone/>
            </a:pPr>
            <a:endParaRPr lang="en-US" dirty="0"/>
          </a:p>
          <a:p>
            <a:endParaRPr lang="en-US" dirty="0"/>
          </a:p>
        </p:txBody>
      </p:sp>
      <p:pic>
        <p:nvPicPr>
          <p:cNvPr id="4" name="Picture 3"/>
          <p:cNvPicPr>
            <a:picLocks noChangeAspect="1"/>
          </p:cNvPicPr>
          <p:nvPr/>
        </p:nvPicPr>
        <p:blipFill>
          <a:blip r:embed="rId3"/>
          <a:stretch>
            <a:fillRect/>
          </a:stretch>
        </p:blipFill>
        <p:spPr>
          <a:xfrm>
            <a:off x="8857200" y="3169723"/>
            <a:ext cx="2746873" cy="3467414"/>
          </a:xfrm>
          <a:prstGeom prst="rect">
            <a:avLst/>
          </a:prstGeom>
        </p:spPr>
      </p:pic>
      <p:sp>
        <p:nvSpPr>
          <p:cNvPr id="5" name="Rectangle 4"/>
          <p:cNvSpPr/>
          <p:nvPr/>
        </p:nvSpPr>
        <p:spPr>
          <a:xfrm>
            <a:off x="4617155" y="5898473"/>
            <a:ext cx="4199468" cy="738664"/>
          </a:xfrm>
          <a:prstGeom prst="rect">
            <a:avLst/>
          </a:prstGeom>
        </p:spPr>
        <p:txBody>
          <a:bodyPr wrap="square">
            <a:spAutoFit/>
          </a:bodyPr>
          <a:lstStyle/>
          <a:p>
            <a:r>
              <a:rPr lang="en-US" sz="1400" b="1" dirty="0">
                <a:solidFill>
                  <a:srgbClr val="FF0000"/>
                </a:solidFill>
                <a:latin typeface="TimesNewRomanPSMT"/>
              </a:rPr>
              <a:t>Example of cumulative ignition timing consisting of centrifugal and vacuum advance</a:t>
            </a:r>
          </a:p>
          <a:p>
            <a:r>
              <a:rPr lang="en-US" sz="1400" b="1" dirty="0">
                <a:solidFill>
                  <a:srgbClr val="FF0000"/>
                </a:solidFill>
                <a:latin typeface="TimesNewRomanPSMT"/>
              </a:rPr>
              <a:t>1 Part-load operation, 2 Full load</a:t>
            </a:r>
            <a:endParaRPr lang="en-US" sz="1400" b="1" dirty="0">
              <a:solidFill>
                <a:srgbClr val="FF0000"/>
              </a:solidFill>
            </a:endParaRPr>
          </a:p>
        </p:txBody>
      </p:sp>
      <p:pic>
        <p:nvPicPr>
          <p:cNvPr id="6" name="Picture 5"/>
          <p:cNvPicPr>
            <a:picLocks noChangeAspect="1"/>
          </p:cNvPicPr>
          <p:nvPr/>
        </p:nvPicPr>
        <p:blipFill>
          <a:blip r:embed="rId4"/>
          <a:stretch>
            <a:fillRect/>
          </a:stretch>
        </p:blipFill>
        <p:spPr>
          <a:xfrm>
            <a:off x="5563965" y="4495206"/>
            <a:ext cx="1630125" cy="1403267"/>
          </a:xfrm>
          <a:prstGeom prst="rect">
            <a:avLst/>
          </a:prstGeom>
        </p:spPr>
      </p:pic>
    </p:spTree>
    <p:extLst>
      <p:ext uri="{BB962C8B-B14F-4D97-AF65-F5344CB8AC3E}">
        <p14:creationId xmlns:p14="http://schemas.microsoft.com/office/powerpoint/2010/main" val="7401285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Sparking plug</a:t>
            </a:r>
          </a:p>
        </p:txBody>
      </p:sp>
      <p:sp>
        <p:nvSpPr>
          <p:cNvPr id="3" name="Content Placeholder 2"/>
          <p:cNvSpPr>
            <a:spLocks noGrp="1"/>
          </p:cNvSpPr>
          <p:nvPr>
            <p:ph idx="1"/>
          </p:nvPr>
        </p:nvSpPr>
        <p:spPr>
          <a:xfrm>
            <a:off x="442877" y="1390599"/>
            <a:ext cx="6455763" cy="4740908"/>
          </a:xfrm>
        </p:spPr>
        <p:txBody>
          <a:bodyPr>
            <a:normAutofit fontScale="77500" lnSpcReduction="20000"/>
          </a:bodyPr>
          <a:lstStyle/>
          <a:p>
            <a:r>
              <a:rPr lang="en-US" dirty="0"/>
              <a:t>Function:</a:t>
            </a:r>
          </a:p>
          <a:p>
            <a:pPr lvl="1"/>
            <a:r>
              <a:rPr lang="en-US" dirty="0"/>
              <a:t>The spark plug introduces the ignition energy generated by the ignition coil into the combustion chamber</a:t>
            </a:r>
          </a:p>
          <a:p>
            <a:r>
              <a:rPr lang="en-US" dirty="0"/>
              <a:t>Operation:</a:t>
            </a:r>
          </a:p>
          <a:p>
            <a:pPr lvl="1"/>
            <a:r>
              <a:rPr lang="en-US" dirty="0"/>
              <a:t>The high voltage creates an electric spark between the spark-plug electrodes</a:t>
            </a:r>
          </a:p>
          <a:p>
            <a:r>
              <a:rPr lang="en-US" dirty="0"/>
              <a:t>Requirement:</a:t>
            </a:r>
          </a:p>
          <a:p>
            <a:pPr lvl="1"/>
            <a:r>
              <a:rPr lang="en-US" dirty="0"/>
              <a:t>Function must also be guaranteed under extreme conditions (cold starting, full load) </a:t>
            </a:r>
          </a:p>
          <a:p>
            <a:pPr lvl="1"/>
            <a:r>
              <a:rPr lang="en-US" dirty="0"/>
              <a:t>ignition voltages of up to 30,000 V </a:t>
            </a:r>
          </a:p>
          <a:p>
            <a:pPr lvl="1"/>
            <a:r>
              <a:rPr lang="en-US" dirty="0"/>
              <a:t>temperatures in the region of 1000 °C.</a:t>
            </a:r>
          </a:p>
          <a:p>
            <a:r>
              <a:rPr lang="en-US" dirty="0"/>
              <a:t>Electrode gap</a:t>
            </a:r>
          </a:p>
          <a:p>
            <a:pPr lvl="1"/>
            <a:r>
              <a:rPr lang="en-US" dirty="0"/>
              <a:t>Should be as large as possible so that the ignition spark activates a large volume element</a:t>
            </a:r>
          </a:p>
          <a:p>
            <a:pPr lvl="1"/>
            <a:r>
              <a:rPr lang="en-US" dirty="0"/>
              <a:t>Should be </a:t>
            </a:r>
            <a:r>
              <a:rPr lang="en-US" dirty="0" err="1"/>
              <a:t>be</a:t>
            </a:r>
            <a:r>
              <a:rPr lang="en-US" dirty="0"/>
              <a:t> narrow enough to guarantee that the ignition voltage will continue to produce a reliable spark</a:t>
            </a:r>
          </a:p>
        </p:txBody>
      </p:sp>
      <p:pic>
        <p:nvPicPr>
          <p:cNvPr id="4" name="Picture 3"/>
          <p:cNvPicPr>
            <a:picLocks noChangeAspect="1"/>
          </p:cNvPicPr>
          <p:nvPr/>
        </p:nvPicPr>
        <p:blipFill>
          <a:blip r:embed="rId2"/>
          <a:stretch>
            <a:fillRect/>
          </a:stretch>
        </p:blipFill>
        <p:spPr>
          <a:xfrm>
            <a:off x="7727140" y="1301119"/>
            <a:ext cx="1691180" cy="4830388"/>
          </a:xfrm>
          <a:prstGeom prst="rect">
            <a:avLst/>
          </a:prstGeom>
        </p:spPr>
      </p:pic>
      <p:sp>
        <p:nvSpPr>
          <p:cNvPr id="5" name="Rectangle 4"/>
          <p:cNvSpPr/>
          <p:nvPr/>
        </p:nvSpPr>
        <p:spPr>
          <a:xfrm>
            <a:off x="9502423" y="1645267"/>
            <a:ext cx="3014133" cy="3416320"/>
          </a:xfrm>
          <a:prstGeom prst="rect">
            <a:avLst/>
          </a:prstGeom>
        </p:spPr>
        <p:txBody>
          <a:bodyPr wrap="square">
            <a:spAutoFit/>
          </a:bodyPr>
          <a:lstStyle/>
          <a:p>
            <a:r>
              <a:rPr lang="en-US" b="1" dirty="0">
                <a:solidFill>
                  <a:srgbClr val="FF0000"/>
                </a:solidFill>
                <a:latin typeface="TimesNewRomanPSMT"/>
              </a:rPr>
              <a:t>Spark plug</a:t>
            </a:r>
          </a:p>
          <a:p>
            <a:r>
              <a:rPr lang="en-US" b="1" dirty="0">
                <a:solidFill>
                  <a:srgbClr val="FF0000"/>
                </a:solidFill>
                <a:latin typeface="TimesNewRomanPSMT"/>
              </a:rPr>
              <a:t>1 High-voltage connector (terminal nut),</a:t>
            </a:r>
          </a:p>
          <a:p>
            <a:r>
              <a:rPr lang="en-US" b="1" dirty="0">
                <a:solidFill>
                  <a:srgbClr val="FF0000"/>
                </a:solidFill>
                <a:latin typeface="TimesNewRomanPSMT"/>
              </a:rPr>
              <a:t>2 Al2O3 Ceramic insulator,</a:t>
            </a:r>
          </a:p>
          <a:p>
            <a:r>
              <a:rPr lang="en-US" b="1" dirty="0">
                <a:solidFill>
                  <a:srgbClr val="FF0000"/>
                </a:solidFill>
                <a:latin typeface="TimesNewRomanPSMT"/>
              </a:rPr>
              <a:t>3 Shell,</a:t>
            </a:r>
          </a:p>
          <a:p>
            <a:r>
              <a:rPr lang="en-US" b="1" dirty="0">
                <a:solidFill>
                  <a:srgbClr val="FF0000"/>
                </a:solidFill>
                <a:latin typeface="TimesNewRomanPSMT"/>
              </a:rPr>
              <a:t>4 Heat-shrinkage zone,</a:t>
            </a:r>
          </a:p>
          <a:p>
            <a:r>
              <a:rPr lang="en-US" b="1" dirty="0">
                <a:solidFill>
                  <a:srgbClr val="FF0000"/>
                </a:solidFill>
                <a:latin typeface="TimesNewRomanPSMT"/>
              </a:rPr>
              <a:t>5 Conductive glass,</a:t>
            </a:r>
          </a:p>
          <a:p>
            <a:r>
              <a:rPr lang="en-US" b="1" dirty="0">
                <a:solidFill>
                  <a:srgbClr val="FF0000"/>
                </a:solidFill>
                <a:latin typeface="TimesNewRomanPSMT"/>
              </a:rPr>
              <a:t>6 Captive gasket,</a:t>
            </a:r>
          </a:p>
          <a:p>
            <a:r>
              <a:rPr lang="en-US" b="1" dirty="0">
                <a:solidFill>
                  <a:srgbClr val="FF0000"/>
                </a:solidFill>
                <a:latin typeface="TimesNewRomanPSMT"/>
              </a:rPr>
              <a:t>7 Composite center electrode Ni/Cu,</a:t>
            </a:r>
          </a:p>
          <a:p>
            <a:r>
              <a:rPr lang="en-US" b="1" dirty="0">
                <a:solidFill>
                  <a:srgbClr val="FF0000"/>
                </a:solidFill>
                <a:latin typeface="TimesNewRomanPSMT"/>
              </a:rPr>
              <a:t>8 Ground electrode.</a:t>
            </a:r>
            <a:endParaRPr lang="en-US" b="1" dirty="0">
              <a:solidFill>
                <a:srgbClr val="FF0000"/>
              </a:solidFill>
            </a:endParaRPr>
          </a:p>
        </p:txBody>
      </p:sp>
      <p:pic>
        <p:nvPicPr>
          <p:cNvPr id="7" name="Picture 6"/>
          <p:cNvPicPr>
            <a:picLocks noChangeAspect="1"/>
          </p:cNvPicPr>
          <p:nvPr/>
        </p:nvPicPr>
        <p:blipFill>
          <a:blip r:embed="rId3"/>
          <a:stretch>
            <a:fillRect/>
          </a:stretch>
        </p:blipFill>
        <p:spPr>
          <a:xfrm>
            <a:off x="9788737" y="5369507"/>
            <a:ext cx="1565063" cy="1241443"/>
          </a:xfrm>
          <a:prstGeom prst="rect">
            <a:avLst/>
          </a:prstGeom>
        </p:spPr>
      </p:pic>
    </p:spTree>
    <p:extLst>
      <p:ext uri="{BB962C8B-B14F-4D97-AF65-F5344CB8AC3E}">
        <p14:creationId xmlns:p14="http://schemas.microsoft.com/office/powerpoint/2010/main" val="1540076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Prototypes Corona Sparking Plug</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120000" y="1690688"/>
            <a:ext cx="8844605" cy="5177162"/>
          </a:xfrm>
          <a:prstGeom prst="rect">
            <a:avLst/>
          </a:prstGeom>
        </p:spPr>
      </p:pic>
    </p:spTree>
    <p:extLst>
      <p:ext uri="{BB962C8B-B14F-4D97-AF65-F5344CB8AC3E}">
        <p14:creationId xmlns:p14="http://schemas.microsoft.com/office/powerpoint/2010/main" val="31801268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7E178-7F61-4C85-B77B-3828DB852AD4}"/>
              </a:ext>
            </a:extLst>
          </p:cNvPr>
          <p:cNvSpPr>
            <a:spLocks noGrp="1"/>
          </p:cNvSpPr>
          <p:nvPr>
            <p:ph type="title"/>
          </p:nvPr>
        </p:nvSpPr>
        <p:spPr/>
        <p:txBody>
          <a:bodyPr/>
          <a:lstStyle/>
          <a:p>
            <a:r>
              <a:rPr lang="en-US" dirty="0"/>
              <a:t>Ignition system </a:t>
            </a:r>
            <a:endParaRPr lang="en-GB" dirty="0"/>
          </a:p>
        </p:txBody>
      </p:sp>
      <p:sp>
        <p:nvSpPr>
          <p:cNvPr id="3" name="Content Placeholder 2">
            <a:extLst>
              <a:ext uri="{FF2B5EF4-FFF2-40B4-BE49-F238E27FC236}">
                <a16:creationId xmlns:a16="http://schemas.microsoft.com/office/drawing/2014/main" id="{A766F499-07C3-4311-9D73-564DA109B111}"/>
              </a:ext>
            </a:extLst>
          </p:cNvPr>
          <p:cNvSpPr>
            <a:spLocks noGrp="1"/>
          </p:cNvSpPr>
          <p:nvPr>
            <p:ph idx="1"/>
          </p:nvPr>
        </p:nvSpPr>
        <p:spPr>
          <a:xfrm>
            <a:off x="1119999" y="1825625"/>
            <a:ext cx="7750631" cy="4351338"/>
          </a:xfrm>
        </p:spPr>
        <p:txBody>
          <a:bodyPr>
            <a:normAutofit fontScale="92500" lnSpcReduction="20000"/>
          </a:bodyPr>
          <a:lstStyle/>
          <a:p>
            <a:r>
              <a:rPr lang="en-US" dirty="0"/>
              <a:t>Deliver Max engine torque - Maximum combustion and maximum combustion pressure occurs shortly after TDP</a:t>
            </a:r>
          </a:p>
          <a:p>
            <a:pPr lvl="1"/>
            <a:r>
              <a:rPr lang="en-US" dirty="0"/>
              <a:t>Delay between moment of ignition to complete combustion (must occur before)</a:t>
            </a:r>
          </a:p>
          <a:p>
            <a:pPr lvl="1"/>
            <a:r>
              <a:rPr lang="en-US" dirty="0"/>
              <a:t>Must be advanced </a:t>
            </a:r>
          </a:p>
          <a:p>
            <a:pPr lvl="2"/>
            <a:r>
              <a:rPr lang="en-US" dirty="0"/>
              <a:t> With the speed of engine increase and charge  decreased </a:t>
            </a:r>
          </a:p>
          <a:p>
            <a:pPr lvl="2"/>
            <a:r>
              <a:rPr lang="en-US" dirty="0"/>
              <a:t>Lean A/F mixture (flame propagates slowly)</a:t>
            </a:r>
          </a:p>
          <a:p>
            <a:r>
              <a:rPr lang="en-US" dirty="0"/>
              <a:t>AIT determined on the engine test bench and stored in program maps	</a:t>
            </a:r>
          </a:p>
          <a:p>
            <a:r>
              <a:rPr lang="en-US" dirty="0"/>
              <a:t>Other effects can influence ignition timing</a:t>
            </a:r>
          </a:p>
          <a:p>
            <a:pPr lvl="1"/>
            <a:r>
              <a:rPr lang="en-US" dirty="0"/>
              <a:t>Knock sensors</a:t>
            </a:r>
          </a:p>
          <a:p>
            <a:pPr marL="457200" lvl="1" indent="0">
              <a:buNone/>
            </a:pPr>
            <a:r>
              <a:rPr lang="en-US" dirty="0"/>
              <a:t>https://www.youtube.com/watch?v=oVIrebbfdlA</a:t>
            </a:r>
          </a:p>
          <a:p>
            <a:pPr lvl="2"/>
            <a:endParaRPr lang="en-US" dirty="0"/>
          </a:p>
          <a:p>
            <a:pPr lvl="1"/>
            <a:endParaRPr lang="en-GB" dirty="0"/>
          </a:p>
        </p:txBody>
      </p:sp>
      <p:pic>
        <p:nvPicPr>
          <p:cNvPr id="4" name="Picture 3">
            <a:extLst>
              <a:ext uri="{FF2B5EF4-FFF2-40B4-BE49-F238E27FC236}">
                <a16:creationId xmlns:a16="http://schemas.microsoft.com/office/drawing/2014/main" id="{605A8DBF-E8A1-4231-8679-8F245B5AEAFB}"/>
              </a:ext>
            </a:extLst>
          </p:cNvPr>
          <p:cNvPicPr>
            <a:picLocks noChangeAspect="1"/>
          </p:cNvPicPr>
          <p:nvPr/>
        </p:nvPicPr>
        <p:blipFill>
          <a:blip r:embed="rId2"/>
          <a:stretch>
            <a:fillRect/>
          </a:stretch>
        </p:blipFill>
        <p:spPr>
          <a:xfrm>
            <a:off x="8870632" y="4256475"/>
            <a:ext cx="3241356" cy="2524157"/>
          </a:xfrm>
          <a:prstGeom prst="rect">
            <a:avLst/>
          </a:prstGeom>
        </p:spPr>
      </p:pic>
      <p:pic>
        <p:nvPicPr>
          <p:cNvPr id="5" name="Picture 4">
            <a:extLst>
              <a:ext uri="{FF2B5EF4-FFF2-40B4-BE49-F238E27FC236}">
                <a16:creationId xmlns:a16="http://schemas.microsoft.com/office/drawing/2014/main" id="{9D35C6AF-1E34-4A01-B694-225D4D679242}"/>
              </a:ext>
            </a:extLst>
          </p:cNvPr>
          <p:cNvPicPr>
            <a:picLocks noChangeAspect="1"/>
          </p:cNvPicPr>
          <p:nvPr/>
        </p:nvPicPr>
        <p:blipFill>
          <a:blip r:embed="rId3"/>
          <a:stretch>
            <a:fillRect/>
          </a:stretch>
        </p:blipFill>
        <p:spPr>
          <a:xfrm>
            <a:off x="8883594" y="225790"/>
            <a:ext cx="3241357" cy="3772823"/>
          </a:xfrm>
          <a:prstGeom prst="rect">
            <a:avLst/>
          </a:prstGeom>
        </p:spPr>
      </p:pic>
    </p:spTree>
    <p:extLst>
      <p:ext uri="{BB962C8B-B14F-4D97-AF65-F5344CB8AC3E}">
        <p14:creationId xmlns:p14="http://schemas.microsoft.com/office/powerpoint/2010/main" val="22519858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B5E6F-1254-4E54-AD02-847E773D9B6D}"/>
              </a:ext>
            </a:extLst>
          </p:cNvPr>
          <p:cNvSpPr>
            <a:spLocks noGrp="1"/>
          </p:cNvSpPr>
          <p:nvPr>
            <p:ph type="title"/>
          </p:nvPr>
        </p:nvSpPr>
        <p:spPr/>
        <p:txBody>
          <a:bodyPr>
            <a:normAutofit fontScale="90000"/>
          </a:bodyPr>
          <a:lstStyle/>
          <a:p>
            <a:r>
              <a:rPr lang="en-US" dirty="0"/>
              <a:t>Effect of ignition timing on exhaust gases and fuel consumption</a:t>
            </a:r>
            <a:endParaRPr lang="en-GB" dirty="0"/>
          </a:p>
        </p:txBody>
      </p:sp>
      <p:pic>
        <p:nvPicPr>
          <p:cNvPr id="8" name="Content Placeholder 7">
            <a:extLst>
              <a:ext uri="{FF2B5EF4-FFF2-40B4-BE49-F238E27FC236}">
                <a16:creationId xmlns:a16="http://schemas.microsoft.com/office/drawing/2014/main" id="{B9688FB7-B2D0-42A9-853A-C7C5D2E6A3D9}"/>
              </a:ext>
            </a:extLst>
          </p:cNvPr>
          <p:cNvPicPr>
            <a:picLocks noGrp="1" noChangeAspect="1"/>
          </p:cNvPicPr>
          <p:nvPr>
            <p:ph idx="1"/>
          </p:nvPr>
        </p:nvPicPr>
        <p:blipFill>
          <a:blip r:embed="rId2"/>
          <a:stretch>
            <a:fillRect/>
          </a:stretch>
        </p:blipFill>
        <p:spPr>
          <a:xfrm>
            <a:off x="4349794" y="1951671"/>
            <a:ext cx="2992438" cy="3286567"/>
          </a:xfrm>
          <a:prstGeom prst="rect">
            <a:avLst/>
          </a:prstGeom>
        </p:spPr>
      </p:pic>
      <p:pic>
        <p:nvPicPr>
          <p:cNvPr id="7" name="Picture 6">
            <a:extLst>
              <a:ext uri="{FF2B5EF4-FFF2-40B4-BE49-F238E27FC236}">
                <a16:creationId xmlns:a16="http://schemas.microsoft.com/office/drawing/2014/main" id="{D650B1EC-D8C6-4894-9AB9-08E8485ECEE9}"/>
              </a:ext>
            </a:extLst>
          </p:cNvPr>
          <p:cNvPicPr>
            <a:picLocks noChangeAspect="1"/>
          </p:cNvPicPr>
          <p:nvPr/>
        </p:nvPicPr>
        <p:blipFill>
          <a:blip r:embed="rId3"/>
          <a:stretch>
            <a:fillRect/>
          </a:stretch>
        </p:blipFill>
        <p:spPr>
          <a:xfrm>
            <a:off x="312439" y="1951672"/>
            <a:ext cx="3825900" cy="3286566"/>
          </a:xfrm>
          <a:prstGeom prst="rect">
            <a:avLst/>
          </a:prstGeom>
        </p:spPr>
      </p:pic>
      <p:pic>
        <p:nvPicPr>
          <p:cNvPr id="9" name="Picture 8">
            <a:extLst>
              <a:ext uri="{FF2B5EF4-FFF2-40B4-BE49-F238E27FC236}">
                <a16:creationId xmlns:a16="http://schemas.microsoft.com/office/drawing/2014/main" id="{344367EF-2EA5-41A8-A351-395E0EE480B4}"/>
              </a:ext>
            </a:extLst>
          </p:cNvPr>
          <p:cNvPicPr>
            <a:picLocks noChangeAspect="1"/>
          </p:cNvPicPr>
          <p:nvPr/>
        </p:nvPicPr>
        <p:blipFill>
          <a:blip r:embed="rId4"/>
          <a:stretch>
            <a:fillRect/>
          </a:stretch>
        </p:blipFill>
        <p:spPr>
          <a:xfrm>
            <a:off x="7553687" y="1951672"/>
            <a:ext cx="3979183" cy="3330218"/>
          </a:xfrm>
          <a:prstGeom prst="rect">
            <a:avLst/>
          </a:prstGeom>
        </p:spPr>
      </p:pic>
    </p:spTree>
    <p:extLst>
      <p:ext uri="{BB962C8B-B14F-4D97-AF65-F5344CB8AC3E}">
        <p14:creationId xmlns:p14="http://schemas.microsoft.com/office/powerpoint/2010/main" val="39858833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7A771-407D-4F28-84F5-26147C288BBC}"/>
              </a:ext>
            </a:extLst>
          </p:cNvPr>
          <p:cNvSpPr>
            <a:spLocks noGrp="1"/>
          </p:cNvSpPr>
          <p:nvPr>
            <p:ph type="title"/>
          </p:nvPr>
        </p:nvSpPr>
        <p:spPr/>
        <p:txBody>
          <a:bodyPr/>
          <a:lstStyle/>
          <a:p>
            <a:r>
              <a:rPr lang="en-US" dirty="0"/>
              <a:t>Functions of ignition system </a:t>
            </a:r>
            <a:endParaRPr lang="en-GB" dirty="0"/>
          </a:p>
        </p:txBody>
      </p:sp>
      <p:sp>
        <p:nvSpPr>
          <p:cNvPr id="3" name="Content Placeholder 2">
            <a:extLst>
              <a:ext uri="{FF2B5EF4-FFF2-40B4-BE49-F238E27FC236}">
                <a16:creationId xmlns:a16="http://schemas.microsoft.com/office/drawing/2014/main" id="{6CAB7483-1576-4473-A40A-3C70E3C15DD6}"/>
              </a:ext>
            </a:extLst>
          </p:cNvPr>
          <p:cNvSpPr>
            <a:spLocks noGrp="1"/>
          </p:cNvSpPr>
          <p:nvPr>
            <p:ph idx="1"/>
          </p:nvPr>
        </p:nvSpPr>
        <p:spPr>
          <a:xfrm>
            <a:off x="1120000" y="1825625"/>
            <a:ext cx="7041020" cy="4351338"/>
          </a:xfrm>
        </p:spPr>
        <p:txBody>
          <a:bodyPr/>
          <a:lstStyle/>
          <a:p>
            <a:r>
              <a:rPr lang="en-US" dirty="0"/>
              <a:t>Determine the timing of ignition</a:t>
            </a:r>
          </a:p>
          <a:p>
            <a:r>
              <a:rPr lang="en-US" dirty="0"/>
              <a:t>Determine the dwell period (operation timing)</a:t>
            </a:r>
          </a:p>
          <a:p>
            <a:pPr lvl="1"/>
            <a:r>
              <a:rPr lang="en-US" dirty="0"/>
              <a:t>Ignition energy is depended on the amount of primary current at the moment off ignition cut off</a:t>
            </a:r>
          </a:p>
          <a:p>
            <a:r>
              <a:rPr lang="en-US" dirty="0"/>
              <a:t>Ignition release </a:t>
            </a:r>
          </a:p>
          <a:p>
            <a:pPr lvl="1"/>
            <a:r>
              <a:rPr lang="en-US" dirty="0"/>
              <a:t>Ensures that the ignition spark occurs at the right cylinder at the </a:t>
            </a:r>
            <a:r>
              <a:rPr lang="en-US"/>
              <a:t>right time and </a:t>
            </a:r>
            <a:r>
              <a:rPr lang="en-US" dirty="0"/>
              <a:t>with required energy</a:t>
            </a:r>
            <a:endParaRPr lang="en-GB" dirty="0"/>
          </a:p>
        </p:txBody>
      </p:sp>
      <p:pic>
        <p:nvPicPr>
          <p:cNvPr id="4" name="Picture 3">
            <a:extLst>
              <a:ext uri="{FF2B5EF4-FFF2-40B4-BE49-F238E27FC236}">
                <a16:creationId xmlns:a16="http://schemas.microsoft.com/office/drawing/2014/main" id="{9F54BB30-85D0-4736-8D41-951502C18E88}"/>
              </a:ext>
            </a:extLst>
          </p:cNvPr>
          <p:cNvPicPr>
            <a:picLocks noChangeAspect="1"/>
          </p:cNvPicPr>
          <p:nvPr/>
        </p:nvPicPr>
        <p:blipFill rotWithShape="1">
          <a:blip r:embed="rId3"/>
          <a:srcRect l="3421" t="3733"/>
          <a:stretch/>
        </p:blipFill>
        <p:spPr>
          <a:xfrm>
            <a:off x="8986927" y="1220172"/>
            <a:ext cx="2704552" cy="2704997"/>
          </a:xfrm>
          <a:prstGeom prst="rect">
            <a:avLst/>
          </a:prstGeom>
        </p:spPr>
      </p:pic>
      <p:pic>
        <p:nvPicPr>
          <p:cNvPr id="5" name="Picture 4">
            <a:extLst>
              <a:ext uri="{FF2B5EF4-FFF2-40B4-BE49-F238E27FC236}">
                <a16:creationId xmlns:a16="http://schemas.microsoft.com/office/drawing/2014/main" id="{FCF08BCE-DB18-4C1C-91B3-5BBA3CC1A5C3}"/>
              </a:ext>
            </a:extLst>
          </p:cNvPr>
          <p:cNvPicPr>
            <a:picLocks noChangeAspect="1"/>
          </p:cNvPicPr>
          <p:nvPr/>
        </p:nvPicPr>
        <p:blipFill>
          <a:blip r:embed="rId4"/>
          <a:stretch>
            <a:fillRect/>
          </a:stretch>
        </p:blipFill>
        <p:spPr>
          <a:xfrm>
            <a:off x="9014954" y="3925169"/>
            <a:ext cx="2676525" cy="2809875"/>
          </a:xfrm>
          <a:prstGeom prst="rect">
            <a:avLst/>
          </a:prstGeom>
        </p:spPr>
      </p:pic>
    </p:spTree>
    <p:extLst>
      <p:ext uri="{BB962C8B-B14F-4D97-AF65-F5344CB8AC3E}">
        <p14:creationId xmlns:p14="http://schemas.microsoft.com/office/powerpoint/2010/main" val="29087915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a:t>Ignition coil</a:t>
            </a:r>
          </a:p>
        </p:txBody>
      </p:sp>
      <p:sp>
        <p:nvSpPr>
          <p:cNvPr id="3" name="Content Placeholder 2"/>
          <p:cNvSpPr>
            <a:spLocks noGrp="1"/>
          </p:cNvSpPr>
          <p:nvPr>
            <p:ph idx="1"/>
          </p:nvPr>
        </p:nvSpPr>
        <p:spPr>
          <a:xfrm>
            <a:off x="490081" y="1530984"/>
            <a:ext cx="7190880" cy="5032375"/>
          </a:xfrm>
        </p:spPr>
        <p:txBody>
          <a:bodyPr>
            <a:normAutofit/>
          </a:bodyPr>
          <a:lstStyle/>
          <a:p>
            <a:r>
              <a:rPr lang="en-US" sz="2400" dirty="0"/>
              <a:t>The coil is a high-voltage transformer made up of two coils of wire.</a:t>
            </a:r>
          </a:p>
          <a:p>
            <a:r>
              <a:rPr lang="en-US" sz="2400" dirty="0"/>
              <a:t>The ignition coil functions:</a:t>
            </a:r>
          </a:p>
          <a:p>
            <a:pPr lvl="1"/>
            <a:r>
              <a:rPr lang="en-US" sz="2000" dirty="0"/>
              <a:t>Energy-storage device</a:t>
            </a:r>
          </a:p>
          <a:p>
            <a:pPr lvl="2"/>
            <a:r>
              <a:rPr lang="en-US" sz="1600" dirty="0"/>
              <a:t>energy that is stored in the magnetic field of the core</a:t>
            </a:r>
          </a:p>
          <a:p>
            <a:pPr lvl="1"/>
            <a:r>
              <a:rPr lang="en-US" sz="2000" dirty="0"/>
              <a:t>Transformer</a:t>
            </a:r>
          </a:p>
          <a:p>
            <a:pPr lvl="2"/>
            <a:endParaRPr lang="en-US" sz="1800" dirty="0"/>
          </a:p>
          <a:p>
            <a:r>
              <a:rPr lang="en-US" sz="2400" dirty="0"/>
              <a:t>Primary wiring has much les turns and powered from low voltage </a:t>
            </a:r>
            <a:r>
              <a:rPr lang="en-US" sz="2400" dirty="0" err="1"/>
              <a:t>batary</a:t>
            </a:r>
            <a:r>
              <a:rPr lang="en-US" sz="2400" dirty="0"/>
              <a:t> 12 v</a:t>
            </a:r>
          </a:p>
          <a:p>
            <a:r>
              <a:rPr lang="en-US" sz="2400" dirty="0"/>
              <a:t>Secondary consists of thousands of turns of smaller wire</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2247" y="1142256"/>
            <a:ext cx="1652904" cy="226793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8" name="Picture 7"/>
          <p:cNvPicPr>
            <a:picLocks noChangeAspect="1"/>
          </p:cNvPicPr>
          <p:nvPr/>
        </p:nvPicPr>
        <p:blipFill>
          <a:blip r:embed="rId4"/>
          <a:stretch>
            <a:fillRect/>
          </a:stretch>
        </p:blipFill>
        <p:spPr>
          <a:xfrm>
            <a:off x="7790695" y="1052711"/>
            <a:ext cx="1426541" cy="2447027"/>
          </a:xfrm>
          <a:prstGeom prst="rect">
            <a:avLst/>
          </a:prstGeom>
        </p:spPr>
      </p:pic>
      <p:pic>
        <p:nvPicPr>
          <p:cNvPr id="9" name="Picture 8"/>
          <p:cNvPicPr>
            <a:picLocks noChangeAspect="1"/>
          </p:cNvPicPr>
          <p:nvPr/>
        </p:nvPicPr>
        <p:blipFill>
          <a:blip r:embed="rId5"/>
          <a:stretch>
            <a:fillRect/>
          </a:stretch>
        </p:blipFill>
        <p:spPr>
          <a:xfrm>
            <a:off x="7790695" y="3678077"/>
            <a:ext cx="3563105" cy="3067242"/>
          </a:xfrm>
          <a:prstGeom prst="rect">
            <a:avLst/>
          </a:prstGeom>
        </p:spPr>
      </p:pic>
    </p:spTree>
    <p:extLst>
      <p:ext uri="{BB962C8B-B14F-4D97-AF65-F5344CB8AC3E}">
        <p14:creationId xmlns:p14="http://schemas.microsoft.com/office/powerpoint/2010/main" val="307784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Breaking ignition</a:t>
            </a:r>
          </a:p>
        </p:txBody>
      </p:sp>
      <p:sp>
        <p:nvSpPr>
          <p:cNvPr id="3" name="Content Placeholder 2"/>
          <p:cNvSpPr>
            <a:spLocks noGrp="1"/>
          </p:cNvSpPr>
          <p:nvPr>
            <p:ph idx="1"/>
          </p:nvPr>
        </p:nvSpPr>
        <p:spPr>
          <a:xfrm>
            <a:off x="175120" y="1815465"/>
            <a:ext cx="6784480" cy="4351338"/>
          </a:xfrm>
        </p:spPr>
        <p:txBody>
          <a:bodyPr/>
          <a:lstStyle/>
          <a:p>
            <a:r>
              <a:rPr lang="en-US" dirty="0"/>
              <a:t>Ignition Distributor – replaced by Electric control system</a:t>
            </a:r>
          </a:p>
          <a:p>
            <a:pPr lvl="1"/>
            <a:r>
              <a:rPr lang="en-US" b="1" dirty="0"/>
              <a:t>Centrifugal advance mechanism - </a:t>
            </a:r>
            <a:r>
              <a:rPr lang="en-US" dirty="0"/>
              <a:t>adjusts the ignition timing in response to changes in engine speed.</a:t>
            </a:r>
          </a:p>
          <a:p>
            <a:pPr lvl="1"/>
            <a:r>
              <a:rPr lang="en-US" b="1" dirty="0"/>
              <a:t>Vacuum mechanism</a:t>
            </a:r>
            <a:r>
              <a:rPr lang="en-US" dirty="0"/>
              <a:t> adapts the ignition timing to changes in engine output and load factor.</a:t>
            </a:r>
          </a:p>
          <a:p>
            <a:pPr lvl="1"/>
            <a:r>
              <a:rPr lang="en-US" b="1" dirty="0"/>
              <a:t>Ignition Distributor - that routes high voltage from the ignition coil to the spark plugs in the correct firing order</a:t>
            </a:r>
          </a:p>
        </p:txBody>
      </p:sp>
      <p:pic>
        <p:nvPicPr>
          <p:cNvPr id="4" name="Picture 3"/>
          <p:cNvPicPr>
            <a:picLocks noChangeAspect="1"/>
          </p:cNvPicPr>
          <p:nvPr/>
        </p:nvPicPr>
        <p:blipFill>
          <a:blip r:embed="rId3"/>
          <a:stretch>
            <a:fillRect/>
          </a:stretch>
        </p:blipFill>
        <p:spPr>
          <a:xfrm>
            <a:off x="7897468" y="1354561"/>
            <a:ext cx="3901740" cy="213821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5528" y="3492779"/>
            <a:ext cx="3413760" cy="3049626"/>
          </a:xfrm>
          <a:prstGeom prst="rect">
            <a:avLst/>
          </a:prstGeom>
        </p:spPr>
      </p:pic>
      <p:pic>
        <p:nvPicPr>
          <p:cNvPr id="6" name="Picture 5" descr="The image displays the components of an Ignition Distributor System:,  -Contact-breaker Points: These points open and close the primary circuit of  the ignition coil, controlling when the spark is ...">
            <a:extLst>
              <a:ext uri="{FF2B5EF4-FFF2-40B4-BE49-F238E27FC236}">
                <a16:creationId xmlns:a16="http://schemas.microsoft.com/office/drawing/2014/main" id="{B24066F5-6478-FAD6-716F-5CA0C4C26234}"/>
              </a:ext>
            </a:extLst>
          </p:cNvPr>
          <p:cNvPicPr>
            <a:picLocks noChangeAspect="1"/>
          </p:cNvPicPr>
          <p:nvPr/>
        </p:nvPicPr>
        <p:blipFill>
          <a:blip r:embed="rId5"/>
          <a:stretch>
            <a:fillRect/>
          </a:stretch>
        </p:blipFill>
        <p:spPr>
          <a:xfrm>
            <a:off x="2337859" y="-3030361"/>
            <a:ext cx="5429602" cy="9774061"/>
          </a:xfrm>
          <a:prstGeom prst="rect">
            <a:avLst/>
          </a:prstGeom>
        </p:spPr>
      </p:pic>
    </p:spTree>
    <p:extLst>
      <p:ext uri="{BB962C8B-B14F-4D97-AF65-F5344CB8AC3E}">
        <p14:creationId xmlns:p14="http://schemas.microsoft.com/office/powerpoint/2010/main" val="794244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Ignition System</a:t>
            </a:r>
          </a:p>
        </p:txBody>
      </p:sp>
      <p:sp>
        <p:nvSpPr>
          <p:cNvPr id="3" name="Content Placeholder 2"/>
          <p:cNvSpPr>
            <a:spLocks noGrp="1"/>
          </p:cNvSpPr>
          <p:nvPr>
            <p:ph idx="1"/>
          </p:nvPr>
        </p:nvSpPr>
        <p:spPr>
          <a:xfrm>
            <a:off x="42200" y="1872703"/>
            <a:ext cx="8183488" cy="4181770"/>
          </a:xfrm>
        </p:spPr>
        <p:txBody>
          <a:bodyPr>
            <a:normAutofit fontScale="92500" lnSpcReduction="10000"/>
          </a:bodyPr>
          <a:lstStyle/>
          <a:p>
            <a:r>
              <a:rPr lang="en-US" b="1" dirty="0" err="1"/>
              <a:t>Distributorless</a:t>
            </a:r>
            <a:r>
              <a:rPr lang="en-US" b="1" dirty="0"/>
              <a:t> Ignition Systems</a:t>
            </a:r>
          </a:p>
          <a:p>
            <a:pPr lvl="1"/>
            <a:r>
              <a:rPr lang="en-US" dirty="0"/>
              <a:t>One coil is used to fire one pair of companion cylinders simultaneously. </a:t>
            </a:r>
            <a:endParaRPr lang="en-US" b="1" dirty="0"/>
          </a:p>
          <a:p>
            <a:r>
              <a:rPr lang="en-US" b="1" dirty="0"/>
              <a:t>Coil-Over-Plug System</a:t>
            </a:r>
          </a:p>
          <a:p>
            <a:pPr lvl="1"/>
            <a:r>
              <a:rPr lang="en-US" dirty="0"/>
              <a:t>Each cylinder has an ignition coil mounted directly above the spark plug on the cylinder head cover. A short suppressor/connector connects the coil to the plug</a:t>
            </a:r>
            <a:endParaRPr lang="en-US" b="1" dirty="0"/>
          </a:p>
          <a:p>
            <a:r>
              <a:rPr lang="en-US" b="1" dirty="0"/>
              <a:t>Coil-Near-Plug System</a:t>
            </a:r>
          </a:p>
          <a:p>
            <a:pPr lvl="1"/>
            <a:r>
              <a:rPr lang="en-US" dirty="0"/>
              <a:t> An ignition coil/module is mounted in proximity of each cylinder. There is a short secondary ignition cable that connects the ignition coil and the spark plug. Each ignition coil/module has its own control circuit and is activated sequentially by the </a:t>
            </a:r>
            <a:r>
              <a:rPr lang="en-US" dirty="0" err="1"/>
              <a:t>PCM</a:t>
            </a:r>
            <a:r>
              <a:rPr lang="en-US" dirty="0"/>
              <a: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5688" y="3881866"/>
            <a:ext cx="3924112" cy="2589914"/>
          </a:xfrm>
          <a:prstGeom prst="rect">
            <a:avLst/>
          </a:prstGeom>
        </p:spPr>
      </p:pic>
      <p:pic>
        <p:nvPicPr>
          <p:cNvPr id="6" name="Picture 5"/>
          <p:cNvPicPr>
            <a:picLocks noChangeAspect="1"/>
          </p:cNvPicPr>
          <p:nvPr/>
        </p:nvPicPr>
        <p:blipFill>
          <a:blip r:embed="rId3"/>
          <a:stretch>
            <a:fillRect/>
          </a:stretch>
        </p:blipFill>
        <p:spPr>
          <a:xfrm>
            <a:off x="8378088" y="1263881"/>
            <a:ext cx="3128112" cy="2435970"/>
          </a:xfrm>
          <a:prstGeom prst="rect">
            <a:avLst/>
          </a:prstGeom>
        </p:spPr>
      </p:pic>
    </p:spTree>
    <p:extLst>
      <p:ext uri="{BB962C8B-B14F-4D97-AF65-F5344CB8AC3E}">
        <p14:creationId xmlns:p14="http://schemas.microsoft.com/office/powerpoint/2010/main" val="34954303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Evaporative Emission system</a:t>
            </a:r>
          </a:p>
        </p:txBody>
      </p:sp>
      <p:sp>
        <p:nvSpPr>
          <p:cNvPr id="3" name="Content Placeholder 2"/>
          <p:cNvSpPr>
            <a:spLocks noGrp="1"/>
          </p:cNvSpPr>
          <p:nvPr>
            <p:ph idx="1"/>
          </p:nvPr>
        </p:nvSpPr>
        <p:spPr>
          <a:xfrm>
            <a:off x="691983" y="1592161"/>
            <a:ext cx="6438391" cy="4594630"/>
          </a:xfrm>
        </p:spPr>
        <p:txBody>
          <a:bodyPr>
            <a:normAutofit fontScale="92500" lnSpcReduction="20000"/>
          </a:bodyPr>
          <a:lstStyle/>
          <a:p>
            <a:r>
              <a:rPr lang="en-US" dirty="0"/>
              <a:t>Prevents fuel vapor build-up in the sealed fuel tank</a:t>
            </a:r>
          </a:p>
          <a:p>
            <a:r>
              <a:rPr lang="en-US" dirty="0"/>
              <a:t>Fuel vapors trapped in the sealed tank are vented through the vapor valve assembly on top of the tank</a:t>
            </a:r>
          </a:p>
          <a:p>
            <a:r>
              <a:rPr lang="en-US" dirty="0"/>
              <a:t>How the system works:</a:t>
            </a:r>
          </a:p>
          <a:p>
            <a:pPr lvl="1"/>
            <a:r>
              <a:rPr lang="en-US" dirty="0"/>
              <a:t>The charcoal canister temporarily absorbs the HC evaporated from the fuel tank.</a:t>
            </a:r>
          </a:p>
          <a:p>
            <a:pPr lvl="1"/>
            <a:r>
              <a:rPr lang="en-US" dirty="0"/>
              <a:t>When the engine operates and the purge control valve opens, the absorbed fuel is purged from the charcoal canister and returned to the intake pipe by the negative pressure in the intake pipe.</a:t>
            </a:r>
          </a:p>
          <a:p>
            <a:pPr lvl="1"/>
            <a:r>
              <a:rPr lang="en-US" dirty="0"/>
              <a:t>The returned fuel is sucked into the engine cylinder together with the fuel injected from the injector and air.</a:t>
            </a:r>
          </a:p>
          <a:p>
            <a:endParaRPr lang="en-US" dirty="0"/>
          </a:p>
          <a:p>
            <a:pPr lvl="1"/>
            <a:endParaRPr lang="en-US" dirty="0"/>
          </a:p>
          <a:p>
            <a:pPr marL="457200" lvl="1"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0374" y="3018918"/>
            <a:ext cx="4762500" cy="2143125"/>
          </a:xfrm>
          <a:prstGeom prst="rect">
            <a:avLst/>
          </a:prstGeom>
        </p:spPr>
      </p:pic>
    </p:spTree>
    <p:extLst>
      <p:ext uri="{BB962C8B-B14F-4D97-AF65-F5344CB8AC3E}">
        <p14:creationId xmlns:p14="http://schemas.microsoft.com/office/powerpoint/2010/main" val="33759703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0C3C1-663B-42A6-9870-8F4CBDD54748}"/>
              </a:ext>
            </a:extLst>
          </p:cNvPr>
          <p:cNvSpPr>
            <a:spLocks noGrp="1"/>
          </p:cNvSpPr>
          <p:nvPr>
            <p:ph type="title"/>
          </p:nvPr>
        </p:nvSpPr>
        <p:spPr/>
        <p:txBody>
          <a:bodyPr/>
          <a:lstStyle/>
          <a:p>
            <a:r>
              <a:rPr lang="en-US" dirty="0"/>
              <a:t>Lambda control</a:t>
            </a:r>
            <a:endParaRPr lang="en-GB" dirty="0"/>
          </a:p>
        </p:txBody>
      </p:sp>
      <p:sp>
        <p:nvSpPr>
          <p:cNvPr id="3" name="Content Placeholder 2">
            <a:extLst>
              <a:ext uri="{FF2B5EF4-FFF2-40B4-BE49-F238E27FC236}">
                <a16:creationId xmlns:a16="http://schemas.microsoft.com/office/drawing/2014/main" id="{146C83F1-D9DF-436F-9F69-953715044E5F}"/>
              </a:ext>
            </a:extLst>
          </p:cNvPr>
          <p:cNvSpPr>
            <a:spLocks noGrp="1"/>
          </p:cNvSpPr>
          <p:nvPr>
            <p:ph idx="1"/>
          </p:nvPr>
        </p:nvSpPr>
        <p:spPr>
          <a:xfrm>
            <a:off x="1120000" y="1825625"/>
            <a:ext cx="5383670" cy="3523615"/>
          </a:xfrm>
        </p:spPr>
        <p:txBody>
          <a:bodyPr>
            <a:normAutofit fontScale="85000" lnSpcReduction="10000"/>
          </a:bodyPr>
          <a:lstStyle/>
          <a:p>
            <a:r>
              <a:rPr lang="en-US" dirty="0"/>
              <a:t>Ensure conversion rate of the catalyzer , must ensure stochiometric  ration</a:t>
            </a:r>
          </a:p>
          <a:p>
            <a:r>
              <a:rPr lang="en-US" dirty="0"/>
              <a:t>Mixture formation is followed up in a control loop</a:t>
            </a:r>
          </a:p>
          <a:p>
            <a:r>
              <a:rPr lang="en-US" dirty="0"/>
              <a:t>Derivation can be detected by lambda sensors</a:t>
            </a:r>
          </a:p>
          <a:p>
            <a:r>
              <a:rPr lang="en-US" dirty="0"/>
              <a:t>Typical variation 2 -3 %</a:t>
            </a:r>
          </a:p>
          <a:p>
            <a:r>
              <a:rPr lang="en-US" dirty="0"/>
              <a:t>Limited control dynamic determined by the sum of response times </a:t>
            </a:r>
            <a:endParaRPr lang="en-GB" dirty="0"/>
          </a:p>
        </p:txBody>
      </p:sp>
      <p:pic>
        <p:nvPicPr>
          <p:cNvPr id="4" name="Picture 3">
            <a:extLst>
              <a:ext uri="{FF2B5EF4-FFF2-40B4-BE49-F238E27FC236}">
                <a16:creationId xmlns:a16="http://schemas.microsoft.com/office/drawing/2014/main" id="{BEB4047F-2876-43F9-BC93-D19986CA001E}"/>
              </a:ext>
            </a:extLst>
          </p:cNvPr>
          <p:cNvPicPr>
            <a:picLocks noChangeAspect="1"/>
          </p:cNvPicPr>
          <p:nvPr/>
        </p:nvPicPr>
        <p:blipFill>
          <a:blip r:embed="rId2"/>
          <a:stretch>
            <a:fillRect/>
          </a:stretch>
        </p:blipFill>
        <p:spPr>
          <a:xfrm rot="16200000">
            <a:off x="7934964" y="2860039"/>
            <a:ext cx="2700018" cy="5295903"/>
          </a:xfrm>
          <a:prstGeom prst="rect">
            <a:avLst/>
          </a:prstGeom>
        </p:spPr>
      </p:pic>
      <p:pic>
        <p:nvPicPr>
          <p:cNvPr id="5" name="Picture 4">
            <a:extLst>
              <a:ext uri="{FF2B5EF4-FFF2-40B4-BE49-F238E27FC236}">
                <a16:creationId xmlns:a16="http://schemas.microsoft.com/office/drawing/2014/main" id="{C911871C-FEF7-4A0E-B610-EAE5705458A5}"/>
              </a:ext>
            </a:extLst>
          </p:cNvPr>
          <p:cNvPicPr>
            <a:picLocks noChangeAspect="1"/>
          </p:cNvPicPr>
          <p:nvPr/>
        </p:nvPicPr>
        <p:blipFill>
          <a:blip r:embed="rId3"/>
          <a:stretch>
            <a:fillRect/>
          </a:stretch>
        </p:blipFill>
        <p:spPr>
          <a:xfrm>
            <a:off x="7464745" y="365125"/>
            <a:ext cx="3640455" cy="3853388"/>
          </a:xfrm>
          <a:prstGeom prst="rect">
            <a:avLst/>
          </a:prstGeom>
        </p:spPr>
      </p:pic>
    </p:spTree>
    <p:extLst>
      <p:ext uri="{BB962C8B-B14F-4D97-AF65-F5344CB8AC3E}">
        <p14:creationId xmlns:p14="http://schemas.microsoft.com/office/powerpoint/2010/main" val="2581604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462" y="-30984"/>
            <a:ext cx="10515600" cy="1325563"/>
          </a:xfrm>
        </p:spPr>
        <p:txBody>
          <a:bodyPr/>
          <a:lstStyle/>
          <a:p>
            <a:r>
              <a:rPr lang="en-US" b="1" i="1" dirty="0"/>
              <a:t>Oxygen sensor </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9541" y="4483588"/>
            <a:ext cx="2106612"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 Box 32"/>
          <p:cNvSpPr txBox="1">
            <a:spLocks noChangeArrowheads="1"/>
          </p:cNvSpPr>
          <p:nvPr/>
        </p:nvSpPr>
        <p:spPr bwMode="auto">
          <a:xfrm>
            <a:off x="11195453" y="5272575"/>
            <a:ext cx="538549" cy="34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de-DE" altLang="de-DE" sz="1600" i="1">
                <a:solidFill>
                  <a:schemeClr val="bg1"/>
                </a:solidFill>
                <a:latin typeface="Times" panose="02020603050405020304" pitchFamily="18" charset="0"/>
              </a:rPr>
              <a:t>U</a:t>
            </a:r>
            <a:r>
              <a:rPr lang="de-DE" altLang="de-DE" sz="1600" baseline="-20000">
                <a:solidFill>
                  <a:schemeClr val="bg1"/>
                </a:solidFill>
              </a:rPr>
              <a:t>reg</a:t>
            </a:r>
            <a:endParaRPr lang="de-DE" altLang="de-DE" sz="1600">
              <a:solidFill>
                <a:schemeClr val="bg1"/>
              </a:solidFill>
            </a:endParaRPr>
          </a:p>
        </p:txBody>
      </p:sp>
      <p:sp>
        <p:nvSpPr>
          <p:cNvPr id="35" name="Text Box 33"/>
          <p:cNvSpPr txBox="1">
            <a:spLocks noChangeArrowheads="1"/>
          </p:cNvSpPr>
          <p:nvPr/>
        </p:nvSpPr>
        <p:spPr bwMode="auto">
          <a:xfrm>
            <a:off x="9569853" y="4482000"/>
            <a:ext cx="2099874"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de-DE" altLang="de-DE" sz="1500">
                <a:solidFill>
                  <a:schemeClr val="bg1"/>
                </a:solidFill>
                <a:latin typeface="Arial Narrow" panose="020B0606020202030204" pitchFamily="34" charset="0"/>
              </a:rPr>
              <a:t>Sensor characteristic curve</a:t>
            </a:r>
          </a:p>
        </p:txBody>
      </p:sp>
      <p:sp>
        <p:nvSpPr>
          <p:cNvPr id="36" name="Text Box 34"/>
          <p:cNvSpPr txBox="1">
            <a:spLocks noChangeArrowheads="1"/>
          </p:cNvSpPr>
          <p:nvPr/>
        </p:nvSpPr>
        <p:spPr bwMode="auto">
          <a:xfrm>
            <a:off x="9234109" y="4801088"/>
            <a:ext cx="415119"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r">
              <a:spcBef>
                <a:spcPct val="50000"/>
              </a:spcBef>
            </a:pPr>
            <a:r>
              <a:rPr lang="de-DE" altLang="de-DE" sz="1500">
                <a:solidFill>
                  <a:schemeClr val="bg1"/>
                </a:solidFill>
                <a:latin typeface="Arial Narrow" panose="020B0606020202030204" pitchFamily="34" charset="0"/>
              </a:rPr>
              <a:t>0.9</a:t>
            </a:r>
          </a:p>
        </p:txBody>
      </p:sp>
      <p:sp>
        <p:nvSpPr>
          <p:cNvPr id="37" name="Text Box 35"/>
          <p:cNvSpPr txBox="1">
            <a:spLocks noChangeArrowheads="1"/>
          </p:cNvSpPr>
          <p:nvPr/>
        </p:nvSpPr>
        <p:spPr bwMode="auto">
          <a:xfrm>
            <a:off x="9234109" y="5143988"/>
            <a:ext cx="415119"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r">
              <a:spcBef>
                <a:spcPct val="50000"/>
              </a:spcBef>
            </a:pPr>
            <a:r>
              <a:rPr lang="de-DE" altLang="de-DE" sz="1500">
                <a:solidFill>
                  <a:schemeClr val="bg1"/>
                </a:solidFill>
                <a:latin typeface="Arial Narrow" panose="020B0606020202030204" pitchFamily="34" charset="0"/>
              </a:rPr>
              <a:t>0.6</a:t>
            </a:r>
          </a:p>
        </p:txBody>
      </p:sp>
      <p:sp>
        <p:nvSpPr>
          <p:cNvPr id="38" name="Text Box 36"/>
          <p:cNvSpPr txBox="1">
            <a:spLocks noChangeArrowheads="1"/>
          </p:cNvSpPr>
          <p:nvPr/>
        </p:nvSpPr>
        <p:spPr bwMode="auto">
          <a:xfrm>
            <a:off x="9234109" y="5490063"/>
            <a:ext cx="415119"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r">
              <a:spcBef>
                <a:spcPct val="50000"/>
              </a:spcBef>
            </a:pPr>
            <a:r>
              <a:rPr lang="de-DE" altLang="de-DE" sz="1500">
                <a:solidFill>
                  <a:schemeClr val="bg1"/>
                </a:solidFill>
                <a:latin typeface="Arial Narrow" panose="020B0606020202030204" pitchFamily="34" charset="0"/>
              </a:rPr>
              <a:t>0.3</a:t>
            </a:r>
          </a:p>
        </p:txBody>
      </p:sp>
      <p:sp>
        <p:nvSpPr>
          <p:cNvPr id="39" name="Text Box 37"/>
          <p:cNvSpPr txBox="1">
            <a:spLocks noChangeArrowheads="1"/>
          </p:cNvSpPr>
          <p:nvPr/>
        </p:nvSpPr>
        <p:spPr bwMode="auto">
          <a:xfrm>
            <a:off x="9365556" y="5769463"/>
            <a:ext cx="283672"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r">
              <a:spcBef>
                <a:spcPct val="50000"/>
              </a:spcBef>
            </a:pPr>
            <a:r>
              <a:rPr lang="de-DE" altLang="de-DE" sz="1500">
                <a:solidFill>
                  <a:schemeClr val="bg1"/>
                </a:solidFill>
                <a:latin typeface="Arial Narrow" panose="020B0606020202030204" pitchFamily="34" charset="0"/>
              </a:rPr>
              <a:t>0</a:t>
            </a:r>
          </a:p>
        </p:txBody>
      </p:sp>
      <p:sp>
        <p:nvSpPr>
          <p:cNvPr id="40" name="Text Box 38"/>
          <p:cNvSpPr txBox="1">
            <a:spLocks noChangeArrowheads="1"/>
          </p:cNvSpPr>
          <p:nvPr/>
        </p:nvSpPr>
        <p:spPr bwMode="auto">
          <a:xfrm>
            <a:off x="9882568" y="5971075"/>
            <a:ext cx="503283"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50000"/>
              </a:spcBef>
            </a:pPr>
            <a:r>
              <a:rPr lang="de-DE" altLang="de-DE" sz="1500">
                <a:solidFill>
                  <a:schemeClr val="bg1"/>
                </a:solidFill>
                <a:latin typeface="Arial Narrow" panose="020B0606020202030204" pitchFamily="34" charset="0"/>
              </a:rPr>
              <a:t>0.98</a:t>
            </a:r>
          </a:p>
        </p:txBody>
      </p:sp>
      <p:sp>
        <p:nvSpPr>
          <p:cNvPr id="41" name="Text Box 39"/>
          <p:cNvSpPr txBox="1">
            <a:spLocks noChangeArrowheads="1"/>
          </p:cNvSpPr>
          <p:nvPr/>
        </p:nvSpPr>
        <p:spPr bwMode="auto">
          <a:xfrm>
            <a:off x="10619594" y="5971075"/>
            <a:ext cx="415119"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50000"/>
              </a:spcBef>
            </a:pPr>
            <a:r>
              <a:rPr lang="de-DE" altLang="de-DE" sz="1500">
                <a:solidFill>
                  <a:schemeClr val="bg1"/>
                </a:solidFill>
                <a:latin typeface="Arial Narrow" panose="020B0606020202030204" pitchFamily="34" charset="0"/>
              </a:rPr>
              <a:t>1.0</a:t>
            </a:r>
          </a:p>
        </p:txBody>
      </p:sp>
      <p:sp>
        <p:nvSpPr>
          <p:cNvPr id="42" name="Text Box 40"/>
          <p:cNvSpPr txBox="1">
            <a:spLocks noChangeArrowheads="1"/>
          </p:cNvSpPr>
          <p:nvPr/>
        </p:nvSpPr>
        <p:spPr bwMode="auto">
          <a:xfrm>
            <a:off x="11262106" y="5971075"/>
            <a:ext cx="503283"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50000"/>
              </a:spcBef>
            </a:pPr>
            <a:r>
              <a:rPr lang="de-DE" altLang="de-DE" sz="1500">
                <a:solidFill>
                  <a:schemeClr val="bg1"/>
                </a:solidFill>
                <a:latin typeface="Arial Narrow" panose="020B0606020202030204" pitchFamily="34" charset="0"/>
              </a:rPr>
              <a:t>1.02</a:t>
            </a:r>
          </a:p>
        </p:txBody>
      </p:sp>
      <p:sp>
        <p:nvSpPr>
          <p:cNvPr id="43" name="Text Box 41"/>
          <p:cNvSpPr txBox="1">
            <a:spLocks noChangeArrowheads="1"/>
          </p:cNvSpPr>
          <p:nvPr/>
        </p:nvSpPr>
        <p:spPr bwMode="auto">
          <a:xfrm>
            <a:off x="9833659" y="6196500"/>
            <a:ext cx="1655202"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50000"/>
              </a:spcBef>
            </a:pPr>
            <a:r>
              <a:rPr lang="de-DE" altLang="de-DE" sz="1500">
                <a:solidFill>
                  <a:schemeClr val="bg1"/>
                </a:solidFill>
                <a:latin typeface="Arial Narrow" panose="020B0606020202030204" pitchFamily="34" charset="0"/>
              </a:rPr>
              <a:t>Normalized A</a:t>
            </a:r>
            <a:r>
              <a:rPr lang="de-DE" altLang="de-DE" sz="500">
                <a:solidFill>
                  <a:schemeClr val="bg1"/>
                </a:solidFill>
                <a:latin typeface="Arial Narrow" panose="020B0606020202030204" pitchFamily="34" charset="0"/>
              </a:rPr>
              <a:t> </a:t>
            </a:r>
            <a:r>
              <a:rPr lang="de-DE" altLang="de-DE" sz="1500">
                <a:solidFill>
                  <a:schemeClr val="bg1"/>
                </a:solidFill>
                <a:latin typeface="Arial Narrow" panose="020B0606020202030204" pitchFamily="34" charset="0"/>
              </a:rPr>
              <a:t>/</a:t>
            </a:r>
            <a:r>
              <a:rPr lang="de-DE" altLang="de-DE" sz="500">
                <a:solidFill>
                  <a:schemeClr val="bg1"/>
                </a:solidFill>
                <a:latin typeface="Arial Narrow" panose="020B0606020202030204" pitchFamily="34" charset="0"/>
              </a:rPr>
              <a:t> </a:t>
            </a:r>
            <a:r>
              <a:rPr lang="de-DE" altLang="de-DE" sz="1500">
                <a:solidFill>
                  <a:schemeClr val="bg1"/>
                </a:solidFill>
                <a:latin typeface="Arial Narrow" panose="020B0606020202030204" pitchFamily="34" charset="0"/>
              </a:rPr>
              <a:t>F ratio</a:t>
            </a:r>
          </a:p>
        </p:txBody>
      </p:sp>
      <p:sp>
        <p:nvSpPr>
          <p:cNvPr id="44" name="Text Box 42"/>
          <p:cNvSpPr txBox="1">
            <a:spLocks noChangeArrowheads="1"/>
          </p:cNvSpPr>
          <p:nvPr/>
        </p:nvSpPr>
        <p:spPr bwMode="auto">
          <a:xfrm rot="16200000">
            <a:off x="8538312" y="5089232"/>
            <a:ext cx="1250283"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50000"/>
              </a:spcBef>
            </a:pPr>
            <a:r>
              <a:rPr lang="de-DE" altLang="de-DE" sz="1500">
                <a:solidFill>
                  <a:schemeClr val="bg1"/>
                </a:solidFill>
                <a:latin typeface="Arial Narrow" panose="020B0606020202030204" pitchFamily="34" charset="0"/>
              </a:rPr>
              <a:t>Sensor voltage</a:t>
            </a:r>
          </a:p>
        </p:txBody>
      </p:sp>
      <p:pic>
        <p:nvPicPr>
          <p:cNvPr id="54" name="Picture 53"/>
          <p:cNvPicPr>
            <a:picLocks noChangeAspect="1" noChangeArrowheads="1"/>
          </p:cNvPicPr>
          <p:nvPr/>
        </p:nvPicPr>
        <p:blipFill>
          <a:blip r:embed="rId3">
            <a:clrChange>
              <a:clrFrom>
                <a:srgbClr val="F1F1F1"/>
              </a:clrFrom>
              <a:clrTo>
                <a:srgbClr val="F1F1F1">
                  <a:alpha val="0"/>
                </a:srgbClr>
              </a:clrTo>
            </a:clrChange>
            <a:extLst>
              <a:ext uri="{28A0092B-C50C-407E-A947-70E740481C1C}">
                <a14:useLocalDpi xmlns:a14="http://schemas.microsoft.com/office/drawing/2010/main" val="0"/>
              </a:ext>
            </a:extLst>
          </a:blip>
          <a:srcRect/>
          <a:stretch>
            <a:fillRect/>
          </a:stretch>
        </p:blipFill>
        <p:spPr bwMode="auto">
          <a:xfrm>
            <a:off x="11692341" y="6059975"/>
            <a:ext cx="117475" cy="15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Content Placeholder 2"/>
          <p:cNvSpPr>
            <a:spLocks noGrp="1"/>
          </p:cNvSpPr>
          <p:nvPr>
            <p:ph idx="1"/>
          </p:nvPr>
        </p:nvSpPr>
        <p:spPr>
          <a:xfrm>
            <a:off x="188541" y="999025"/>
            <a:ext cx="8898898" cy="5300636"/>
          </a:xfrm>
        </p:spPr>
        <p:txBody>
          <a:bodyPr>
            <a:normAutofit fontScale="92500" lnSpcReduction="10000"/>
          </a:bodyPr>
          <a:lstStyle/>
          <a:p>
            <a:r>
              <a:rPr lang="en-US" dirty="0"/>
              <a:t>Used to determine air–fuel ratio of a combustion engine is rich or lean</a:t>
            </a:r>
          </a:p>
          <a:p>
            <a:r>
              <a:rPr lang="en-US" dirty="0"/>
              <a:t>Used to regulate very precisely the air/fuel mixture for combustion to the value lambda = 1 </a:t>
            </a:r>
          </a:p>
          <a:p>
            <a:r>
              <a:rPr lang="en-US" dirty="0"/>
              <a:t>The oxygen sensor is a solid electrolyte made of </a:t>
            </a:r>
            <a:r>
              <a:rPr lang="en-US" dirty="0" err="1"/>
              <a:t>ZrO</a:t>
            </a:r>
            <a:r>
              <a:rPr lang="en-US" dirty="0"/>
              <a:t> ceramic material that becomes electrically conductive for oxygen ions at temperature higher than </a:t>
            </a:r>
            <a:r>
              <a:rPr lang="en-US" b="1" dirty="0" err="1"/>
              <a:t>300°C</a:t>
            </a:r>
            <a:r>
              <a:rPr lang="en-US" b="1" dirty="0"/>
              <a:t>. </a:t>
            </a:r>
          </a:p>
          <a:p>
            <a:pPr>
              <a:buFontTx/>
              <a:buChar char="•"/>
            </a:pPr>
            <a:r>
              <a:rPr lang="en-US" dirty="0"/>
              <a:t>Voltage output of O2 sensor changes with  the change in oxygen content of exhaust</a:t>
            </a:r>
          </a:p>
          <a:p>
            <a:pPr>
              <a:buFontTx/>
              <a:buChar char="•"/>
            </a:pPr>
            <a:r>
              <a:rPr lang="en-US" dirty="0"/>
              <a:t>Signal is sent to </a:t>
            </a:r>
            <a:r>
              <a:rPr lang="en-US" dirty="0" err="1"/>
              <a:t>ECM</a:t>
            </a:r>
            <a:r>
              <a:rPr lang="en-US" dirty="0"/>
              <a:t> and the </a:t>
            </a:r>
            <a:r>
              <a:rPr lang="en-US" dirty="0" err="1"/>
              <a:t>ECM</a:t>
            </a:r>
            <a:r>
              <a:rPr lang="en-US" dirty="0"/>
              <a:t> changes the time that an injector is open or close</a:t>
            </a:r>
            <a:endParaRPr lang="ru-RU" dirty="0"/>
          </a:p>
          <a:p>
            <a:pPr>
              <a:buFontTx/>
              <a:buChar char="•"/>
            </a:pPr>
            <a:r>
              <a:rPr lang="en-US" dirty="0"/>
              <a:t>The sensor does not actually measure oxygen concentration, but rather the difference between the amount of oxygen in the exhaust gas and the amount of oxygen in air</a:t>
            </a:r>
          </a:p>
        </p:txBody>
      </p:sp>
      <p:pic>
        <p:nvPicPr>
          <p:cNvPr id="64" name="Picture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5308" y="313186"/>
            <a:ext cx="2058376"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Text Box 11"/>
          <p:cNvSpPr txBox="1">
            <a:spLocks noChangeArrowheads="1"/>
          </p:cNvSpPr>
          <p:nvPr/>
        </p:nvSpPr>
        <p:spPr bwMode="auto">
          <a:xfrm>
            <a:off x="9774252" y="186225"/>
            <a:ext cx="1255092"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de-DE" altLang="de-DE" sz="1500">
                <a:solidFill>
                  <a:schemeClr val="bg1"/>
                </a:solidFill>
              </a:rPr>
              <a:t>Exhaust gas</a:t>
            </a:r>
          </a:p>
        </p:txBody>
      </p:sp>
      <p:sp>
        <p:nvSpPr>
          <p:cNvPr id="66" name="Text Box 12"/>
          <p:cNvSpPr txBox="1">
            <a:spLocks noChangeArrowheads="1"/>
          </p:cNvSpPr>
          <p:nvPr/>
        </p:nvSpPr>
        <p:spPr bwMode="auto">
          <a:xfrm>
            <a:off x="9774252" y="535475"/>
            <a:ext cx="567403"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de-DE" altLang="de-DE" sz="1500" i="1">
                <a:solidFill>
                  <a:schemeClr val="bg1"/>
                </a:solidFill>
                <a:latin typeface="Times" panose="02020603050405020304" pitchFamily="18" charset="0"/>
              </a:rPr>
              <a:t>P</a:t>
            </a:r>
            <a:r>
              <a:rPr lang="de-DE" altLang="de-DE" sz="2100" baseline="-10000">
                <a:solidFill>
                  <a:schemeClr val="bg1"/>
                </a:solidFill>
              </a:rPr>
              <a:t>O</a:t>
            </a:r>
            <a:r>
              <a:rPr lang="de-DE" altLang="de-DE" sz="2100" baseline="-10000">
                <a:solidFill>
                  <a:schemeClr val="bg1"/>
                </a:solidFill>
                <a:sym typeface="Symbol" panose="05050102010706020507" pitchFamily="18" charset="2"/>
              </a:rPr>
              <a:t></a:t>
            </a:r>
            <a:r>
              <a:rPr lang="de-DE" altLang="de-DE" sz="1500" baseline="-25000">
                <a:solidFill>
                  <a:schemeClr val="bg1"/>
                </a:solidFill>
              </a:rPr>
              <a:t>2</a:t>
            </a:r>
            <a:endParaRPr lang="de-DE" altLang="de-DE" sz="1500">
              <a:solidFill>
                <a:schemeClr val="bg1"/>
              </a:solidFill>
            </a:endParaRPr>
          </a:p>
        </p:txBody>
      </p:sp>
      <p:sp>
        <p:nvSpPr>
          <p:cNvPr id="67" name="Text Box 13"/>
          <p:cNvSpPr txBox="1">
            <a:spLocks noChangeArrowheads="1"/>
          </p:cNvSpPr>
          <p:nvPr/>
        </p:nvSpPr>
        <p:spPr bwMode="auto">
          <a:xfrm>
            <a:off x="10058415" y="911712"/>
            <a:ext cx="612288"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de-DE" altLang="de-DE" sz="1500" i="1" dirty="0">
                <a:solidFill>
                  <a:schemeClr val="bg1"/>
                </a:solidFill>
                <a:latin typeface="Times" panose="02020603050405020304" pitchFamily="18" charset="0"/>
              </a:rPr>
              <a:t>P</a:t>
            </a:r>
            <a:r>
              <a:rPr lang="de-DE" altLang="de-DE" sz="2100" baseline="-10000" dirty="0">
                <a:solidFill>
                  <a:schemeClr val="bg1"/>
                </a:solidFill>
              </a:rPr>
              <a:t>O</a:t>
            </a:r>
            <a:r>
              <a:rPr lang="de-DE" altLang="de-DE" sz="2100" baseline="-10000" dirty="0">
                <a:solidFill>
                  <a:schemeClr val="bg1"/>
                </a:solidFill>
                <a:sym typeface="Symbol" panose="05050102010706020507" pitchFamily="18" charset="2"/>
              </a:rPr>
              <a:t></a:t>
            </a:r>
            <a:r>
              <a:rPr lang="de-DE" altLang="de-DE" sz="1500" baseline="-25000" dirty="0">
                <a:solidFill>
                  <a:schemeClr val="bg1"/>
                </a:solidFill>
              </a:rPr>
              <a:t>2</a:t>
            </a:r>
          </a:p>
        </p:txBody>
      </p:sp>
      <p:sp>
        <p:nvSpPr>
          <p:cNvPr id="68" name="Text Box 14"/>
          <p:cNvSpPr txBox="1">
            <a:spLocks noChangeArrowheads="1"/>
          </p:cNvSpPr>
          <p:nvPr/>
        </p:nvSpPr>
        <p:spPr bwMode="auto">
          <a:xfrm>
            <a:off x="10660077" y="919650"/>
            <a:ext cx="431149" cy="32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808" tIns="48404" rIns="96808" bIns="48404">
            <a:spAutoFit/>
          </a:bodyP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de-DE" altLang="de-DE" sz="1500" dirty="0">
                <a:solidFill>
                  <a:schemeClr val="bg1"/>
                </a:solidFill>
              </a:rPr>
              <a:t>Air</a:t>
            </a:r>
          </a:p>
        </p:txBody>
      </p:sp>
      <p:sp>
        <p:nvSpPr>
          <p:cNvPr id="69" name="AutoShape 47"/>
          <p:cNvSpPr>
            <a:spLocks noChangeArrowheads="1"/>
          </p:cNvSpPr>
          <p:nvPr/>
        </p:nvSpPr>
        <p:spPr bwMode="auto">
          <a:xfrm rot="3444053">
            <a:off x="10443383" y="531506"/>
            <a:ext cx="225425" cy="141288"/>
          </a:xfrm>
          <a:prstGeom prst="rightArrow">
            <a:avLst>
              <a:gd name="adj1" fmla="val 36519"/>
              <a:gd name="adj2" fmla="val 65393"/>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endParaRPr lang="en-US">
              <a:solidFill>
                <a:schemeClr val="bg1"/>
              </a:solidFill>
            </a:endParaRPr>
          </a:p>
        </p:txBody>
      </p:sp>
      <p:sp>
        <p:nvSpPr>
          <p:cNvPr id="70" name="AutoShape 48"/>
          <p:cNvSpPr>
            <a:spLocks noChangeArrowheads="1"/>
          </p:cNvSpPr>
          <p:nvPr/>
        </p:nvSpPr>
        <p:spPr bwMode="auto">
          <a:xfrm rot="3444053">
            <a:off x="10641821" y="531506"/>
            <a:ext cx="225425" cy="141287"/>
          </a:xfrm>
          <a:prstGeom prst="rightArrow">
            <a:avLst>
              <a:gd name="adj1" fmla="val 36519"/>
              <a:gd name="adj2" fmla="val 65394"/>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it-IT"/>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endParaRPr lang="en-US">
              <a:solidFill>
                <a:schemeClr val="bg1"/>
              </a:solidFill>
            </a:endParaRPr>
          </a:p>
        </p:txBody>
      </p:sp>
    </p:spTree>
    <p:extLst>
      <p:ext uri="{BB962C8B-B14F-4D97-AF65-F5344CB8AC3E}">
        <p14:creationId xmlns:p14="http://schemas.microsoft.com/office/powerpoint/2010/main" val="42877283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Catalytic Converters</a:t>
            </a:r>
            <a:br>
              <a:rPr lang="en-US" b="1" dirty="0"/>
            </a:br>
            <a:endParaRPr lang="en-US" dirty="0"/>
          </a:p>
        </p:txBody>
      </p:sp>
      <p:sp>
        <p:nvSpPr>
          <p:cNvPr id="3" name="Content Placeholder 2"/>
          <p:cNvSpPr>
            <a:spLocks noGrp="1"/>
          </p:cNvSpPr>
          <p:nvPr>
            <p:ph idx="1"/>
          </p:nvPr>
        </p:nvSpPr>
        <p:spPr>
          <a:xfrm>
            <a:off x="477974" y="1254034"/>
            <a:ext cx="8148893" cy="4893746"/>
          </a:xfrm>
        </p:spPr>
        <p:txBody>
          <a:bodyPr>
            <a:normAutofit fontScale="92500" lnSpcReduction="10000"/>
          </a:bodyPr>
          <a:lstStyle/>
          <a:p>
            <a:r>
              <a:rPr lang="en-US" dirty="0"/>
              <a:t>A catalytic converter is a vehicle emissions control device which converts toxic byproducts of combustion in the exhaust of an internal combustion engine to less toxic substances by way of catalyzed chemical reactions. </a:t>
            </a:r>
          </a:p>
          <a:p>
            <a:pPr lvl="1"/>
            <a:r>
              <a:rPr lang="en-US" dirty="0"/>
              <a:t> carbon monoxide, </a:t>
            </a:r>
          </a:p>
          <a:p>
            <a:pPr lvl="1"/>
            <a:r>
              <a:rPr lang="en-US" dirty="0"/>
              <a:t>unburned hydrocarbon </a:t>
            </a:r>
          </a:p>
          <a:p>
            <a:pPr lvl="1"/>
            <a:r>
              <a:rPr lang="en-US" dirty="0"/>
              <a:t>oxides of nitrogen. </a:t>
            </a:r>
          </a:p>
          <a:p>
            <a:r>
              <a:rPr lang="en-US" dirty="0"/>
              <a:t>Three stages</a:t>
            </a:r>
          </a:p>
          <a:p>
            <a:pPr lvl="1"/>
            <a:r>
              <a:rPr lang="en-US" dirty="0"/>
              <a:t>The </a:t>
            </a:r>
            <a:r>
              <a:rPr lang="en-US" b="1" dirty="0"/>
              <a:t>reduction catalyst </a:t>
            </a:r>
            <a:r>
              <a:rPr lang="en-US" dirty="0"/>
              <a:t> It uses platinum and rhodium </a:t>
            </a:r>
          </a:p>
          <a:p>
            <a:pPr marL="457200" lvl="1" indent="0">
              <a:buNone/>
            </a:pPr>
            <a:r>
              <a:rPr lang="en-US" dirty="0"/>
              <a:t>to help reduce the NOx emissions</a:t>
            </a:r>
          </a:p>
          <a:p>
            <a:pPr lvl="1"/>
            <a:r>
              <a:rPr lang="en-US" dirty="0"/>
              <a:t>The </a:t>
            </a:r>
            <a:r>
              <a:rPr lang="en-US" b="1" dirty="0"/>
              <a:t>oxidation catalyst</a:t>
            </a:r>
            <a:r>
              <a:rPr lang="en-US" dirty="0"/>
              <a:t> is the, It reduces the unburned </a:t>
            </a:r>
          </a:p>
          <a:p>
            <a:pPr marL="457200" lvl="1" indent="0">
              <a:buNone/>
            </a:pPr>
            <a:r>
              <a:rPr lang="en-US" dirty="0"/>
              <a:t>hydrocarbons and carbon monoxide by burning </a:t>
            </a:r>
          </a:p>
          <a:p>
            <a:pPr marL="457200" lvl="1" indent="0">
              <a:buNone/>
            </a:pPr>
            <a:r>
              <a:rPr lang="en-US" dirty="0"/>
              <a:t>(oxidizing) them over a platinum and palladium catalyst.</a:t>
            </a:r>
          </a:p>
          <a:p>
            <a:pPr lvl="1"/>
            <a:r>
              <a:rPr lang="en-US" b="1" dirty="0"/>
              <a:t>Control system (second oxygen sensor)</a:t>
            </a:r>
            <a:r>
              <a:rPr lang="en-US" dirty="0"/>
              <a:t> </a:t>
            </a:r>
          </a:p>
          <a:p>
            <a:pPr lvl="1"/>
            <a:endParaRPr lang="en-US" dirty="0"/>
          </a:p>
          <a:p>
            <a:pPr lvl="1"/>
            <a:endParaRPr lang="en-US" dirty="0"/>
          </a:p>
        </p:txBody>
      </p:sp>
      <p:pic>
        <p:nvPicPr>
          <p:cNvPr id="5" name="Picture 4">
            <a:extLst>
              <a:ext uri="{FF2B5EF4-FFF2-40B4-BE49-F238E27FC236}">
                <a16:creationId xmlns:a16="http://schemas.microsoft.com/office/drawing/2014/main" id="{DC7CFA8A-4CA4-4463-93A7-17B2698530C2}"/>
              </a:ext>
            </a:extLst>
          </p:cNvPr>
          <p:cNvPicPr>
            <a:picLocks noChangeAspect="1"/>
          </p:cNvPicPr>
          <p:nvPr/>
        </p:nvPicPr>
        <p:blipFill>
          <a:blip r:embed="rId2"/>
          <a:stretch>
            <a:fillRect/>
          </a:stretch>
        </p:blipFill>
        <p:spPr>
          <a:xfrm>
            <a:off x="9730117" y="89167"/>
            <a:ext cx="2461883" cy="6679666"/>
          </a:xfrm>
          <a:prstGeom prst="rect">
            <a:avLst/>
          </a:prstGeom>
        </p:spPr>
      </p:pic>
    </p:spTree>
    <p:extLst>
      <p:ext uri="{BB962C8B-B14F-4D97-AF65-F5344CB8AC3E}">
        <p14:creationId xmlns:p14="http://schemas.microsoft.com/office/powerpoint/2010/main" val="4258367466"/>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852</TotalTime>
  <Words>4658</Words>
  <Application>Microsoft Office PowerPoint</Application>
  <PresentationFormat>Widescreen</PresentationFormat>
  <Paragraphs>593</Paragraphs>
  <Slides>59</Slides>
  <Notes>20</Notes>
  <HiddenSlides>2</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Depth</vt:lpstr>
      <vt:lpstr>Engine Control System</vt:lpstr>
      <vt:lpstr>Introduction to system</vt:lpstr>
      <vt:lpstr>Introduction to system</vt:lpstr>
      <vt:lpstr>Introduction to control system </vt:lpstr>
      <vt:lpstr>Types of control </vt:lpstr>
      <vt:lpstr>Types of responses</vt:lpstr>
      <vt:lpstr>Step test / step response</vt:lpstr>
      <vt:lpstr>PID controller</vt:lpstr>
      <vt:lpstr>PID Controller part 2</vt:lpstr>
      <vt:lpstr>PowerPoint Presentation</vt:lpstr>
      <vt:lpstr>PowerPoint Presentation</vt:lpstr>
      <vt:lpstr>PID Tuning </vt:lpstr>
      <vt:lpstr>Guess And Check</vt:lpstr>
      <vt:lpstr>Ziegler-Nichols</vt:lpstr>
      <vt:lpstr>Practical task </vt:lpstr>
      <vt:lpstr>Energy used by vehicle</vt:lpstr>
      <vt:lpstr>Rolling resistance coefficient</vt:lpstr>
      <vt:lpstr>PowerPoint Presentation</vt:lpstr>
      <vt:lpstr>Internal Combustion Engine</vt:lpstr>
      <vt:lpstr>Otto-Cycle</vt:lpstr>
      <vt:lpstr>PowerPoint Presentation</vt:lpstr>
      <vt:lpstr>Diesel-cycle</vt:lpstr>
      <vt:lpstr>ICE</vt:lpstr>
      <vt:lpstr>Engine Control System</vt:lpstr>
      <vt:lpstr>Engine Control system functions</vt:lpstr>
      <vt:lpstr>How these is achieved </vt:lpstr>
      <vt:lpstr>Subsystems</vt:lpstr>
      <vt:lpstr>Control strategy.</vt:lpstr>
      <vt:lpstr>Models of Electrical and Electronic architecture</vt:lpstr>
      <vt:lpstr>Automotive sensors</vt:lpstr>
      <vt:lpstr>Sensor requirements </vt:lpstr>
      <vt:lpstr>Basic CE control system</vt:lpstr>
      <vt:lpstr>Position and angular position sensors</vt:lpstr>
      <vt:lpstr>Throttle Position Sensor (TPS)</vt:lpstr>
      <vt:lpstr>Wear less sensors</vt:lpstr>
      <vt:lpstr>Temperature Sensors </vt:lpstr>
      <vt:lpstr>Load sensor (Mass Flowmeters) </vt:lpstr>
      <vt:lpstr>Fuel Injection system </vt:lpstr>
      <vt:lpstr>Mechanical systems</vt:lpstr>
      <vt:lpstr>Single point injection system</vt:lpstr>
      <vt:lpstr>Multipoint Injection System</vt:lpstr>
      <vt:lpstr>Direct Injection</vt:lpstr>
      <vt:lpstr>Fuel Injector</vt:lpstr>
      <vt:lpstr>Fuel Injection system Basic principals </vt:lpstr>
      <vt:lpstr>Activation of fuel</vt:lpstr>
      <vt:lpstr>Injection spray geometry</vt:lpstr>
      <vt:lpstr>Ignition Timing</vt:lpstr>
      <vt:lpstr>Sparking plug</vt:lpstr>
      <vt:lpstr>Prototypes Corona Sparking Plug</vt:lpstr>
      <vt:lpstr>Ignition system </vt:lpstr>
      <vt:lpstr>Effect of ignition timing on exhaust gases and fuel consumption</vt:lpstr>
      <vt:lpstr>Functions of ignition system </vt:lpstr>
      <vt:lpstr>Ignition coil</vt:lpstr>
      <vt:lpstr>Contact Breaking ignition</vt:lpstr>
      <vt:lpstr>Types of Ignition System</vt:lpstr>
      <vt:lpstr>Evaporative Emission system</vt:lpstr>
      <vt:lpstr>Lambda control</vt:lpstr>
      <vt:lpstr>Oxygen sensor </vt:lpstr>
      <vt:lpstr>Catalytic Converters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 Control System</dc:title>
  <dc:creator>Rozhdestvenskiy, Dmitry</dc:creator>
  <cp:lastModifiedBy>Dmitry Rozhdestvenskiy</cp:lastModifiedBy>
  <cp:revision>151</cp:revision>
  <dcterms:created xsi:type="dcterms:W3CDTF">2019-10-07T07:40:37Z</dcterms:created>
  <dcterms:modified xsi:type="dcterms:W3CDTF">2025-10-20T11:34:43Z</dcterms:modified>
</cp:coreProperties>
</file>