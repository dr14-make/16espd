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1" r:id="rId4"/>
    <p:sldId id="259" r:id="rId5"/>
    <p:sldId id="262" r:id="rId6"/>
    <p:sldId id="264" r:id="rId7"/>
    <p:sldId id="257" r:id="rId8"/>
    <p:sldId id="260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22226F-07A8-41DF-A0AC-10D885FFBE22}" v="417" dt="2025-09-22T10:09:42.4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283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zhdestvenskiy Dmitry" userId="QlsB8TQ4SwxziyIkir98HzQklI6Ljd5J3lV5OFoV6j4=" providerId="None" clId="Web-{3322226F-07A8-41DF-A0AC-10D885FFBE22}"/>
    <pc:docChg chg="modSld sldOrd">
      <pc:chgData name="Rozhdestvenskiy Dmitry" userId="QlsB8TQ4SwxziyIkir98HzQklI6Ljd5J3lV5OFoV6j4=" providerId="None" clId="Web-{3322226F-07A8-41DF-A0AC-10D885FFBE22}" dt="2025-09-22T10:09:42.484" v="422" actId="1076"/>
      <pc:docMkLst>
        <pc:docMk/>
      </pc:docMkLst>
      <pc:sldChg chg="modSp">
        <pc:chgData name="Rozhdestvenskiy Dmitry" userId="QlsB8TQ4SwxziyIkir98HzQklI6Ljd5J3lV5OFoV6j4=" providerId="None" clId="Web-{3322226F-07A8-41DF-A0AC-10D885FFBE22}" dt="2025-09-22T10:09:16.436" v="418"/>
        <pc:sldMkLst>
          <pc:docMk/>
          <pc:sldMk cId="1185840936" sldId="257"/>
        </pc:sldMkLst>
        <pc:graphicFrameChg chg="mod modGraphic">
          <ac:chgData name="Rozhdestvenskiy Dmitry" userId="QlsB8TQ4SwxziyIkir98HzQklI6Ljd5J3lV5OFoV6j4=" providerId="None" clId="Web-{3322226F-07A8-41DF-A0AC-10D885FFBE22}" dt="2025-09-22T10:09:16.436" v="418"/>
          <ac:graphicFrameMkLst>
            <pc:docMk/>
            <pc:sldMk cId="1185840936" sldId="257"/>
            <ac:graphicFrameMk id="4" creationId="{00000000-0000-0000-0000-000000000000}"/>
          </ac:graphicFrameMkLst>
        </pc:graphicFrameChg>
      </pc:sldChg>
      <pc:sldChg chg="modSp">
        <pc:chgData name="Rozhdestvenskiy Dmitry" userId="QlsB8TQ4SwxziyIkir98HzQklI6Ljd5J3lV5OFoV6j4=" providerId="None" clId="Web-{3322226F-07A8-41DF-A0AC-10D885FFBE22}" dt="2025-09-22T10:08:04.638" v="288" actId="20577"/>
        <pc:sldMkLst>
          <pc:docMk/>
          <pc:sldMk cId="563772344" sldId="259"/>
        </pc:sldMkLst>
        <pc:spChg chg="mod">
          <ac:chgData name="Rozhdestvenskiy Dmitry" userId="QlsB8TQ4SwxziyIkir98HzQklI6Ljd5J3lV5OFoV6j4=" providerId="None" clId="Web-{3322226F-07A8-41DF-A0AC-10D885FFBE22}" dt="2025-09-22T10:08:04.638" v="288" actId="20577"/>
          <ac:spMkLst>
            <pc:docMk/>
            <pc:sldMk cId="563772344" sldId="259"/>
            <ac:spMk id="3" creationId="{00000000-0000-0000-0000-000000000000}"/>
          </ac:spMkLst>
        </pc:spChg>
      </pc:sldChg>
      <pc:sldChg chg="modSp">
        <pc:chgData name="Rozhdestvenskiy Dmitry" userId="QlsB8TQ4SwxziyIkir98HzQklI6Ljd5J3lV5OFoV6j4=" providerId="None" clId="Web-{3322226F-07A8-41DF-A0AC-10D885FFBE22}" dt="2025-09-22T10:09:42.484" v="422" actId="1076"/>
        <pc:sldMkLst>
          <pc:docMk/>
          <pc:sldMk cId="3595289902" sldId="263"/>
        </pc:sldMkLst>
        <pc:picChg chg="mod">
          <ac:chgData name="Rozhdestvenskiy Dmitry" userId="QlsB8TQ4SwxziyIkir98HzQklI6Ljd5J3lV5OFoV6j4=" providerId="None" clId="Web-{3322226F-07A8-41DF-A0AC-10D885FFBE22}" dt="2025-09-22T10:09:42.484" v="422" actId="1076"/>
          <ac:picMkLst>
            <pc:docMk/>
            <pc:sldMk cId="3595289902" sldId="263"/>
            <ac:picMk id="4" creationId="{00000000-0000-0000-0000-000000000000}"/>
          </ac:picMkLst>
        </pc:picChg>
      </pc:sldChg>
      <pc:sldChg chg="delSp modSp ord">
        <pc:chgData name="Rozhdestvenskiy Dmitry" userId="QlsB8TQ4SwxziyIkir98HzQklI6Ljd5J3lV5OFoV6j4=" providerId="None" clId="Web-{3322226F-07A8-41DF-A0AC-10D885FFBE22}" dt="2025-09-22T10:09:22.843" v="419"/>
        <pc:sldMkLst>
          <pc:docMk/>
          <pc:sldMk cId="1320621887" sldId="264"/>
        </pc:sldMkLst>
        <pc:spChg chg="mod">
          <ac:chgData name="Rozhdestvenskiy Dmitry" userId="QlsB8TQ4SwxziyIkir98HzQklI6Ljd5J3lV5OFoV6j4=" providerId="None" clId="Web-{3322226F-07A8-41DF-A0AC-10D885FFBE22}" dt="2025-09-22T10:06:22.932" v="181" actId="20577"/>
          <ac:spMkLst>
            <pc:docMk/>
            <pc:sldMk cId="1320621887" sldId="264"/>
            <ac:spMk id="3" creationId="{00000000-0000-0000-0000-000000000000}"/>
          </ac:spMkLst>
        </pc:spChg>
        <pc:picChg chg="del">
          <ac:chgData name="Rozhdestvenskiy Dmitry" userId="QlsB8TQ4SwxziyIkir98HzQklI6Ljd5J3lV5OFoV6j4=" providerId="None" clId="Web-{3322226F-07A8-41DF-A0AC-10D885FFBE22}" dt="2025-09-22T10:03:54.270" v="1"/>
          <ac:picMkLst>
            <pc:docMk/>
            <pc:sldMk cId="1320621887" sldId="264"/>
            <ac:picMk id="4" creationId="{00000000-0000-0000-0000-000000000000}"/>
          </ac:picMkLst>
        </pc:picChg>
        <pc:picChg chg="del">
          <ac:chgData name="Rozhdestvenskiy Dmitry" userId="QlsB8TQ4SwxziyIkir98HzQklI6Ljd5J3lV5OFoV6j4=" providerId="None" clId="Web-{3322226F-07A8-41DF-A0AC-10D885FFBE22}" dt="2025-09-22T10:03:52.067" v="0"/>
          <ac:picMkLst>
            <pc:docMk/>
            <pc:sldMk cId="1320621887" sldId="264"/>
            <ac:picMk id="6" creationId="{00000000-0000-0000-0000-000000000000}"/>
          </ac:picMkLst>
        </pc:picChg>
      </pc:sldChg>
    </pc:docChg>
  </pc:docChgLst>
  <pc:docChgLst>
    <pc:chgData name="Rozhdestvenskiy Dmitry" userId="QlsB8TQ4SwxziyIkir98HzQklI6Ljd5J3lV5OFoV6j4=" providerId="None" clId="Web-{BFF7F385-1724-4DA0-B45D-D363A15B7C26}"/>
    <pc:docChg chg="modSld">
      <pc:chgData name="Rozhdestvenskiy Dmitry" userId="QlsB8TQ4SwxziyIkir98HzQklI6Ljd5J3lV5OFoV6j4=" providerId="None" clId="Web-{BFF7F385-1724-4DA0-B45D-D363A15B7C26}" dt="2024-09-23T08:42:25.759" v="165"/>
      <pc:docMkLst>
        <pc:docMk/>
      </pc:docMkLst>
      <pc:sldChg chg="modSp">
        <pc:chgData name="Rozhdestvenskiy Dmitry" userId="QlsB8TQ4SwxziyIkir98HzQklI6Ljd5J3lV5OFoV6j4=" providerId="None" clId="Web-{BFF7F385-1724-4DA0-B45D-D363A15B7C26}" dt="2024-09-23T08:42:25.759" v="165"/>
        <pc:sldMkLst>
          <pc:docMk/>
          <pc:sldMk cId="1185840936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FB467-6715-4479-832E-581E6D316A48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CAD2BB-69C5-4752-B21A-ED5E4BCC2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90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9/22/2025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290836"/>
            <a:ext cx="9144000" cy="164149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2469424"/>
            <a:ext cx="9144000" cy="754025"/>
          </a:xfrm>
        </p:spPr>
        <p:txBody>
          <a:bodyPr/>
          <a:lstStyle/>
          <a:p>
            <a:r>
              <a:rPr lang="en-US" dirty="0"/>
              <a:t>Vehicle systems 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209800" y="5480043"/>
            <a:ext cx="9144000" cy="754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Ing</a:t>
            </a:r>
            <a:r>
              <a:rPr lang="en-US" dirty="0"/>
              <a:t>. </a:t>
            </a:r>
            <a:r>
              <a:rPr lang="en-US" dirty="0" err="1"/>
              <a:t>Rozhdestvenskiy</a:t>
            </a:r>
            <a:r>
              <a:rPr lang="en-US" dirty="0"/>
              <a:t> Dmitry </a:t>
            </a:r>
          </a:p>
        </p:txBody>
      </p:sp>
    </p:spTree>
    <p:extLst>
      <p:ext uri="{BB962C8B-B14F-4D97-AF65-F5344CB8AC3E}">
        <p14:creationId xmlns:p14="http://schemas.microsoft.com/office/powerpoint/2010/main" val="416130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Doc. </a:t>
            </a:r>
            <a:r>
              <a:rPr lang="en-US" dirty="0" err="1"/>
              <a:t>Ing</a:t>
            </a:r>
            <a:r>
              <a:rPr lang="en-US" dirty="0"/>
              <a:t>. Petr </a:t>
            </a:r>
            <a:r>
              <a:rPr lang="en-US" dirty="0" err="1"/>
              <a:t>Bouchner</a:t>
            </a:r>
            <a:r>
              <a:rPr lang="en-US" dirty="0"/>
              <a:t> Ph.D. </a:t>
            </a:r>
          </a:p>
          <a:p>
            <a:pPr lvl="1"/>
            <a:r>
              <a:rPr lang="en-US" dirty="0"/>
              <a:t>Email: bouchner@lss.fd.cvut.cz </a:t>
            </a:r>
          </a:p>
          <a:p>
            <a:pPr lvl="1"/>
            <a:r>
              <a:rPr lang="en-US" dirty="0"/>
              <a:t>Room: A-348  (Building </a:t>
            </a:r>
            <a:r>
              <a:rPr lang="en-US" dirty="0" err="1"/>
              <a:t>Horska</a:t>
            </a:r>
            <a:r>
              <a:rPr lang="en-US" dirty="0"/>
              <a:t> 3)</a:t>
            </a:r>
          </a:p>
          <a:p>
            <a:pPr lvl="1"/>
            <a:r>
              <a:rPr lang="en-US" dirty="0"/>
              <a:t>Office hours (email arrangement)</a:t>
            </a:r>
          </a:p>
          <a:p>
            <a:r>
              <a:rPr lang="en-US" dirty="0" err="1"/>
              <a:t>Ing</a:t>
            </a:r>
            <a:r>
              <a:rPr lang="en-US" dirty="0"/>
              <a:t>. Rozhdestvenskiy Dmitry Ph.D.</a:t>
            </a:r>
          </a:p>
          <a:p>
            <a:pPr lvl="1"/>
            <a:r>
              <a:rPr lang="en-US" dirty="0"/>
              <a:t>Email: rozhddmi@fd.cvut.cz</a:t>
            </a:r>
          </a:p>
          <a:p>
            <a:pPr lvl="1"/>
            <a:r>
              <a:rPr lang="en-US" dirty="0"/>
              <a:t>Room: A-346  (Building </a:t>
            </a:r>
            <a:r>
              <a:rPr lang="en-US" dirty="0" err="1"/>
              <a:t>Horska</a:t>
            </a:r>
            <a:r>
              <a:rPr lang="en-US" dirty="0"/>
              <a:t> 3)</a:t>
            </a:r>
          </a:p>
          <a:p>
            <a:pPr lvl="1"/>
            <a:r>
              <a:rPr lang="en-US" dirty="0"/>
              <a:t>Mondays only.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Lectors </a:t>
            </a:r>
          </a:p>
        </p:txBody>
      </p:sp>
    </p:spTree>
    <p:extLst>
      <p:ext uri="{BB962C8B-B14F-4D97-AF65-F5344CB8AC3E}">
        <p14:creationId xmlns:p14="http://schemas.microsoft.com/office/powerpoint/2010/main" val="2866664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</a:t>
            </a:r>
            <a:r>
              <a:rPr lang="en-US" dirty="0" err="1"/>
              <a:t>intrudoction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Please stand up and tell us about yourself.</a:t>
            </a:r>
          </a:p>
          <a:p>
            <a:pPr lvl="1"/>
            <a:r>
              <a:rPr lang="en-US" sz="1800" dirty="0"/>
              <a:t>Where are you from</a:t>
            </a:r>
          </a:p>
          <a:p>
            <a:pPr lvl="1"/>
            <a:r>
              <a:rPr lang="en-US" sz="1800" dirty="0"/>
              <a:t>Background</a:t>
            </a:r>
          </a:p>
          <a:p>
            <a:pPr lvl="1"/>
            <a:r>
              <a:rPr lang="en-US" sz="1800" dirty="0"/>
              <a:t>Area of interest / master thesis topic (if have one)</a:t>
            </a:r>
          </a:p>
          <a:p>
            <a:pPr lvl="1"/>
            <a:r>
              <a:rPr lang="en-US" sz="1800" dirty="0"/>
              <a:t>What do you want to get from this subject.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383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Conditions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gradFill>
                  <a:gsLst>
                    <a:gs pos="0">
                      <a:prstClr val="black">
                        <a:lumMod val="25000"/>
                        <a:lumOff val="75000"/>
                      </a:prstClr>
                    </a:gs>
                    <a:gs pos="34000">
                      <a:prstClr val="white">
                        <a:lumMod val="93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Attendance 80%</a:t>
            </a:r>
          </a:p>
          <a:p>
            <a:pPr lvl="1"/>
            <a:r>
              <a:rPr lang="en-US" dirty="0">
                <a:gradFill>
                  <a:gsLst>
                    <a:gs pos="0">
                      <a:prstClr val="black">
                        <a:lumMod val="25000"/>
                        <a:lumOff val="75000"/>
                      </a:prstClr>
                    </a:gs>
                    <a:gs pos="34000">
                      <a:prstClr val="white">
                        <a:lumMod val="93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Oral questions during the exam on a topic of missed lectures</a:t>
            </a:r>
          </a:p>
          <a:p>
            <a:r>
              <a:rPr lang="en-US" dirty="0">
                <a:gradFill>
                  <a:gsLst>
                    <a:gs pos="0">
                      <a:prstClr val="black">
                        <a:lumMod val="25000"/>
                        <a:lumOff val="75000"/>
                      </a:prstClr>
                    </a:gs>
                    <a:gs pos="34000">
                      <a:prstClr val="white">
                        <a:lumMod val="93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Preparation presentation on a State-of-the-art IVS</a:t>
            </a:r>
          </a:p>
          <a:p>
            <a:pPr lvl="1"/>
            <a:r>
              <a:rPr lang="en-US" dirty="0">
                <a:gradFill>
                  <a:gsLst>
                    <a:gs pos="0">
                      <a:prstClr val="black">
                        <a:lumMod val="25000"/>
                        <a:lumOff val="75000"/>
                      </a:prstClr>
                    </a:gs>
                    <a:gs pos="34000">
                      <a:prstClr val="white">
                        <a:lumMod val="93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5 – 10 minute presentation in front of the class (last lecture)</a:t>
            </a:r>
          </a:p>
          <a:p>
            <a:pPr lvl="1"/>
            <a:r>
              <a:rPr lang="en-US" dirty="0">
                <a:gradFill>
                  <a:gsLst>
                    <a:gs pos="0">
                      <a:prstClr val="black">
                        <a:lumMod val="25000"/>
                        <a:lumOff val="75000"/>
                      </a:prstClr>
                    </a:gs>
                    <a:gs pos="34000">
                      <a:prstClr val="white">
                        <a:lumMod val="93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5 questions with multiple choice answers (one of them will be included in the final test)</a:t>
            </a:r>
          </a:p>
          <a:p>
            <a:r>
              <a:rPr lang="en-US" dirty="0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Practice (Develop a vehicle simulation system )</a:t>
            </a:r>
          </a:p>
          <a:p>
            <a:pPr lvl="1"/>
            <a:r>
              <a:rPr lang="en-US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Brake into 4 teams </a:t>
            </a:r>
            <a:endParaRPr lang="en-US">
              <a:gradFill>
                <a:gsLst>
                  <a:gs pos="0">
                    <a:prstClr val="black">
                      <a:lumMod val="25000"/>
                      <a:lumOff val="75000"/>
                    </a:prstClr>
                  </a:gs>
                  <a:gs pos="34000">
                    <a:prstClr val="white">
                      <a:lumMod val="93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4800000" scaled="0"/>
              </a:gradFill>
            </a:endParaRPr>
          </a:p>
          <a:p>
            <a:pPr lvl="1"/>
            <a:r>
              <a:rPr lang="en-US" dirty="0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Collaboration via GitHub repositories</a:t>
            </a:r>
          </a:p>
          <a:p>
            <a:pPr lvl="2"/>
            <a:r>
              <a:rPr lang="en-US" dirty="0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Tasks are delivered as a Pull Requests</a:t>
            </a:r>
          </a:p>
          <a:p>
            <a:r>
              <a:rPr lang="en-US" dirty="0">
                <a:gradFill>
                  <a:gsLst>
                    <a:gs pos="0">
                      <a:prstClr val="black">
                        <a:lumMod val="25000"/>
                        <a:lumOff val="75000"/>
                      </a:prstClr>
                    </a:gs>
                    <a:gs pos="34000">
                      <a:prstClr val="white">
                        <a:lumMod val="93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Final examination</a:t>
            </a:r>
          </a:p>
          <a:p>
            <a:pPr lvl="1"/>
            <a:r>
              <a:rPr lang="en-US" dirty="0">
                <a:gradFill>
                  <a:gsLst>
                    <a:gs pos="0">
                      <a:prstClr val="black">
                        <a:lumMod val="25000"/>
                        <a:lumOff val="75000"/>
                      </a:prstClr>
                    </a:gs>
                    <a:gs pos="34000">
                      <a:prstClr val="white">
                        <a:lumMod val="93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Multiple choice test approximately 30 questions.</a:t>
            </a:r>
          </a:p>
          <a:p>
            <a:pPr lvl="1"/>
            <a:r>
              <a:rPr lang="en-US" dirty="0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Oral examination if not satisfied with the </a:t>
            </a:r>
            <a:r>
              <a:rPr lang="en-US" dirty="0" err="1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assesment</a:t>
            </a:r>
            <a:r>
              <a:rPr lang="en-US" dirty="0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3772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Subject goals and 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347" y="1690687"/>
            <a:ext cx="9029794" cy="508905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Goal of the course is to give you a knowledge about </a:t>
            </a:r>
          </a:p>
          <a:p>
            <a:pPr lvl="1"/>
            <a:r>
              <a:rPr lang="en-US" dirty="0"/>
              <a:t>Basic features of regulatory technology and theory of control.</a:t>
            </a:r>
          </a:p>
          <a:p>
            <a:pPr lvl="1"/>
            <a:r>
              <a:rPr lang="en-US" dirty="0"/>
              <a:t>Dynamic properties of a vehicle and driver as a regulator</a:t>
            </a:r>
          </a:p>
          <a:p>
            <a:pPr lvl="1"/>
            <a:r>
              <a:rPr lang="en-US" dirty="0"/>
              <a:t> Car communication bus</a:t>
            </a:r>
          </a:p>
          <a:p>
            <a:pPr lvl="1"/>
            <a:r>
              <a:rPr lang="en-US" dirty="0"/>
              <a:t>Electric cars and its components. DC devices, asynchronous engines, synchronous engines - principles, construction, elementary features and operation</a:t>
            </a:r>
          </a:p>
          <a:p>
            <a:pPr lvl="1"/>
            <a:r>
              <a:rPr lang="en-US" dirty="0"/>
              <a:t>Hybrid drive system. </a:t>
            </a:r>
          </a:p>
          <a:p>
            <a:pPr lvl="1"/>
            <a:r>
              <a:rPr lang="en-US" dirty="0"/>
              <a:t>Control, safety, communication and comfort electronic</a:t>
            </a:r>
          </a:p>
          <a:p>
            <a:pPr marL="457200" lvl="1" indent="0">
              <a:buNone/>
            </a:pPr>
            <a:r>
              <a:rPr lang="en-US" dirty="0"/>
              <a:t>    systems in a car. </a:t>
            </a:r>
          </a:p>
          <a:p>
            <a:r>
              <a:rPr lang="en-US" dirty="0"/>
              <a:t>Typical Lecture structure</a:t>
            </a:r>
          </a:p>
          <a:p>
            <a:pPr lvl="1"/>
            <a:r>
              <a:rPr lang="en-US" dirty="0"/>
              <a:t>Introduction  (purpose, functions)</a:t>
            </a:r>
          </a:p>
          <a:p>
            <a:pPr lvl="1"/>
            <a:r>
              <a:rPr lang="en-US" dirty="0"/>
              <a:t>Physics behind the system</a:t>
            </a:r>
          </a:p>
          <a:p>
            <a:pPr lvl="1"/>
            <a:r>
              <a:rPr lang="en-US" dirty="0"/>
              <a:t>Description of main components</a:t>
            </a:r>
          </a:p>
          <a:p>
            <a:pPr lvl="1"/>
            <a:r>
              <a:rPr lang="en-US" dirty="0"/>
              <a:t>Description of </a:t>
            </a:r>
            <a:r>
              <a:rPr lang="en-US" dirty="0" err="1"/>
              <a:t>algoritms</a:t>
            </a:r>
            <a:r>
              <a:rPr lang="en-US" dirty="0"/>
              <a:t> and control strategy</a:t>
            </a:r>
          </a:p>
          <a:p>
            <a:r>
              <a:rPr lang="en-US" dirty="0"/>
              <a:t>Typical Practice structure</a:t>
            </a:r>
          </a:p>
          <a:p>
            <a:pPr lvl="1"/>
            <a:r>
              <a:rPr lang="en-US" dirty="0"/>
              <a:t>Remainder of the theory behind</a:t>
            </a:r>
          </a:p>
          <a:p>
            <a:pPr lvl="1"/>
            <a:r>
              <a:rPr lang="en-US" dirty="0"/>
              <a:t>Creation of the model (guided by me)</a:t>
            </a:r>
          </a:p>
          <a:p>
            <a:pPr lvl="1"/>
            <a:r>
              <a:rPr lang="en-US" dirty="0"/>
              <a:t>“Playing” with model to achieve desired task</a:t>
            </a:r>
          </a:p>
          <a:p>
            <a:pPr lvl="1"/>
            <a:r>
              <a:rPr lang="en-US" dirty="0"/>
              <a:t>Writing a small report </a:t>
            </a:r>
            <a:r>
              <a:rPr lang="en-US" dirty="0" err="1"/>
              <a:t>cca</a:t>
            </a:r>
            <a:r>
              <a:rPr lang="en-US" dirty="0"/>
              <a:t> 0.5 – 1 page at home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974" y="1690688"/>
            <a:ext cx="4588871" cy="4202157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isometricOffAxis2Left"/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3995255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598187"/>
            <a:ext cx="102338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DYAD </a:t>
            </a:r>
            <a:r>
              <a:rPr lang="en-US" err="1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JuliaSim</a:t>
            </a:r>
            <a:r>
              <a:rPr lang="en-US" dirty="0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, We are going to develop a library to test different </a:t>
            </a:r>
            <a:r>
              <a:rPr lang="en-US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vehicle systems </a:t>
            </a:r>
            <a:endParaRPr lang="en-US">
              <a:gradFill>
                <a:gsLst>
                  <a:gs pos="0">
                    <a:prstClr val="black">
                      <a:lumMod val="25000"/>
                      <a:lumOff val="75000"/>
                    </a:prstClr>
                  </a:gs>
                  <a:gs pos="34000">
                    <a:prstClr val="white">
                      <a:lumMod val="93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4800000" scaled="0"/>
              </a:gradFill>
            </a:endParaRPr>
          </a:p>
          <a:p>
            <a:pPr lvl="1"/>
            <a:r>
              <a:rPr lang="en-US" dirty="0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Focus on 1D vehicle motion only</a:t>
            </a:r>
          </a:p>
          <a:p>
            <a:pPr lvl="2"/>
            <a:r>
              <a:rPr lang="en-US" dirty="0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Engine</a:t>
            </a:r>
          </a:p>
          <a:p>
            <a:pPr lvl="2"/>
            <a:r>
              <a:rPr lang="en-US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Wheels</a:t>
            </a:r>
            <a:endParaRPr lang="en-US" dirty="0">
              <a:gradFill>
                <a:gsLst>
                  <a:gs pos="0">
                    <a:srgbClr val="000000"/>
                  </a:gs>
                  <a:gs pos="34000">
                    <a:srgbClr val="FFFFFF"/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4800000" scaled="0"/>
              </a:gradFill>
            </a:endParaRPr>
          </a:p>
          <a:p>
            <a:pPr lvl="2"/>
            <a:r>
              <a:rPr lang="en-US" dirty="0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Transmission</a:t>
            </a:r>
          </a:p>
          <a:p>
            <a:pPr lvl="2"/>
            <a:r>
              <a:rPr lang="en-US" dirty="0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Brakes</a:t>
            </a:r>
          </a:p>
          <a:p>
            <a:pPr lvl="2"/>
            <a:r>
              <a:rPr lang="en-US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Driver</a:t>
            </a:r>
            <a:endParaRPr lang="en-US" dirty="0">
              <a:gradFill>
                <a:gsLst>
                  <a:gs pos="0">
                    <a:srgbClr val="000000"/>
                  </a:gs>
                  <a:gs pos="34000">
                    <a:srgbClr val="FFFFFF"/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4800000" scaled="0"/>
              </a:gradFill>
            </a:endParaRPr>
          </a:p>
          <a:p>
            <a:pPr lvl="1"/>
            <a:r>
              <a:rPr lang="en-US" dirty="0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Develop main components and preform a set of simulations</a:t>
            </a:r>
          </a:p>
          <a:p>
            <a:pPr lvl="2"/>
            <a:r>
              <a:rPr lang="en-US" dirty="0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Adaptive Cruise Control</a:t>
            </a:r>
          </a:p>
          <a:p>
            <a:pPr lvl="2"/>
            <a:r>
              <a:rPr lang="en-US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</a:rPr>
              <a:t>ABS system and control</a:t>
            </a:r>
            <a:endParaRPr lang="en-US" dirty="0">
              <a:gradFill>
                <a:gsLst>
                  <a:gs pos="0">
                    <a:srgbClr val="000000"/>
                  </a:gs>
                  <a:gs pos="34000">
                    <a:srgbClr val="FFFFFF"/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4800000" scaled="0"/>
              </a:gradFill>
            </a:endParaRPr>
          </a:p>
          <a:p>
            <a:r>
              <a:rPr lang="en-US" dirty="0">
                <a:gradFill>
                  <a:gsLst>
                    <a:gs pos="0">
                      <a:srgbClr val="000000"/>
                    </a:gs>
                    <a:gs pos="34000">
                      <a:srgbClr val="FFFFFF"/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4800000" scaled="0"/>
                </a:gradFill>
                <a:ea typeface="+mn-lt"/>
                <a:cs typeface="+mn-lt"/>
              </a:rPr>
              <a:t>https://help.juliahub.com/dyad/dev/</a:t>
            </a:r>
            <a:endParaRPr lang="en-US" dirty="0">
              <a:gradFill>
                <a:gsLst>
                  <a:gs pos="0">
                    <a:srgbClr val="000000"/>
                  </a:gs>
                  <a:gs pos="34000">
                    <a:srgbClr val="FFFFFF"/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48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320621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997354"/>
              </p:ext>
            </p:extLst>
          </p:nvPr>
        </p:nvGraphicFramePr>
        <p:xfrm>
          <a:off x="1137252" y="569106"/>
          <a:ext cx="10233024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0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0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Practical</a:t>
                      </a:r>
                      <a:r>
                        <a:rPr lang="en-US" baseline="0" dirty="0"/>
                        <a:t> tasks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0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 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08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PID</a:t>
                      </a:r>
                      <a:r>
                        <a:rPr lang="en-US" baseline="0" dirty="0"/>
                        <a:t> Controllers and Vehicle Dynamics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08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Introduction to DYAD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08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Engine</a:t>
                      </a:r>
                      <a:r>
                        <a:rPr lang="en-US" baseline="0" dirty="0"/>
                        <a:t> systems </a:t>
                      </a:r>
                      <a:r>
                        <a:rPr lang="en-US" dirty="0"/>
                        <a:t>CAN BUS</a:t>
                      </a:r>
                      <a:r>
                        <a:rPr lang="en-US" baseline="0" dirty="0"/>
                        <a:t> interface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0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USB CAN BUS, </a:t>
                      </a:r>
                      <a:r>
                        <a:rPr lang="en-US" dirty="0"/>
                        <a:t>Engine modeling WAVE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08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Active and Passive</a:t>
                      </a:r>
                      <a:r>
                        <a:rPr lang="en-US" baseline="0" dirty="0"/>
                        <a:t> Safety system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08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Corbel"/>
                        </a:rPr>
                        <a:t>PID controllers ,Vehicles resistance 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08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Driver comfort and Assistant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308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class work on the </a:t>
                      </a:r>
                      <a:r>
                        <a:rPr lang="en-US" dirty="0" err="1"/>
                        <a:t>assisment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30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Hybrid and</a:t>
                      </a:r>
                      <a:r>
                        <a:rPr lang="en-US" baseline="0" dirty="0"/>
                        <a:t> Electric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30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Corbel"/>
                        </a:rPr>
                        <a:t>In class work on the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Corbel"/>
                        </a:rPr>
                        <a:t>assisment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3084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orbe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Fuel Cells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160379"/>
                  </a:ext>
                </a:extLst>
              </a:tr>
              <a:tr h="3630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Autonomous vehicle Student presentations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30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</a:t>
                      </a:r>
                      <a:r>
                        <a:rPr lang="en-US" baseline="0" dirty="0"/>
                        <a:t> exam term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840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John Lowry, James </a:t>
            </a:r>
            <a:r>
              <a:rPr lang="en-US" dirty="0" err="1"/>
              <a:t>Larmine</a:t>
            </a:r>
            <a:r>
              <a:rPr lang="en-US" dirty="0"/>
              <a:t>, Electric vehicles technology explained </a:t>
            </a:r>
          </a:p>
          <a:p>
            <a:r>
              <a:rPr lang="en-US" dirty="0" err="1"/>
              <a:t>Kuo</a:t>
            </a:r>
            <a:r>
              <a:rPr lang="en-US" dirty="0"/>
              <a:t> B. C.: Digital Control Systems.</a:t>
            </a:r>
          </a:p>
          <a:p>
            <a:r>
              <a:rPr lang="en-US" b="1" dirty="0"/>
              <a:t>Bosch Automotive Handbook, 9th Edition </a:t>
            </a:r>
            <a:r>
              <a:rPr lang="en-US" dirty="0"/>
              <a:t>Published by Robert Bosch with a Product Code of BOSCH, ISBN of 978-0-7680-8152-7, </a:t>
            </a:r>
          </a:p>
          <a:p>
            <a:r>
              <a:rPr lang="en-US" dirty="0" err="1"/>
              <a:t>Iqbai</a:t>
            </a:r>
            <a:r>
              <a:rPr lang="en-US" dirty="0"/>
              <a:t> Husain Electric and Hybrid Vehicles Design Fundamentals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456" y="4659521"/>
            <a:ext cx="1477960" cy="1998692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535" y="4230566"/>
            <a:ext cx="1631342" cy="2357379"/>
          </a:xfrm>
          <a:prstGeom prst="rect">
            <a:avLst/>
          </a:prstGeo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97" y="4476345"/>
            <a:ext cx="1480308" cy="2224507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18307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all for now see you next week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986" y="1539081"/>
            <a:ext cx="7534275" cy="4610100"/>
          </a:xfrm>
        </p:spPr>
      </p:pic>
    </p:spTree>
    <p:extLst>
      <p:ext uri="{BB962C8B-B14F-4D97-AF65-F5344CB8AC3E}">
        <p14:creationId xmlns:p14="http://schemas.microsoft.com/office/powerpoint/2010/main" val="3595289902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188</TotalTime>
  <Words>546</Words>
  <Application>Microsoft Office PowerPoint</Application>
  <PresentationFormat>Widescreen</PresentationFormat>
  <Paragraphs>90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Depth</vt:lpstr>
      <vt:lpstr>Introduction</vt:lpstr>
      <vt:lpstr>Lectors </vt:lpstr>
      <vt:lpstr>Student intrudoction</vt:lpstr>
      <vt:lpstr>Assessment Conditions </vt:lpstr>
      <vt:lpstr>Subject goals and prerequisites</vt:lpstr>
      <vt:lpstr>PowerPoint Presentation</vt:lpstr>
      <vt:lpstr>PowerPoint Presentation</vt:lpstr>
      <vt:lpstr>Recommended Literature</vt:lpstr>
      <vt:lpstr>It’s all for now see you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rozhddmi</dc:creator>
  <cp:lastModifiedBy>Rozhdestvenskiy, Dmitry</cp:lastModifiedBy>
  <cp:revision>99</cp:revision>
  <dcterms:created xsi:type="dcterms:W3CDTF">2015-10-02T15:08:23Z</dcterms:created>
  <dcterms:modified xsi:type="dcterms:W3CDTF">2025-09-22T10:09:42Z</dcterms:modified>
</cp:coreProperties>
</file>